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59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58095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7"/>
        </a:solidFill>
        <a:effectLst/>
      </p:bgPr>
    </p:bg>
    <p:spTree>
      <p:nvGrpSpPr>
        <p:cNvPr id="1" name=""/>
        <p:cNvGrpSpPr/>
        <p:nvPr/>
      </p:nvGrpSpPr>
      <p:grpSpPr>
        <a:xfrm>
          <a:off x="0" y="0"/>
          <a:ext cx="0" cy="0"/>
          <a:chOff x="0" y="0"/>
          <a:chExt cx="0" cy="0"/>
        </a:xfrm>
      </p:grpSpPr>
      <p:sp>
        <p:nvSpPr>
          <p:cNvPr id="2" name="Shape 0"/>
          <p:cNvSpPr/>
          <p:nvPr/>
        </p:nvSpPr>
        <p:spPr>
          <a:xfrm>
            <a:off x="7863840" y="0"/>
            <a:ext cx="4297680" cy="6858000"/>
          </a:xfrm>
          <a:prstGeom prst="rect">
            <a:avLst/>
          </a:prstGeom>
          <a:solidFill>
            <a:srgbClr val="DC382D"/>
          </a:solidFill>
          <a:ln/>
        </p:spPr>
      </p:sp>
      <p:sp>
        <p:nvSpPr>
          <p:cNvPr id="3" name="Shape 1"/>
          <p:cNvSpPr/>
          <p:nvPr/>
        </p:nvSpPr>
        <p:spPr>
          <a:xfrm>
            <a:off x="9052560" y="1463040"/>
            <a:ext cx="2743200" cy="2743200"/>
          </a:xfrm>
          <a:prstGeom prst="ellipse">
            <a:avLst/>
          </a:prstGeom>
          <a:solidFill>
            <a:srgbClr val="C22F26"/>
          </a:solidFill>
          <a:ln/>
        </p:spPr>
      </p:sp>
      <p:pic>
        <p:nvPicPr>
          <p:cNvPr id="4" name="Image 0" descr="icons/server.png"/>
          <p:cNvPicPr>
            <a:picLocks noChangeAspect="1"/>
          </p:cNvPicPr>
          <p:nvPr/>
        </p:nvPicPr>
        <p:blipFill>
          <a:blip r:embed="rId3"/>
          <a:stretch>
            <a:fillRect/>
          </a:stretch>
        </p:blipFill>
        <p:spPr>
          <a:xfrm>
            <a:off x="9966960" y="2377440"/>
            <a:ext cx="914400" cy="914400"/>
          </a:xfrm>
          <a:prstGeom prst="rect">
            <a:avLst/>
          </a:prstGeom>
        </p:spPr>
      </p:pic>
      <p:sp>
        <p:nvSpPr>
          <p:cNvPr id="5" name="Text 2"/>
          <p:cNvSpPr/>
          <p:nvPr/>
        </p:nvSpPr>
        <p:spPr>
          <a:xfrm>
            <a:off x="731520" y="1965960"/>
            <a:ext cx="6400800" cy="365760"/>
          </a:xfrm>
          <a:prstGeom prst="rect">
            <a:avLst/>
          </a:prstGeom>
          <a:noFill/>
          <a:ln/>
        </p:spPr>
        <p:txBody>
          <a:bodyPr wrap="square" rtlCol="0" anchor="ctr"/>
          <a:lstStyle/>
          <a:p>
            <a:pPr marL="0" indent="0">
              <a:buNone/>
            </a:pPr>
            <a:r>
              <a:rPr lang="en-US" sz="1600" b="1" kern="0" spc="300" dirty="0">
                <a:solidFill>
                  <a:srgbClr val="F2A900"/>
                </a:solidFill>
                <a:latin typeface="Calibri" pitchFamily="34" charset="0"/>
                <a:ea typeface="Calibri" pitchFamily="34" charset="-122"/>
                <a:cs typeface="Calibri" pitchFamily="34" charset="-120"/>
              </a:rPr>
              <a:t>INTRODUCTION TO</a:t>
            </a:r>
            <a:endParaRPr lang="en-US" sz="1600" dirty="0"/>
          </a:p>
        </p:txBody>
      </p:sp>
      <p:sp>
        <p:nvSpPr>
          <p:cNvPr id="6" name="Text 3"/>
          <p:cNvSpPr/>
          <p:nvPr/>
        </p:nvSpPr>
        <p:spPr>
          <a:xfrm>
            <a:off x="685800" y="2331720"/>
            <a:ext cx="6858000" cy="1188720"/>
          </a:xfrm>
          <a:prstGeom prst="rect">
            <a:avLst/>
          </a:prstGeom>
          <a:noFill/>
          <a:ln/>
        </p:spPr>
        <p:txBody>
          <a:bodyPr wrap="square" rtlCol="0" anchor="ctr"/>
          <a:lstStyle/>
          <a:p>
            <a:pPr marL="0" indent="0">
              <a:buNone/>
            </a:pPr>
            <a:r>
              <a:rPr lang="en-US" sz="7200" b="1" dirty="0">
                <a:solidFill>
                  <a:srgbClr val="FFFFFF"/>
                </a:solidFill>
                <a:latin typeface="Cambria" pitchFamily="34" charset="0"/>
                <a:ea typeface="Cambria" pitchFamily="34" charset="-122"/>
                <a:cs typeface="Cambria" pitchFamily="34" charset="-120"/>
              </a:rPr>
              <a:t>Redis</a:t>
            </a:r>
            <a:endParaRPr lang="en-US" sz="7200" dirty="0"/>
          </a:p>
        </p:txBody>
      </p:sp>
      <p:sp>
        <p:nvSpPr>
          <p:cNvPr id="7" name="Text 4"/>
          <p:cNvSpPr/>
          <p:nvPr/>
        </p:nvSpPr>
        <p:spPr>
          <a:xfrm>
            <a:off x="731520" y="3520440"/>
            <a:ext cx="6675120" cy="822960"/>
          </a:xfrm>
          <a:prstGeom prst="rect">
            <a:avLst/>
          </a:prstGeom>
          <a:noFill/>
          <a:ln/>
        </p:spPr>
        <p:txBody>
          <a:bodyPr wrap="square" rtlCol="0" anchor="ctr"/>
          <a:lstStyle/>
          <a:p>
            <a:pPr marL="0" indent="0">
              <a:buNone/>
            </a:pPr>
            <a:r>
              <a:rPr lang="en-US" sz="1600" dirty="0">
                <a:solidFill>
                  <a:srgbClr val="C9CDD3"/>
                </a:solidFill>
                <a:latin typeface="Calibri" pitchFamily="34" charset="0"/>
                <a:ea typeface="Calibri" pitchFamily="34" charset="-122"/>
                <a:cs typeface="Calibri" pitchFamily="34" charset="-120"/>
              </a:rPr>
              <a:t>In-memory data structures, real-world use cases,</a:t>
            </a:r>
            <a:endParaRPr lang="en-US" sz="1600" dirty="0"/>
          </a:p>
          <a:p>
            <a:pPr marL="0" indent="0">
              <a:buNone/>
            </a:pPr>
            <a:r>
              <a:rPr lang="en-US" sz="1600" dirty="0">
                <a:solidFill>
                  <a:srgbClr val="C9CDD3"/>
                </a:solidFill>
                <a:latin typeface="Calibri" pitchFamily="34" charset="0"/>
                <a:ea typeface="Calibri" pitchFamily="34" charset="-122"/>
                <a:cs typeface="Calibri" pitchFamily="34" charset="-120"/>
              </a:rPr>
              <a:t>and hands-on C# examples</a:t>
            </a:r>
            <a:endParaRPr lang="en-US" sz="1600" dirty="0"/>
          </a:p>
        </p:txBody>
      </p:sp>
      <p:sp>
        <p:nvSpPr>
          <p:cNvPr id="8" name="Shape 5"/>
          <p:cNvSpPr/>
          <p:nvPr/>
        </p:nvSpPr>
        <p:spPr>
          <a:xfrm>
            <a:off x="731520" y="4480560"/>
            <a:ext cx="457200" cy="54864"/>
          </a:xfrm>
          <a:prstGeom prst="rect">
            <a:avLst/>
          </a:prstGeom>
          <a:solidFill>
            <a:srgbClr val="F2A900"/>
          </a:solidFill>
          <a:ln/>
        </p:spPr>
      </p:sp>
      <p:sp>
        <p:nvSpPr>
          <p:cNvPr id="9" name="Text 6"/>
          <p:cNvSpPr/>
          <p:nvPr/>
        </p:nvSpPr>
        <p:spPr>
          <a:xfrm>
            <a:off x="731520" y="4617720"/>
            <a:ext cx="5486400" cy="320040"/>
          </a:xfrm>
          <a:prstGeom prst="rect">
            <a:avLst/>
          </a:prstGeom>
          <a:noFill/>
          <a:ln/>
        </p:spPr>
        <p:txBody>
          <a:bodyPr wrap="square" rtlCol="0" anchor="ctr"/>
          <a:lstStyle/>
          <a:p>
            <a:pPr marL="0" indent="0">
              <a:buNone/>
            </a:pPr>
            <a:r>
              <a:rPr lang="en-US" sz="1300" i="1" dirty="0">
                <a:solidFill>
                  <a:srgbClr val="9199A3"/>
                </a:solidFill>
                <a:latin typeface="Calibri" pitchFamily="34" charset="0"/>
                <a:ea typeface="Calibri" pitchFamily="34" charset="-122"/>
                <a:cs typeface="Calibri" pitchFamily="34" charset="-120"/>
              </a:rPr>
              <a:t>REmote DIctionary Server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1B1F27"/>
          </a:solidFill>
          <a:ln/>
        </p:spPr>
      </p:sp>
      <p:pic>
        <p:nvPicPr>
          <p:cNvPr id="3" name="Image 0" descr="icons/agenda_red.png"/>
          <p:cNvPicPr>
            <a:picLocks noChangeAspect="1"/>
          </p:cNvPicPr>
          <p:nvPr/>
        </p:nvPicPr>
        <p:blipFill>
          <a:blip r:embed="rId3"/>
          <a:stretch>
            <a:fillRect/>
          </a:stretch>
        </p:blipFill>
        <p:spPr>
          <a:xfrm>
            <a:off x="694944" y="649224"/>
            <a:ext cx="274320" cy="274320"/>
          </a:xfrm>
          <a:prstGeom prst="rect">
            <a:avLst/>
          </a:prstGeom>
        </p:spPr>
      </p:pic>
      <p:sp>
        <p:nvSpPr>
          <p:cNvPr id="4" name="Text 1"/>
          <p:cNvSpPr/>
          <p:nvPr/>
        </p:nvSpPr>
        <p:spPr>
          <a:xfrm>
            <a:off x="1280160" y="457200"/>
            <a:ext cx="7315200" cy="274320"/>
          </a:xfrm>
          <a:prstGeom prst="rect">
            <a:avLst/>
          </a:prstGeom>
          <a:noFill/>
          <a:ln/>
        </p:spPr>
        <p:txBody>
          <a:bodyPr wrap="square" rtlCol="0" anchor="ctr"/>
          <a:lstStyle/>
          <a:p>
            <a:pPr marL="0" indent="0">
              <a:buNone/>
            </a:pPr>
            <a:r>
              <a:rPr lang="en-US" sz="1300" b="1" kern="0" spc="200" dirty="0">
                <a:solidFill>
                  <a:srgbClr val="DC382D"/>
                </a:solidFill>
                <a:latin typeface="Calibri" pitchFamily="34" charset="0"/>
                <a:ea typeface="Calibri" pitchFamily="34" charset="-122"/>
                <a:cs typeface="Calibri" pitchFamily="34" charset="-120"/>
              </a:rPr>
              <a:t>AGENDA</a:t>
            </a:r>
            <a:endParaRPr lang="en-US" sz="1300" dirty="0"/>
          </a:p>
        </p:txBody>
      </p:sp>
      <p:sp>
        <p:nvSpPr>
          <p:cNvPr id="5" name="Text 2"/>
          <p:cNvSpPr/>
          <p:nvPr/>
        </p:nvSpPr>
        <p:spPr>
          <a:xfrm>
            <a:off x="1280160" y="713232"/>
            <a:ext cx="10241280" cy="548640"/>
          </a:xfrm>
          <a:prstGeom prst="rect">
            <a:avLst/>
          </a:prstGeom>
          <a:noFill/>
          <a:ln/>
        </p:spPr>
        <p:txBody>
          <a:bodyPr wrap="square" rtlCol="0" anchor="ctr"/>
          <a:lstStyle/>
          <a:p>
            <a:pPr marL="0" indent="0">
              <a:buNone/>
            </a:pPr>
            <a:r>
              <a:rPr lang="en-US" sz="2800" b="1" dirty="0">
                <a:solidFill>
                  <a:srgbClr val="1B1F27"/>
                </a:solidFill>
                <a:latin typeface="Cambria" pitchFamily="34" charset="0"/>
                <a:ea typeface="Cambria" pitchFamily="34" charset="-122"/>
                <a:cs typeface="Cambria" pitchFamily="34" charset="-120"/>
              </a:rPr>
              <a:t>What we'll cover today</a:t>
            </a:r>
            <a:endParaRPr lang="en-US" sz="2800" dirty="0"/>
          </a:p>
        </p:txBody>
      </p:sp>
      <p:sp>
        <p:nvSpPr>
          <p:cNvPr id="6" name="Shape 3"/>
          <p:cNvSpPr/>
          <p:nvPr/>
        </p:nvSpPr>
        <p:spPr>
          <a:xfrm>
            <a:off x="548640" y="1920240"/>
            <a:ext cx="2606040" cy="3566160"/>
          </a:xfrm>
          <a:prstGeom prst="roundRect">
            <a:avLst>
              <a:gd name="adj" fmla="val 2807"/>
            </a:avLst>
          </a:prstGeom>
          <a:solidFill>
            <a:srgbClr val="F7F7F7"/>
          </a:solidFill>
          <a:ln/>
        </p:spPr>
      </p:sp>
      <p:sp>
        <p:nvSpPr>
          <p:cNvPr id="7" name="Shape 4"/>
          <p:cNvSpPr/>
          <p:nvPr/>
        </p:nvSpPr>
        <p:spPr>
          <a:xfrm>
            <a:off x="1531620" y="2286000"/>
            <a:ext cx="640080" cy="640080"/>
          </a:xfrm>
          <a:prstGeom prst="ellipse">
            <a:avLst/>
          </a:prstGeom>
          <a:solidFill>
            <a:srgbClr val="DC382D"/>
          </a:solidFill>
          <a:ln/>
        </p:spPr>
      </p:sp>
      <p:pic>
        <p:nvPicPr>
          <p:cNvPr id="8" name="Image 1" descr="icons/history_red.png"/>
          <p:cNvPicPr>
            <a:picLocks noChangeAspect="1"/>
          </p:cNvPicPr>
          <p:nvPr/>
        </p:nvPicPr>
        <p:blipFill>
          <a:blip r:embed="rId4"/>
          <a:stretch>
            <a:fillRect/>
          </a:stretch>
        </p:blipFill>
        <p:spPr>
          <a:xfrm>
            <a:off x="1677924" y="2432304"/>
            <a:ext cx="347472" cy="347472"/>
          </a:xfrm>
          <a:prstGeom prst="rect">
            <a:avLst/>
          </a:prstGeom>
        </p:spPr>
      </p:pic>
      <p:sp>
        <p:nvSpPr>
          <p:cNvPr id="9" name="Text 5"/>
          <p:cNvSpPr/>
          <p:nvPr/>
        </p:nvSpPr>
        <p:spPr>
          <a:xfrm>
            <a:off x="548640" y="1965960"/>
            <a:ext cx="2468880" cy="274320"/>
          </a:xfrm>
          <a:prstGeom prst="rect">
            <a:avLst/>
          </a:prstGeom>
          <a:noFill/>
          <a:ln/>
        </p:spPr>
        <p:txBody>
          <a:bodyPr wrap="square" rtlCol="0" anchor="ctr"/>
          <a:lstStyle/>
          <a:p>
            <a:pPr marL="0" indent="0" algn="r">
              <a:buNone/>
            </a:pPr>
            <a:r>
              <a:rPr lang="en-US" sz="1400" b="1" dirty="0">
                <a:solidFill>
                  <a:srgbClr val="C7CBD1"/>
                </a:solidFill>
                <a:latin typeface="Cambria" pitchFamily="34" charset="0"/>
                <a:ea typeface="Cambria" pitchFamily="34" charset="-122"/>
                <a:cs typeface="Cambria" pitchFamily="34" charset="-120"/>
              </a:rPr>
              <a:t>01</a:t>
            </a:r>
            <a:endParaRPr lang="en-US" sz="1400" dirty="0"/>
          </a:p>
        </p:txBody>
      </p:sp>
      <p:sp>
        <p:nvSpPr>
          <p:cNvPr id="10" name="Text 6"/>
          <p:cNvSpPr/>
          <p:nvPr/>
        </p:nvSpPr>
        <p:spPr>
          <a:xfrm>
            <a:off x="731520" y="3108960"/>
            <a:ext cx="2240280" cy="640080"/>
          </a:xfrm>
          <a:prstGeom prst="rect">
            <a:avLst/>
          </a:prstGeom>
          <a:noFill/>
          <a:ln/>
        </p:spPr>
        <p:txBody>
          <a:bodyPr wrap="square" rtlCol="0" anchor="ctr"/>
          <a:lstStyle/>
          <a:p>
            <a:pPr marL="0" indent="0" algn="ctr">
              <a:buNone/>
            </a:pPr>
            <a:r>
              <a:rPr lang="en-US" sz="1700" b="1" dirty="0">
                <a:solidFill>
                  <a:srgbClr val="1B1F27"/>
                </a:solidFill>
                <a:latin typeface="Cambria" pitchFamily="34" charset="0"/>
                <a:ea typeface="Cambria" pitchFamily="34" charset="-122"/>
                <a:cs typeface="Cambria" pitchFamily="34" charset="-120"/>
              </a:rPr>
              <a:t>Road to Redis</a:t>
            </a:r>
            <a:endParaRPr lang="en-US" sz="1700" dirty="0"/>
          </a:p>
        </p:txBody>
      </p:sp>
      <p:sp>
        <p:nvSpPr>
          <p:cNvPr id="11" name="Text 7"/>
          <p:cNvSpPr/>
          <p:nvPr/>
        </p:nvSpPr>
        <p:spPr>
          <a:xfrm>
            <a:off x="777240" y="3749040"/>
            <a:ext cx="2148840" cy="1280160"/>
          </a:xfrm>
          <a:prstGeom prst="rect">
            <a:avLst/>
          </a:prstGeom>
          <a:noFill/>
          <a:ln/>
        </p:spPr>
        <p:txBody>
          <a:bodyPr wrap="square" rtlCol="0" anchor="ctr"/>
          <a:lstStyle/>
          <a:p>
            <a:pPr marL="0" indent="0" algn="ctr">
              <a:buNone/>
            </a:pPr>
            <a:r>
              <a:rPr lang="en-US" sz="1250" dirty="0">
                <a:solidFill>
                  <a:srgbClr val="5B6270"/>
                </a:solidFill>
                <a:latin typeface="Calibri" pitchFamily="34" charset="0"/>
                <a:ea typeface="Calibri" pitchFamily="34" charset="-122"/>
                <a:cs typeface="Calibri" pitchFamily="34" charset="-120"/>
              </a:rPr>
              <a:t>Origins, growth, and the open-source story</a:t>
            </a:r>
            <a:endParaRPr lang="en-US" sz="1250" dirty="0"/>
          </a:p>
        </p:txBody>
      </p:sp>
      <p:sp>
        <p:nvSpPr>
          <p:cNvPr id="12" name="Shape 8"/>
          <p:cNvSpPr/>
          <p:nvPr/>
        </p:nvSpPr>
        <p:spPr>
          <a:xfrm>
            <a:off x="3474720" y="1920240"/>
            <a:ext cx="2606040" cy="3566160"/>
          </a:xfrm>
          <a:prstGeom prst="roundRect">
            <a:avLst>
              <a:gd name="adj" fmla="val 2807"/>
            </a:avLst>
          </a:prstGeom>
          <a:solidFill>
            <a:srgbClr val="F7F7F7"/>
          </a:solidFill>
          <a:ln/>
        </p:spPr>
      </p:sp>
      <p:sp>
        <p:nvSpPr>
          <p:cNvPr id="13" name="Shape 9"/>
          <p:cNvSpPr/>
          <p:nvPr/>
        </p:nvSpPr>
        <p:spPr>
          <a:xfrm>
            <a:off x="4457700" y="2286000"/>
            <a:ext cx="640080" cy="640080"/>
          </a:xfrm>
          <a:prstGeom prst="ellipse">
            <a:avLst/>
          </a:prstGeom>
          <a:solidFill>
            <a:srgbClr val="DC382D"/>
          </a:solidFill>
          <a:ln/>
        </p:spPr>
      </p:sp>
      <p:pic>
        <p:nvPicPr>
          <p:cNvPr id="14" name="Image 2" descr="icons/cache_red.png"/>
          <p:cNvPicPr>
            <a:picLocks noChangeAspect="1"/>
          </p:cNvPicPr>
          <p:nvPr/>
        </p:nvPicPr>
        <p:blipFill>
          <a:blip r:embed="rId5"/>
          <a:stretch>
            <a:fillRect/>
          </a:stretch>
        </p:blipFill>
        <p:spPr>
          <a:xfrm>
            <a:off x="4604004" y="2432304"/>
            <a:ext cx="347472" cy="347472"/>
          </a:xfrm>
          <a:prstGeom prst="rect">
            <a:avLst/>
          </a:prstGeom>
        </p:spPr>
      </p:pic>
      <p:sp>
        <p:nvSpPr>
          <p:cNvPr id="15" name="Text 10"/>
          <p:cNvSpPr/>
          <p:nvPr/>
        </p:nvSpPr>
        <p:spPr>
          <a:xfrm>
            <a:off x="3474720" y="1965960"/>
            <a:ext cx="2468880" cy="274320"/>
          </a:xfrm>
          <a:prstGeom prst="rect">
            <a:avLst/>
          </a:prstGeom>
          <a:noFill/>
          <a:ln/>
        </p:spPr>
        <p:txBody>
          <a:bodyPr wrap="square" rtlCol="0" anchor="ctr"/>
          <a:lstStyle/>
          <a:p>
            <a:pPr marL="0" indent="0" algn="r">
              <a:buNone/>
            </a:pPr>
            <a:r>
              <a:rPr lang="en-US" sz="1400" b="1" dirty="0">
                <a:solidFill>
                  <a:srgbClr val="C7CBD1"/>
                </a:solidFill>
                <a:latin typeface="Cambria" pitchFamily="34" charset="0"/>
                <a:ea typeface="Cambria" pitchFamily="34" charset="-122"/>
                <a:cs typeface="Cambria" pitchFamily="34" charset="-120"/>
              </a:rPr>
              <a:t>02</a:t>
            </a:r>
            <a:endParaRPr lang="en-US" sz="1400" dirty="0"/>
          </a:p>
        </p:txBody>
      </p:sp>
      <p:sp>
        <p:nvSpPr>
          <p:cNvPr id="16" name="Text 11"/>
          <p:cNvSpPr/>
          <p:nvPr/>
        </p:nvSpPr>
        <p:spPr>
          <a:xfrm>
            <a:off x="3657600" y="3108960"/>
            <a:ext cx="2240280" cy="640080"/>
          </a:xfrm>
          <a:prstGeom prst="rect">
            <a:avLst/>
          </a:prstGeom>
          <a:noFill/>
          <a:ln/>
        </p:spPr>
        <p:txBody>
          <a:bodyPr wrap="square" rtlCol="0" anchor="ctr"/>
          <a:lstStyle/>
          <a:p>
            <a:pPr marL="0" indent="0" algn="ctr">
              <a:buNone/>
            </a:pPr>
            <a:r>
              <a:rPr lang="en-US" sz="1700" b="1" dirty="0">
                <a:solidFill>
                  <a:srgbClr val="1B1F27"/>
                </a:solidFill>
                <a:latin typeface="Cambria" pitchFamily="34" charset="0"/>
                <a:ea typeface="Cambria" pitchFamily="34" charset="-122"/>
                <a:cs typeface="Cambria" pitchFamily="34" charset="-120"/>
              </a:rPr>
              <a:t>Capabilities</a:t>
            </a:r>
            <a:endParaRPr lang="en-US" sz="1700" dirty="0"/>
          </a:p>
        </p:txBody>
      </p:sp>
      <p:sp>
        <p:nvSpPr>
          <p:cNvPr id="17" name="Text 12"/>
          <p:cNvSpPr/>
          <p:nvPr/>
        </p:nvSpPr>
        <p:spPr>
          <a:xfrm>
            <a:off x="3703320" y="3749040"/>
            <a:ext cx="2148840" cy="1280160"/>
          </a:xfrm>
          <a:prstGeom prst="rect">
            <a:avLst/>
          </a:prstGeom>
          <a:noFill/>
          <a:ln/>
        </p:spPr>
        <p:txBody>
          <a:bodyPr wrap="square" rtlCol="0" anchor="ctr"/>
          <a:lstStyle/>
          <a:p>
            <a:pPr marL="0" indent="0" algn="ctr">
              <a:buNone/>
            </a:pPr>
            <a:r>
              <a:rPr lang="en-US" sz="1250" dirty="0">
                <a:solidFill>
                  <a:srgbClr val="5B6270"/>
                </a:solidFill>
                <a:latin typeface="Calibri" pitchFamily="34" charset="0"/>
                <a:ea typeface="Calibri" pitchFamily="34" charset="-122"/>
                <a:cs typeface="Calibri" pitchFamily="34" charset="-120"/>
              </a:rPr>
              <a:t>Six real use cases beyond simple caching</a:t>
            </a:r>
            <a:endParaRPr lang="en-US" sz="1250" dirty="0"/>
          </a:p>
        </p:txBody>
      </p:sp>
      <p:sp>
        <p:nvSpPr>
          <p:cNvPr id="18" name="Shape 13"/>
          <p:cNvSpPr/>
          <p:nvPr/>
        </p:nvSpPr>
        <p:spPr>
          <a:xfrm>
            <a:off x="6400800" y="1920240"/>
            <a:ext cx="2606040" cy="3566160"/>
          </a:xfrm>
          <a:prstGeom prst="roundRect">
            <a:avLst>
              <a:gd name="adj" fmla="val 2807"/>
            </a:avLst>
          </a:prstGeom>
          <a:solidFill>
            <a:srgbClr val="F7F7F7"/>
          </a:solidFill>
          <a:ln/>
        </p:spPr>
      </p:sp>
      <p:sp>
        <p:nvSpPr>
          <p:cNvPr id="19" name="Shape 14"/>
          <p:cNvSpPr/>
          <p:nvPr/>
        </p:nvSpPr>
        <p:spPr>
          <a:xfrm>
            <a:off x="7383780" y="2286000"/>
            <a:ext cx="640080" cy="640080"/>
          </a:xfrm>
          <a:prstGeom prst="ellipse">
            <a:avLst/>
          </a:prstGeom>
          <a:solidFill>
            <a:srgbClr val="DC382D"/>
          </a:solidFill>
          <a:ln/>
        </p:spPr>
      </p:sp>
      <p:pic>
        <p:nvPicPr>
          <p:cNvPr id="20" name="Image 3" descr="icons/compare_red.png"/>
          <p:cNvPicPr>
            <a:picLocks noChangeAspect="1"/>
          </p:cNvPicPr>
          <p:nvPr/>
        </p:nvPicPr>
        <p:blipFill>
          <a:blip r:embed="rId6"/>
          <a:stretch>
            <a:fillRect/>
          </a:stretch>
        </p:blipFill>
        <p:spPr>
          <a:xfrm>
            <a:off x="7530084" y="2432304"/>
            <a:ext cx="347472" cy="347472"/>
          </a:xfrm>
          <a:prstGeom prst="rect">
            <a:avLst/>
          </a:prstGeom>
        </p:spPr>
      </p:pic>
      <p:sp>
        <p:nvSpPr>
          <p:cNvPr id="21" name="Text 15"/>
          <p:cNvSpPr/>
          <p:nvPr/>
        </p:nvSpPr>
        <p:spPr>
          <a:xfrm>
            <a:off x="6400800" y="1965960"/>
            <a:ext cx="2468880" cy="274320"/>
          </a:xfrm>
          <a:prstGeom prst="rect">
            <a:avLst/>
          </a:prstGeom>
          <a:noFill/>
          <a:ln/>
        </p:spPr>
        <p:txBody>
          <a:bodyPr wrap="square" rtlCol="0" anchor="ctr"/>
          <a:lstStyle/>
          <a:p>
            <a:pPr marL="0" indent="0" algn="r">
              <a:buNone/>
            </a:pPr>
            <a:r>
              <a:rPr lang="en-US" sz="1400" b="1" dirty="0">
                <a:solidFill>
                  <a:srgbClr val="C7CBD1"/>
                </a:solidFill>
                <a:latin typeface="Cambria" pitchFamily="34" charset="0"/>
                <a:ea typeface="Cambria" pitchFamily="34" charset="-122"/>
                <a:cs typeface="Cambria" pitchFamily="34" charset="-120"/>
              </a:rPr>
              <a:t>03</a:t>
            </a:r>
            <a:endParaRPr lang="en-US" sz="1400" dirty="0"/>
          </a:p>
        </p:txBody>
      </p:sp>
      <p:sp>
        <p:nvSpPr>
          <p:cNvPr id="22" name="Text 16"/>
          <p:cNvSpPr/>
          <p:nvPr/>
        </p:nvSpPr>
        <p:spPr>
          <a:xfrm>
            <a:off x="6583680" y="3108960"/>
            <a:ext cx="2240280" cy="640080"/>
          </a:xfrm>
          <a:prstGeom prst="rect">
            <a:avLst/>
          </a:prstGeom>
          <a:noFill/>
          <a:ln/>
        </p:spPr>
        <p:txBody>
          <a:bodyPr wrap="square" rtlCol="0" anchor="ctr"/>
          <a:lstStyle/>
          <a:p>
            <a:pPr marL="0" indent="0" algn="ctr">
              <a:buNone/>
            </a:pPr>
            <a:r>
              <a:rPr lang="en-US" sz="1700" b="1" dirty="0">
                <a:solidFill>
                  <a:srgbClr val="1B1F27"/>
                </a:solidFill>
                <a:latin typeface="Cambria" pitchFamily="34" charset="0"/>
                <a:ea typeface="Cambria" pitchFamily="34" charset="-122"/>
                <a:cs typeface="Cambria" pitchFamily="34" charset="-120"/>
              </a:rPr>
              <a:t>Alternatives</a:t>
            </a:r>
            <a:endParaRPr lang="en-US" sz="1700" dirty="0"/>
          </a:p>
        </p:txBody>
      </p:sp>
      <p:sp>
        <p:nvSpPr>
          <p:cNvPr id="23" name="Text 17"/>
          <p:cNvSpPr/>
          <p:nvPr/>
        </p:nvSpPr>
        <p:spPr>
          <a:xfrm>
            <a:off x="6629400" y="3749040"/>
            <a:ext cx="2148840" cy="1280160"/>
          </a:xfrm>
          <a:prstGeom prst="rect">
            <a:avLst/>
          </a:prstGeom>
          <a:noFill/>
          <a:ln/>
        </p:spPr>
        <p:txBody>
          <a:bodyPr wrap="square" rtlCol="0" anchor="ctr"/>
          <a:lstStyle/>
          <a:p>
            <a:pPr marL="0" indent="0" algn="ctr">
              <a:buNone/>
            </a:pPr>
            <a:r>
              <a:rPr lang="en-US" sz="1250" dirty="0">
                <a:solidFill>
                  <a:srgbClr val="5B6270"/>
                </a:solidFill>
                <a:latin typeface="Calibri" pitchFamily="34" charset="0"/>
                <a:ea typeface="Calibri" pitchFamily="34" charset="-122"/>
                <a:cs typeface="Calibri" pitchFamily="34" charset="-120"/>
              </a:rPr>
              <a:t>Memcached, Valkey &amp; friends compared</a:t>
            </a:r>
            <a:endParaRPr lang="en-US" sz="1250" dirty="0"/>
          </a:p>
        </p:txBody>
      </p:sp>
      <p:sp>
        <p:nvSpPr>
          <p:cNvPr id="24" name="Shape 18"/>
          <p:cNvSpPr/>
          <p:nvPr/>
        </p:nvSpPr>
        <p:spPr>
          <a:xfrm>
            <a:off x="9326880" y="1920240"/>
            <a:ext cx="2606040" cy="3566160"/>
          </a:xfrm>
          <a:prstGeom prst="roundRect">
            <a:avLst>
              <a:gd name="adj" fmla="val 2807"/>
            </a:avLst>
          </a:prstGeom>
          <a:solidFill>
            <a:srgbClr val="F7F7F7"/>
          </a:solidFill>
          <a:ln/>
        </p:spPr>
      </p:sp>
      <p:sp>
        <p:nvSpPr>
          <p:cNvPr id="25" name="Shape 19"/>
          <p:cNvSpPr/>
          <p:nvPr/>
        </p:nvSpPr>
        <p:spPr>
          <a:xfrm>
            <a:off x="10309860" y="2286000"/>
            <a:ext cx="640080" cy="640080"/>
          </a:xfrm>
          <a:prstGeom prst="ellipse">
            <a:avLst/>
          </a:prstGeom>
          <a:solidFill>
            <a:srgbClr val="DC382D"/>
          </a:solidFill>
          <a:ln/>
        </p:spPr>
      </p:sp>
      <p:pic>
        <p:nvPicPr>
          <p:cNvPr id="26" name="Image 4" descr="icons/code_red.png"/>
          <p:cNvPicPr>
            <a:picLocks noChangeAspect="1"/>
          </p:cNvPicPr>
          <p:nvPr/>
        </p:nvPicPr>
        <p:blipFill>
          <a:blip r:embed="rId7"/>
          <a:stretch>
            <a:fillRect/>
          </a:stretch>
        </p:blipFill>
        <p:spPr>
          <a:xfrm>
            <a:off x="10456164" y="2432304"/>
            <a:ext cx="347472" cy="347472"/>
          </a:xfrm>
          <a:prstGeom prst="rect">
            <a:avLst/>
          </a:prstGeom>
        </p:spPr>
      </p:pic>
      <p:sp>
        <p:nvSpPr>
          <p:cNvPr id="27" name="Text 20"/>
          <p:cNvSpPr/>
          <p:nvPr/>
        </p:nvSpPr>
        <p:spPr>
          <a:xfrm>
            <a:off x="9326880" y="1965960"/>
            <a:ext cx="2468880" cy="274320"/>
          </a:xfrm>
          <a:prstGeom prst="rect">
            <a:avLst/>
          </a:prstGeom>
          <a:noFill/>
          <a:ln/>
        </p:spPr>
        <p:txBody>
          <a:bodyPr wrap="square" rtlCol="0" anchor="ctr"/>
          <a:lstStyle/>
          <a:p>
            <a:pPr marL="0" indent="0" algn="r">
              <a:buNone/>
            </a:pPr>
            <a:r>
              <a:rPr lang="en-US" sz="1400" b="1" dirty="0">
                <a:solidFill>
                  <a:srgbClr val="C7CBD1"/>
                </a:solidFill>
                <a:latin typeface="Cambria" pitchFamily="34" charset="0"/>
                <a:ea typeface="Cambria" pitchFamily="34" charset="-122"/>
                <a:cs typeface="Cambria" pitchFamily="34" charset="-120"/>
              </a:rPr>
              <a:t>04</a:t>
            </a:r>
            <a:endParaRPr lang="en-US" sz="1400" dirty="0"/>
          </a:p>
        </p:txBody>
      </p:sp>
      <p:sp>
        <p:nvSpPr>
          <p:cNvPr id="28" name="Text 21"/>
          <p:cNvSpPr/>
          <p:nvPr/>
        </p:nvSpPr>
        <p:spPr>
          <a:xfrm>
            <a:off x="9509760" y="3108960"/>
            <a:ext cx="2240280" cy="640080"/>
          </a:xfrm>
          <a:prstGeom prst="rect">
            <a:avLst/>
          </a:prstGeom>
          <a:noFill/>
          <a:ln/>
        </p:spPr>
        <p:txBody>
          <a:bodyPr wrap="square" rtlCol="0" anchor="ctr"/>
          <a:lstStyle/>
          <a:p>
            <a:pPr marL="0" indent="0" algn="ctr">
              <a:buNone/>
            </a:pPr>
            <a:r>
              <a:rPr lang="en-US" sz="1700" b="1" dirty="0">
                <a:solidFill>
                  <a:srgbClr val="1B1F27"/>
                </a:solidFill>
                <a:latin typeface="Cambria" pitchFamily="34" charset="0"/>
                <a:ea typeface="Cambria" pitchFamily="34" charset="-122"/>
                <a:cs typeface="Cambria" pitchFamily="34" charset="-120"/>
              </a:rPr>
              <a:t>C# in Practice</a:t>
            </a:r>
            <a:endParaRPr lang="en-US" sz="1700" dirty="0"/>
          </a:p>
        </p:txBody>
      </p:sp>
      <p:sp>
        <p:nvSpPr>
          <p:cNvPr id="29" name="Text 22"/>
          <p:cNvSpPr/>
          <p:nvPr/>
        </p:nvSpPr>
        <p:spPr>
          <a:xfrm>
            <a:off x="9555480" y="3749040"/>
            <a:ext cx="2148840" cy="1280160"/>
          </a:xfrm>
          <a:prstGeom prst="rect">
            <a:avLst/>
          </a:prstGeom>
          <a:noFill/>
          <a:ln/>
        </p:spPr>
        <p:txBody>
          <a:bodyPr wrap="square" rtlCol="0" anchor="ctr"/>
          <a:lstStyle/>
          <a:p>
            <a:pPr marL="0" indent="0" algn="ctr">
              <a:buNone/>
            </a:pPr>
            <a:r>
              <a:rPr lang="en-US" sz="1250" dirty="0">
                <a:solidFill>
                  <a:srgbClr val="5B6270"/>
                </a:solidFill>
                <a:latin typeface="Calibri" pitchFamily="34" charset="0"/>
                <a:ea typeface="Calibri" pitchFamily="34" charset="-122"/>
                <a:cs typeface="Calibri" pitchFamily="34" charset="-120"/>
              </a:rPr>
              <a:t>StackExchange.Redis, live patterns</a:t>
            </a:r>
            <a:endParaRPr lang="en-US" sz="1250" dirty="0"/>
          </a:p>
        </p:txBody>
      </p:sp>
      <p:sp>
        <p:nvSpPr>
          <p:cNvPr id="30" name="Text 23"/>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5B6270"/>
                </a:solidFill>
                <a:latin typeface="Calibri" pitchFamily="34" charset="0"/>
                <a:ea typeface="Calibri" pitchFamily="34" charset="-122"/>
                <a:cs typeface="Calibri" pitchFamily="34" charset="-120"/>
              </a:rPr>
              <a:t>Redis Lecture</a:t>
            </a:r>
            <a:endParaRPr lang="en-US" sz="1000" dirty="0"/>
          </a:p>
        </p:txBody>
      </p:sp>
      <p:sp>
        <p:nvSpPr>
          <p:cNvPr id="31" name="Text 24"/>
          <p:cNvSpPr/>
          <p:nvPr/>
        </p:nvSpPr>
        <p:spPr>
          <a:xfrm>
            <a:off x="11247120" y="6537960"/>
            <a:ext cx="457200" cy="274320"/>
          </a:xfrm>
          <a:prstGeom prst="rect">
            <a:avLst/>
          </a:prstGeom>
          <a:noFill/>
          <a:ln/>
        </p:spPr>
        <p:txBody>
          <a:bodyPr wrap="square"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DC382D"/>
          </a:solidFill>
          <a:ln/>
        </p:spPr>
      </p:sp>
      <p:pic>
        <p:nvPicPr>
          <p:cNvPr id="3" name="Image 0" descr="icons/history_red.png"/>
          <p:cNvPicPr>
            <a:picLocks noChangeAspect="1"/>
          </p:cNvPicPr>
          <p:nvPr/>
        </p:nvPicPr>
        <p:blipFill>
          <a:blip r:embed="rId3"/>
          <a:stretch>
            <a:fillRect/>
          </a:stretch>
        </p:blipFill>
        <p:spPr>
          <a:xfrm>
            <a:off x="694944" y="649224"/>
            <a:ext cx="274320" cy="274320"/>
          </a:xfrm>
          <a:prstGeom prst="rect">
            <a:avLst/>
          </a:prstGeom>
        </p:spPr>
      </p:pic>
      <p:sp>
        <p:nvSpPr>
          <p:cNvPr id="4" name="Text 1"/>
          <p:cNvSpPr/>
          <p:nvPr/>
        </p:nvSpPr>
        <p:spPr>
          <a:xfrm>
            <a:off x="1280160" y="457200"/>
            <a:ext cx="7315200" cy="274320"/>
          </a:xfrm>
          <a:prstGeom prst="rect">
            <a:avLst/>
          </a:prstGeom>
          <a:noFill/>
          <a:ln/>
        </p:spPr>
        <p:txBody>
          <a:bodyPr wrap="square" rtlCol="0" anchor="ctr"/>
          <a:lstStyle/>
          <a:p>
            <a:pPr marL="0" indent="0">
              <a:buNone/>
            </a:pPr>
            <a:r>
              <a:rPr lang="en-US" sz="1300" b="1" kern="0" spc="200" dirty="0">
                <a:solidFill>
                  <a:srgbClr val="DC382D"/>
                </a:solidFill>
                <a:latin typeface="Calibri" pitchFamily="34" charset="0"/>
                <a:ea typeface="Calibri" pitchFamily="34" charset="-122"/>
                <a:cs typeface="Calibri" pitchFamily="34" charset="-120"/>
              </a:rPr>
              <a:t>ROAD TO REDIS · 01</a:t>
            </a:r>
            <a:endParaRPr lang="en-US" sz="1300" dirty="0"/>
          </a:p>
        </p:txBody>
      </p:sp>
      <p:sp>
        <p:nvSpPr>
          <p:cNvPr id="5" name="Text 2"/>
          <p:cNvSpPr/>
          <p:nvPr/>
        </p:nvSpPr>
        <p:spPr>
          <a:xfrm>
            <a:off x="1280160" y="713232"/>
            <a:ext cx="10241280" cy="548640"/>
          </a:xfrm>
          <a:prstGeom prst="rect">
            <a:avLst/>
          </a:prstGeom>
          <a:noFill/>
          <a:ln/>
        </p:spPr>
        <p:txBody>
          <a:bodyPr wrap="square" rtlCol="0" anchor="ctr"/>
          <a:lstStyle/>
          <a:p>
            <a:pPr marL="0" indent="0">
              <a:buNone/>
            </a:pPr>
            <a:r>
              <a:rPr lang="en-US" sz="2800" b="1" dirty="0">
                <a:solidFill>
                  <a:srgbClr val="1B1F27"/>
                </a:solidFill>
                <a:latin typeface="Cambria" pitchFamily="34" charset="0"/>
                <a:ea typeface="Cambria" pitchFamily="34" charset="-122"/>
                <a:cs typeface="Cambria" pitchFamily="34" charset="-120"/>
              </a:rPr>
              <a:t>The generations that led to Redis</a:t>
            </a:r>
            <a:endParaRPr lang="en-US" sz="2800" dirty="0"/>
          </a:p>
        </p:txBody>
      </p:sp>
      <p:sp>
        <p:nvSpPr>
          <p:cNvPr id="6" name="Text 3"/>
          <p:cNvSpPr/>
          <p:nvPr/>
        </p:nvSpPr>
        <p:spPr>
          <a:xfrm>
            <a:off x="1280160" y="1207008"/>
            <a:ext cx="10058400" cy="320040"/>
          </a:xfrm>
          <a:prstGeom prst="rect">
            <a:avLst/>
          </a:prstGeom>
          <a:noFill/>
          <a:ln/>
        </p:spPr>
        <p:txBody>
          <a:bodyPr wrap="square" rtlCol="0" anchor="ctr"/>
          <a:lstStyle/>
          <a:p>
            <a:pPr marL="0" indent="0">
              <a:buNone/>
            </a:pPr>
            <a:r>
              <a:rPr lang="en-US" sz="1350" i="1" dirty="0">
                <a:solidFill>
                  <a:srgbClr val="5B6270"/>
                </a:solidFill>
                <a:latin typeface="Calibri" pitchFamily="34" charset="0"/>
                <a:ea typeface="Calibri" pitchFamily="34" charset="-122"/>
                <a:cs typeface="Calibri" pitchFamily="34" charset="-120"/>
              </a:rPr>
              <a:t>Redis didn't appear from nowhere — it's the newest generation in a decades-long search for faster access to data.</a:t>
            </a:r>
            <a:endParaRPr lang="en-US" sz="1350" dirty="0"/>
          </a:p>
        </p:txBody>
      </p:sp>
      <p:sp>
        <p:nvSpPr>
          <p:cNvPr id="7" name="Shape 4"/>
          <p:cNvSpPr/>
          <p:nvPr/>
        </p:nvSpPr>
        <p:spPr>
          <a:xfrm>
            <a:off x="640080" y="3703320"/>
            <a:ext cx="10881360" cy="32004"/>
          </a:xfrm>
          <a:prstGeom prst="rect">
            <a:avLst/>
          </a:prstGeom>
          <a:solidFill>
            <a:srgbClr val="E1E3E6"/>
          </a:solidFill>
          <a:ln/>
        </p:spPr>
      </p:sp>
      <p:sp>
        <p:nvSpPr>
          <p:cNvPr id="8" name="Shape 5"/>
          <p:cNvSpPr/>
          <p:nvPr/>
        </p:nvSpPr>
        <p:spPr>
          <a:xfrm>
            <a:off x="566928" y="3662172"/>
            <a:ext cx="146304" cy="146304"/>
          </a:xfrm>
          <a:prstGeom prst="ellipse">
            <a:avLst/>
          </a:prstGeom>
          <a:solidFill>
            <a:srgbClr val="5B6270"/>
          </a:solidFill>
          <a:ln w="19050">
            <a:solidFill>
              <a:srgbClr val="FFFFFF"/>
            </a:solidFill>
            <a:prstDash val="solid"/>
          </a:ln>
        </p:spPr>
      </p:sp>
      <p:sp>
        <p:nvSpPr>
          <p:cNvPr id="9" name="Shape 6"/>
          <p:cNvSpPr/>
          <p:nvPr/>
        </p:nvSpPr>
        <p:spPr>
          <a:xfrm>
            <a:off x="640080" y="3721608"/>
            <a:ext cx="0" cy="146304"/>
          </a:xfrm>
          <a:prstGeom prst="line">
            <a:avLst/>
          </a:prstGeom>
          <a:noFill/>
          <a:ln w="12700">
            <a:solidFill>
              <a:srgbClr val="C7CBD1"/>
            </a:solidFill>
            <a:prstDash val="solid"/>
          </a:ln>
        </p:spPr>
      </p:sp>
      <p:sp>
        <p:nvSpPr>
          <p:cNvPr id="10" name="Text 7"/>
          <p:cNvSpPr/>
          <p:nvPr/>
        </p:nvSpPr>
        <p:spPr>
          <a:xfrm>
            <a:off x="320040" y="3931920"/>
            <a:ext cx="1965960" cy="274320"/>
          </a:xfrm>
          <a:prstGeom prst="rect">
            <a:avLst/>
          </a:prstGeom>
          <a:noFill/>
          <a:ln/>
        </p:spPr>
        <p:txBody>
          <a:bodyPr wrap="square" rtlCol="0" anchor="ctr"/>
          <a:lstStyle/>
          <a:p>
            <a:pPr marL="0" indent="0" algn="ctr">
              <a:buNone/>
            </a:pPr>
            <a:r>
              <a:rPr lang="en-US" sz="1400" b="1" dirty="0">
                <a:solidFill>
                  <a:srgbClr val="1B1F27"/>
                </a:solidFill>
                <a:latin typeface="Cambria" pitchFamily="34" charset="0"/>
                <a:ea typeface="Cambria" pitchFamily="34" charset="-122"/>
                <a:cs typeface="Cambria" pitchFamily="34" charset="-120"/>
              </a:rPr>
              <a:t>1940s–1960s</a:t>
            </a:r>
            <a:endParaRPr lang="en-US" sz="1400" dirty="0"/>
          </a:p>
        </p:txBody>
      </p:sp>
      <p:sp>
        <p:nvSpPr>
          <p:cNvPr id="11" name="Text 8"/>
          <p:cNvSpPr/>
          <p:nvPr/>
        </p:nvSpPr>
        <p:spPr>
          <a:xfrm>
            <a:off x="320040" y="4206240"/>
            <a:ext cx="1965960" cy="365760"/>
          </a:xfrm>
          <a:prstGeom prst="rect">
            <a:avLst/>
          </a:prstGeom>
          <a:noFill/>
          <a:ln/>
        </p:spPr>
        <p:txBody>
          <a:bodyPr wrap="square" rtlCol="0" anchor="ctr"/>
          <a:lstStyle/>
          <a:p>
            <a:pPr marL="0" indent="0" algn="ctr">
              <a:buNone/>
            </a:pPr>
            <a:r>
              <a:rPr lang="en-US" sz="1250" b="1" dirty="0">
                <a:solidFill>
                  <a:srgbClr val="1B1F27"/>
                </a:solidFill>
                <a:latin typeface="Calibri" pitchFamily="34" charset="0"/>
                <a:ea typeface="Calibri" pitchFamily="34" charset="-122"/>
                <a:cs typeface="Calibri" pitchFamily="34" charset="-120"/>
              </a:rPr>
              <a:t>Fast-access memory</a:t>
            </a:r>
            <a:endParaRPr lang="en-US" sz="1250" dirty="0"/>
          </a:p>
        </p:txBody>
      </p:sp>
      <p:sp>
        <p:nvSpPr>
          <p:cNvPr id="12" name="Text 9"/>
          <p:cNvSpPr/>
          <p:nvPr/>
        </p:nvSpPr>
        <p:spPr>
          <a:xfrm>
            <a:off x="228600" y="4572000"/>
            <a:ext cx="2148840" cy="1234440"/>
          </a:xfrm>
          <a:prstGeom prst="rect">
            <a:avLst/>
          </a:prstGeom>
          <a:noFill/>
          <a:ln/>
        </p:spPr>
        <p:txBody>
          <a:bodyPr wrap="square" rtlCol="0" anchor="ctr"/>
          <a:lstStyle/>
          <a:p>
            <a:pPr marL="0" indent="0" algn="ctr">
              <a:buNone/>
            </a:pPr>
            <a:r>
              <a:rPr lang="en-US" sz="1000" dirty="0">
                <a:solidFill>
                  <a:srgbClr val="5B6270"/>
                </a:solidFill>
                <a:latin typeface="Calibri" pitchFamily="34" charset="0"/>
                <a:ea typeface="Calibri" pitchFamily="34" charset="-122"/>
                <a:cs typeface="Calibri" pitchFamily="34" charset="-120"/>
              </a:rPr>
              <a:t>Early computer architectures introduce the idea of a small, fast memory layer ahead of slower storage.</a:t>
            </a:r>
            <a:endParaRPr lang="en-US" sz="1000" dirty="0"/>
          </a:p>
        </p:txBody>
      </p:sp>
      <p:sp>
        <p:nvSpPr>
          <p:cNvPr id="13" name="Shape 10"/>
          <p:cNvSpPr/>
          <p:nvPr/>
        </p:nvSpPr>
        <p:spPr>
          <a:xfrm>
            <a:off x="3287268" y="3662172"/>
            <a:ext cx="146304" cy="146304"/>
          </a:xfrm>
          <a:prstGeom prst="ellipse">
            <a:avLst/>
          </a:prstGeom>
          <a:solidFill>
            <a:srgbClr val="5B6270"/>
          </a:solidFill>
          <a:ln w="19050">
            <a:solidFill>
              <a:srgbClr val="FFFFFF"/>
            </a:solidFill>
            <a:prstDash val="solid"/>
          </a:ln>
        </p:spPr>
      </p:sp>
      <p:sp>
        <p:nvSpPr>
          <p:cNvPr id="14" name="Shape 11"/>
          <p:cNvSpPr/>
          <p:nvPr/>
        </p:nvSpPr>
        <p:spPr>
          <a:xfrm>
            <a:off x="3360420" y="3721608"/>
            <a:ext cx="0" cy="146304"/>
          </a:xfrm>
          <a:prstGeom prst="line">
            <a:avLst/>
          </a:prstGeom>
          <a:noFill/>
          <a:ln w="12700">
            <a:solidFill>
              <a:srgbClr val="C7CBD1"/>
            </a:solidFill>
            <a:prstDash val="solid"/>
          </a:ln>
        </p:spPr>
      </p:sp>
      <p:sp>
        <p:nvSpPr>
          <p:cNvPr id="15" name="Text 12"/>
          <p:cNvSpPr/>
          <p:nvPr/>
        </p:nvSpPr>
        <p:spPr>
          <a:xfrm>
            <a:off x="2377440" y="3931920"/>
            <a:ext cx="1965960" cy="274320"/>
          </a:xfrm>
          <a:prstGeom prst="rect">
            <a:avLst/>
          </a:prstGeom>
          <a:noFill/>
          <a:ln/>
        </p:spPr>
        <p:txBody>
          <a:bodyPr wrap="square" rtlCol="0" anchor="ctr"/>
          <a:lstStyle/>
          <a:p>
            <a:pPr marL="0" indent="0" algn="ctr">
              <a:buNone/>
            </a:pPr>
            <a:r>
              <a:rPr lang="en-US" sz="1400" b="1" dirty="0">
                <a:solidFill>
                  <a:srgbClr val="1B1F27"/>
                </a:solidFill>
                <a:latin typeface="Cambria" pitchFamily="34" charset="0"/>
                <a:ea typeface="Cambria" pitchFamily="34" charset="-122"/>
                <a:cs typeface="Cambria" pitchFamily="34" charset="-120"/>
              </a:rPr>
              <a:t>1970s–1980s</a:t>
            </a:r>
            <a:endParaRPr lang="en-US" sz="1400" dirty="0"/>
          </a:p>
        </p:txBody>
      </p:sp>
      <p:sp>
        <p:nvSpPr>
          <p:cNvPr id="16" name="Text 13"/>
          <p:cNvSpPr/>
          <p:nvPr/>
        </p:nvSpPr>
        <p:spPr>
          <a:xfrm>
            <a:off x="2377440" y="4206240"/>
            <a:ext cx="1965960" cy="365760"/>
          </a:xfrm>
          <a:prstGeom prst="rect">
            <a:avLst/>
          </a:prstGeom>
          <a:noFill/>
          <a:ln/>
        </p:spPr>
        <p:txBody>
          <a:bodyPr wrap="square" rtlCol="0" anchor="ctr"/>
          <a:lstStyle/>
          <a:p>
            <a:pPr marL="0" indent="0" algn="ctr">
              <a:buNone/>
            </a:pPr>
            <a:r>
              <a:rPr lang="en-US" sz="1250" b="1" dirty="0">
                <a:solidFill>
                  <a:srgbClr val="1B1F27"/>
                </a:solidFill>
                <a:latin typeface="Calibri" pitchFamily="34" charset="0"/>
                <a:ea typeface="Calibri" pitchFamily="34" charset="-122"/>
                <a:cs typeface="Calibri" pitchFamily="34" charset="-120"/>
              </a:rPr>
              <a:t>CPU caches</a:t>
            </a:r>
            <a:endParaRPr lang="en-US" sz="1250" dirty="0"/>
          </a:p>
        </p:txBody>
      </p:sp>
      <p:sp>
        <p:nvSpPr>
          <p:cNvPr id="17" name="Text 14"/>
          <p:cNvSpPr/>
          <p:nvPr/>
        </p:nvSpPr>
        <p:spPr>
          <a:xfrm>
            <a:off x="2286000" y="4572000"/>
            <a:ext cx="2148840" cy="1234440"/>
          </a:xfrm>
          <a:prstGeom prst="rect">
            <a:avLst/>
          </a:prstGeom>
          <a:noFill/>
          <a:ln/>
        </p:spPr>
        <p:txBody>
          <a:bodyPr wrap="square" rtlCol="0" anchor="ctr"/>
          <a:lstStyle/>
          <a:p>
            <a:pPr marL="0" indent="0" algn="ctr">
              <a:buNone/>
            </a:pPr>
            <a:r>
              <a:rPr lang="en-US" sz="1000" dirty="0">
                <a:solidFill>
                  <a:srgbClr val="5B6270"/>
                </a:solidFill>
                <a:latin typeface="Calibri" pitchFamily="34" charset="0"/>
                <a:ea typeface="Calibri" pitchFamily="34" charset="-122"/>
                <a:cs typeface="Calibri" pitchFamily="34" charset="-120"/>
              </a:rPr>
              <a:t>Hardware caches bridge the widening speed gap between processors and main memory.</a:t>
            </a:r>
            <a:endParaRPr lang="en-US" sz="1000" dirty="0"/>
          </a:p>
        </p:txBody>
      </p:sp>
      <p:sp>
        <p:nvSpPr>
          <p:cNvPr id="18" name="Shape 15"/>
          <p:cNvSpPr/>
          <p:nvPr/>
        </p:nvSpPr>
        <p:spPr>
          <a:xfrm>
            <a:off x="6007608" y="3662172"/>
            <a:ext cx="146304" cy="146304"/>
          </a:xfrm>
          <a:prstGeom prst="ellipse">
            <a:avLst/>
          </a:prstGeom>
          <a:solidFill>
            <a:srgbClr val="5B6270"/>
          </a:solidFill>
          <a:ln w="19050">
            <a:solidFill>
              <a:srgbClr val="FFFFFF"/>
            </a:solidFill>
            <a:prstDash val="solid"/>
          </a:ln>
        </p:spPr>
      </p:sp>
      <p:sp>
        <p:nvSpPr>
          <p:cNvPr id="19" name="Shape 16"/>
          <p:cNvSpPr/>
          <p:nvPr/>
        </p:nvSpPr>
        <p:spPr>
          <a:xfrm>
            <a:off x="6080760" y="3721608"/>
            <a:ext cx="0" cy="146304"/>
          </a:xfrm>
          <a:prstGeom prst="line">
            <a:avLst/>
          </a:prstGeom>
          <a:noFill/>
          <a:ln w="12700">
            <a:solidFill>
              <a:srgbClr val="C7CBD1"/>
            </a:solidFill>
            <a:prstDash val="solid"/>
          </a:ln>
        </p:spPr>
      </p:sp>
      <p:sp>
        <p:nvSpPr>
          <p:cNvPr id="20" name="Text 17"/>
          <p:cNvSpPr/>
          <p:nvPr/>
        </p:nvSpPr>
        <p:spPr>
          <a:xfrm>
            <a:off x="5097780" y="3931920"/>
            <a:ext cx="1965960" cy="274320"/>
          </a:xfrm>
          <a:prstGeom prst="rect">
            <a:avLst/>
          </a:prstGeom>
          <a:noFill/>
          <a:ln/>
        </p:spPr>
        <p:txBody>
          <a:bodyPr wrap="square" rtlCol="0" anchor="ctr"/>
          <a:lstStyle/>
          <a:p>
            <a:pPr marL="0" indent="0" algn="ctr">
              <a:buNone/>
            </a:pPr>
            <a:r>
              <a:rPr lang="en-US" sz="1400" b="1" dirty="0">
                <a:solidFill>
                  <a:srgbClr val="1B1F27"/>
                </a:solidFill>
                <a:latin typeface="Cambria" pitchFamily="34" charset="0"/>
                <a:ea typeface="Cambria" pitchFamily="34" charset="-122"/>
                <a:cs typeface="Cambria" pitchFamily="34" charset="-120"/>
              </a:rPr>
              <a:t>1990s</a:t>
            </a:r>
            <a:endParaRPr lang="en-US" sz="1400" dirty="0"/>
          </a:p>
        </p:txBody>
      </p:sp>
      <p:sp>
        <p:nvSpPr>
          <p:cNvPr id="21" name="Text 18"/>
          <p:cNvSpPr/>
          <p:nvPr/>
        </p:nvSpPr>
        <p:spPr>
          <a:xfrm>
            <a:off x="5097780" y="4206240"/>
            <a:ext cx="1965960" cy="365760"/>
          </a:xfrm>
          <a:prstGeom prst="rect">
            <a:avLst/>
          </a:prstGeom>
          <a:noFill/>
          <a:ln/>
        </p:spPr>
        <p:txBody>
          <a:bodyPr wrap="square" rtlCol="0" anchor="ctr"/>
          <a:lstStyle/>
          <a:p>
            <a:pPr marL="0" indent="0" algn="ctr">
              <a:buNone/>
            </a:pPr>
            <a:r>
              <a:rPr lang="en-US" sz="1250" b="1" dirty="0">
                <a:solidFill>
                  <a:srgbClr val="1B1F27"/>
                </a:solidFill>
                <a:latin typeface="Calibri" pitchFamily="34" charset="0"/>
                <a:ea typeface="Calibri" pitchFamily="34" charset="-122"/>
                <a:cs typeface="Calibri" pitchFamily="34" charset="-120"/>
              </a:rPr>
              <a:t>Web caching</a:t>
            </a:r>
            <a:endParaRPr lang="en-US" sz="1250" dirty="0"/>
          </a:p>
        </p:txBody>
      </p:sp>
      <p:sp>
        <p:nvSpPr>
          <p:cNvPr id="22" name="Text 19"/>
          <p:cNvSpPr/>
          <p:nvPr/>
        </p:nvSpPr>
        <p:spPr>
          <a:xfrm>
            <a:off x="5006340" y="4572000"/>
            <a:ext cx="2148840" cy="1234440"/>
          </a:xfrm>
          <a:prstGeom prst="rect">
            <a:avLst/>
          </a:prstGeom>
          <a:noFill/>
          <a:ln/>
        </p:spPr>
        <p:txBody>
          <a:bodyPr wrap="square" rtlCol="0" anchor="ctr"/>
          <a:lstStyle/>
          <a:p>
            <a:pPr marL="0" indent="0" algn="ctr">
              <a:buNone/>
            </a:pPr>
            <a:r>
              <a:rPr lang="en-US" sz="1000" dirty="0">
                <a:solidFill>
                  <a:srgbClr val="5B6270"/>
                </a:solidFill>
                <a:latin typeface="Calibri" pitchFamily="34" charset="0"/>
                <a:ea typeface="Calibri" pitchFamily="34" charset="-122"/>
                <a:cs typeface="Calibri" pitchFamily="34" charset="-120"/>
              </a:rPr>
              <a:t>Proxy caches and browser caches emerge as the internet grows, caching pages closer to users.</a:t>
            </a:r>
            <a:endParaRPr lang="en-US" sz="1000" dirty="0"/>
          </a:p>
        </p:txBody>
      </p:sp>
      <p:sp>
        <p:nvSpPr>
          <p:cNvPr id="23" name="Shape 20"/>
          <p:cNvSpPr/>
          <p:nvPr/>
        </p:nvSpPr>
        <p:spPr>
          <a:xfrm>
            <a:off x="8700516" y="3634740"/>
            <a:ext cx="201168" cy="201168"/>
          </a:xfrm>
          <a:prstGeom prst="ellipse">
            <a:avLst/>
          </a:prstGeom>
          <a:solidFill>
            <a:srgbClr val="DC382D"/>
          </a:solidFill>
          <a:ln w="19050">
            <a:solidFill>
              <a:srgbClr val="FFFFFF"/>
            </a:solidFill>
            <a:prstDash val="solid"/>
          </a:ln>
        </p:spPr>
      </p:sp>
      <p:sp>
        <p:nvSpPr>
          <p:cNvPr id="24" name="Shape 21"/>
          <p:cNvSpPr/>
          <p:nvPr/>
        </p:nvSpPr>
        <p:spPr>
          <a:xfrm>
            <a:off x="8801100" y="3721608"/>
            <a:ext cx="0" cy="146304"/>
          </a:xfrm>
          <a:prstGeom prst="line">
            <a:avLst/>
          </a:prstGeom>
          <a:noFill/>
          <a:ln w="12700">
            <a:solidFill>
              <a:srgbClr val="C7CBD1"/>
            </a:solidFill>
            <a:prstDash val="solid"/>
          </a:ln>
        </p:spPr>
      </p:sp>
      <p:sp>
        <p:nvSpPr>
          <p:cNvPr id="25" name="Text 22"/>
          <p:cNvSpPr/>
          <p:nvPr/>
        </p:nvSpPr>
        <p:spPr>
          <a:xfrm>
            <a:off x="7818120" y="3931920"/>
            <a:ext cx="1965960" cy="274320"/>
          </a:xfrm>
          <a:prstGeom prst="rect">
            <a:avLst/>
          </a:prstGeom>
          <a:noFill/>
          <a:ln/>
        </p:spPr>
        <p:txBody>
          <a:bodyPr wrap="square" rtlCol="0" anchor="ctr"/>
          <a:lstStyle/>
          <a:p>
            <a:pPr marL="0" indent="0" algn="ctr">
              <a:buNone/>
            </a:pPr>
            <a:r>
              <a:rPr lang="en-US" sz="1400" b="1" dirty="0">
                <a:solidFill>
                  <a:srgbClr val="DC382D"/>
                </a:solidFill>
                <a:latin typeface="Cambria" pitchFamily="34" charset="0"/>
                <a:ea typeface="Cambria" pitchFamily="34" charset="-122"/>
                <a:cs typeface="Cambria" pitchFamily="34" charset="-120"/>
              </a:rPr>
              <a:t>2000s</a:t>
            </a:r>
            <a:endParaRPr lang="en-US" sz="1400" dirty="0"/>
          </a:p>
        </p:txBody>
      </p:sp>
      <p:sp>
        <p:nvSpPr>
          <p:cNvPr id="26" name="Text 23"/>
          <p:cNvSpPr/>
          <p:nvPr/>
        </p:nvSpPr>
        <p:spPr>
          <a:xfrm>
            <a:off x="7818120" y="4206240"/>
            <a:ext cx="1965960" cy="365760"/>
          </a:xfrm>
          <a:prstGeom prst="rect">
            <a:avLst/>
          </a:prstGeom>
          <a:noFill/>
          <a:ln/>
        </p:spPr>
        <p:txBody>
          <a:bodyPr wrap="square" rtlCol="0" anchor="ctr"/>
          <a:lstStyle/>
          <a:p>
            <a:pPr marL="0" indent="0" algn="ctr">
              <a:buNone/>
            </a:pPr>
            <a:r>
              <a:rPr lang="en-US" sz="1250" b="1" dirty="0">
                <a:solidFill>
                  <a:srgbClr val="1B1F27"/>
                </a:solidFill>
                <a:latin typeface="Calibri" pitchFamily="34" charset="0"/>
                <a:ea typeface="Calibri" pitchFamily="34" charset="-122"/>
                <a:cs typeface="Calibri" pitchFamily="34" charset="-120"/>
              </a:rPr>
              <a:t>In-memory distributed caches</a:t>
            </a:r>
            <a:endParaRPr lang="en-US" sz="1250" dirty="0"/>
          </a:p>
        </p:txBody>
      </p:sp>
      <p:sp>
        <p:nvSpPr>
          <p:cNvPr id="27" name="Text 24"/>
          <p:cNvSpPr/>
          <p:nvPr/>
        </p:nvSpPr>
        <p:spPr>
          <a:xfrm>
            <a:off x="7726680" y="4572000"/>
            <a:ext cx="2148840" cy="1234440"/>
          </a:xfrm>
          <a:prstGeom prst="rect">
            <a:avLst/>
          </a:prstGeom>
          <a:noFill/>
          <a:ln/>
        </p:spPr>
        <p:txBody>
          <a:bodyPr wrap="square" rtlCol="0" anchor="ctr"/>
          <a:lstStyle/>
          <a:p>
            <a:pPr marL="0" indent="0" algn="ctr">
              <a:buNone/>
            </a:pPr>
            <a:r>
              <a:rPr lang="en-US" sz="1000" dirty="0">
                <a:solidFill>
                  <a:srgbClr val="5B6270"/>
                </a:solidFill>
                <a:latin typeface="Calibri" pitchFamily="34" charset="0"/>
                <a:ea typeface="Calibri" pitchFamily="34" charset="-122"/>
                <a:cs typeface="Calibri" pitchFamily="34" charset="-120"/>
              </a:rPr>
              <a:t>Memcached (2003) then Redis (2009) bring shared, network-accessible memory caches to scaled-out web apps.</a:t>
            </a:r>
            <a:endParaRPr lang="en-US" sz="1000" dirty="0"/>
          </a:p>
        </p:txBody>
      </p:sp>
      <p:sp>
        <p:nvSpPr>
          <p:cNvPr id="28" name="Shape 25"/>
          <p:cNvSpPr/>
          <p:nvPr/>
        </p:nvSpPr>
        <p:spPr>
          <a:xfrm>
            <a:off x="11448288" y="3662172"/>
            <a:ext cx="146304" cy="146304"/>
          </a:xfrm>
          <a:prstGeom prst="ellipse">
            <a:avLst/>
          </a:prstGeom>
          <a:solidFill>
            <a:srgbClr val="5B6270"/>
          </a:solidFill>
          <a:ln w="19050">
            <a:solidFill>
              <a:srgbClr val="FFFFFF"/>
            </a:solidFill>
            <a:prstDash val="solid"/>
          </a:ln>
        </p:spPr>
      </p:sp>
      <p:sp>
        <p:nvSpPr>
          <p:cNvPr id="29" name="Shape 26"/>
          <p:cNvSpPr/>
          <p:nvPr/>
        </p:nvSpPr>
        <p:spPr>
          <a:xfrm>
            <a:off x="11521440" y="3721608"/>
            <a:ext cx="0" cy="146304"/>
          </a:xfrm>
          <a:prstGeom prst="line">
            <a:avLst/>
          </a:prstGeom>
          <a:noFill/>
          <a:ln w="12700">
            <a:solidFill>
              <a:srgbClr val="C7CBD1"/>
            </a:solidFill>
            <a:prstDash val="solid"/>
          </a:ln>
        </p:spPr>
      </p:sp>
      <p:sp>
        <p:nvSpPr>
          <p:cNvPr id="30" name="Text 27"/>
          <p:cNvSpPr/>
          <p:nvPr/>
        </p:nvSpPr>
        <p:spPr>
          <a:xfrm>
            <a:off x="9875520" y="3931920"/>
            <a:ext cx="1965960" cy="274320"/>
          </a:xfrm>
          <a:prstGeom prst="rect">
            <a:avLst/>
          </a:prstGeom>
          <a:noFill/>
          <a:ln/>
        </p:spPr>
        <p:txBody>
          <a:bodyPr wrap="square" rtlCol="0" anchor="ctr"/>
          <a:lstStyle/>
          <a:p>
            <a:pPr marL="0" indent="0" algn="ctr">
              <a:buNone/>
            </a:pPr>
            <a:r>
              <a:rPr lang="en-US" sz="1400" b="1" dirty="0">
                <a:solidFill>
                  <a:srgbClr val="1B1F27"/>
                </a:solidFill>
                <a:latin typeface="Cambria" pitchFamily="34" charset="0"/>
                <a:ea typeface="Cambria" pitchFamily="34" charset="-122"/>
                <a:cs typeface="Cambria" pitchFamily="34" charset="-120"/>
              </a:rPr>
              <a:t>2010s–present</a:t>
            </a:r>
            <a:endParaRPr lang="en-US" sz="1400" dirty="0"/>
          </a:p>
        </p:txBody>
      </p:sp>
      <p:sp>
        <p:nvSpPr>
          <p:cNvPr id="31" name="Text 28"/>
          <p:cNvSpPr/>
          <p:nvPr/>
        </p:nvSpPr>
        <p:spPr>
          <a:xfrm>
            <a:off x="9875520" y="4206240"/>
            <a:ext cx="1965960" cy="365760"/>
          </a:xfrm>
          <a:prstGeom prst="rect">
            <a:avLst/>
          </a:prstGeom>
          <a:noFill/>
          <a:ln/>
        </p:spPr>
        <p:txBody>
          <a:bodyPr wrap="square" rtlCol="0" anchor="ctr"/>
          <a:lstStyle/>
          <a:p>
            <a:pPr marL="0" indent="0" algn="ctr">
              <a:buNone/>
            </a:pPr>
            <a:r>
              <a:rPr lang="en-US" sz="1250" b="1" dirty="0">
                <a:solidFill>
                  <a:srgbClr val="1B1F27"/>
                </a:solidFill>
                <a:latin typeface="Calibri" pitchFamily="34" charset="0"/>
                <a:ea typeface="Calibri" pitchFamily="34" charset="-122"/>
                <a:cs typeface="Calibri" pitchFamily="34" charset="-120"/>
              </a:rPr>
              <a:t>Cloud-native caching</a:t>
            </a:r>
            <a:endParaRPr lang="en-US" sz="1250" dirty="0"/>
          </a:p>
        </p:txBody>
      </p:sp>
      <p:sp>
        <p:nvSpPr>
          <p:cNvPr id="32" name="Text 29"/>
          <p:cNvSpPr/>
          <p:nvPr/>
        </p:nvSpPr>
        <p:spPr>
          <a:xfrm>
            <a:off x="9784080" y="4572000"/>
            <a:ext cx="2148840" cy="1234440"/>
          </a:xfrm>
          <a:prstGeom prst="rect">
            <a:avLst/>
          </a:prstGeom>
          <a:noFill/>
          <a:ln/>
        </p:spPr>
        <p:txBody>
          <a:bodyPr wrap="square" rtlCol="0" anchor="ctr"/>
          <a:lstStyle/>
          <a:p>
            <a:pPr marL="0" indent="0" algn="ctr">
              <a:buNone/>
            </a:pPr>
            <a:r>
              <a:rPr lang="en-US" sz="1000" dirty="0">
                <a:solidFill>
                  <a:srgbClr val="5B6270"/>
                </a:solidFill>
                <a:latin typeface="Calibri" pitchFamily="34" charset="0"/>
                <a:ea typeface="Calibri" pitchFamily="34" charset="-122"/>
                <a:cs typeface="Calibri" pitchFamily="34" charset="-120"/>
              </a:rPr>
              <a:t>Caching becomes a core building block of microservices and high-throughput, cloud-native architectures.</a:t>
            </a:r>
            <a:endParaRPr lang="en-US" sz="1000" dirty="0"/>
          </a:p>
        </p:txBody>
      </p:sp>
      <p:sp>
        <p:nvSpPr>
          <p:cNvPr id="33" name="Shape 30"/>
          <p:cNvSpPr/>
          <p:nvPr/>
        </p:nvSpPr>
        <p:spPr>
          <a:xfrm>
            <a:off x="548640" y="1691640"/>
            <a:ext cx="11064240" cy="1737360"/>
          </a:xfrm>
          <a:prstGeom prst="roundRect">
            <a:avLst>
              <a:gd name="adj" fmla="val 4211"/>
            </a:avLst>
          </a:prstGeom>
          <a:solidFill>
            <a:srgbClr val="F7F7F7"/>
          </a:solidFill>
          <a:ln/>
        </p:spPr>
      </p:sp>
      <p:sp>
        <p:nvSpPr>
          <p:cNvPr id="34" name="Text 31"/>
          <p:cNvSpPr/>
          <p:nvPr/>
        </p:nvSpPr>
        <p:spPr>
          <a:xfrm>
            <a:off x="822960" y="1874520"/>
            <a:ext cx="10515600" cy="274320"/>
          </a:xfrm>
          <a:prstGeom prst="rect">
            <a:avLst/>
          </a:prstGeom>
          <a:noFill/>
          <a:ln/>
        </p:spPr>
        <p:txBody>
          <a:bodyPr wrap="square" rtlCol="0" anchor="ctr"/>
          <a:lstStyle/>
          <a:p>
            <a:pPr marL="0" indent="0">
              <a:buNone/>
            </a:pPr>
            <a:r>
              <a:rPr lang="en-US" sz="1200" b="1" kern="0" spc="100" dirty="0">
                <a:solidFill>
                  <a:srgbClr val="DC382D"/>
                </a:solidFill>
                <a:latin typeface="Calibri" pitchFamily="34" charset="0"/>
                <a:ea typeface="Calibri" pitchFamily="34" charset="-122"/>
                <a:cs typeface="Calibri" pitchFamily="34" charset="-120"/>
              </a:rPr>
              <a:t>THE PATTERN ACROSS EVERY GENERATION</a:t>
            </a:r>
            <a:endParaRPr lang="en-US" sz="1200" dirty="0"/>
          </a:p>
        </p:txBody>
      </p:sp>
      <p:sp>
        <p:nvSpPr>
          <p:cNvPr id="35" name="Text 32"/>
          <p:cNvSpPr/>
          <p:nvPr/>
        </p:nvSpPr>
        <p:spPr>
          <a:xfrm>
            <a:off x="822960" y="2194560"/>
            <a:ext cx="10515600" cy="1143000"/>
          </a:xfrm>
          <a:prstGeom prst="rect">
            <a:avLst/>
          </a:prstGeom>
          <a:noFill/>
          <a:ln/>
        </p:spPr>
        <p:txBody>
          <a:bodyPr wrap="square" rtlCol="0" anchor="t"/>
          <a:lstStyle/>
          <a:p>
            <a:pPr marL="0" indent="0">
              <a:buNone/>
            </a:pPr>
            <a:r>
              <a:rPr lang="en-US" sz="1300" dirty="0">
                <a:solidFill>
                  <a:srgbClr val="1B1F27"/>
                </a:solidFill>
                <a:latin typeface="Calibri" pitchFamily="34" charset="0"/>
                <a:ea typeface="Calibri" pitchFamily="34" charset="-122"/>
                <a:cs typeface="Calibri" pitchFamily="34" charset="-120"/>
              </a:rPr>
              <a:t>Each generation solves the same problem at a new scale: put the data closer to where it's needed, in a faster medium, before falling back to the slow source of truth. Redis is the generation built for the distributed, always-on web — a shared memory layer any server can reach over the network.</a:t>
            </a:r>
            <a:endParaRPr lang="en-US" sz="1300" dirty="0"/>
          </a:p>
        </p:txBody>
      </p:sp>
      <p:sp>
        <p:nvSpPr>
          <p:cNvPr id="36" name="Text 33"/>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5B6270"/>
                </a:solidFill>
                <a:latin typeface="Calibri" pitchFamily="34" charset="0"/>
                <a:ea typeface="Calibri" pitchFamily="34" charset="-122"/>
                <a:cs typeface="Calibri" pitchFamily="34" charset="-120"/>
              </a:rPr>
              <a:t>Road to Redis</a:t>
            </a:r>
            <a:endParaRPr lang="en-US" sz="1000" dirty="0"/>
          </a:p>
        </p:txBody>
      </p:sp>
      <p:sp>
        <p:nvSpPr>
          <p:cNvPr id="37" name="Text 34"/>
          <p:cNvSpPr/>
          <p:nvPr/>
        </p:nvSpPr>
        <p:spPr>
          <a:xfrm>
            <a:off x="11247120" y="6537960"/>
            <a:ext cx="457200" cy="274320"/>
          </a:xfrm>
          <a:prstGeom prst="rect">
            <a:avLst/>
          </a:prstGeom>
          <a:noFill/>
          <a:ln/>
        </p:spPr>
        <p:txBody>
          <a:bodyPr wrap="square"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DC382D"/>
          </a:solidFill>
          <a:ln/>
        </p:spPr>
      </p:sp>
      <p:pic>
        <p:nvPicPr>
          <p:cNvPr id="3" name="Image 0" descr="icons/layer_red.png"/>
          <p:cNvPicPr>
            <a:picLocks noChangeAspect="1"/>
          </p:cNvPicPr>
          <p:nvPr/>
        </p:nvPicPr>
        <p:blipFill>
          <a:blip r:embed="rId3"/>
          <a:stretch>
            <a:fillRect/>
          </a:stretch>
        </p:blipFill>
        <p:spPr>
          <a:xfrm>
            <a:off x="694944" y="649224"/>
            <a:ext cx="274320" cy="274320"/>
          </a:xfrm>
          <a:prstGeom prst="rect">
            <a:avLst/>
          </a:prstGeom>
        </p:spPr>
      </p:pic>
      <p:sp>
        <p:nvSpPr>
          <p:cNvPr id="4" name="Text 1"/>
          <p:cNvSpPr/>
          <p:nvPr/>
        </p:nvSpPr>
        <p:spPr>
          <a:xfrm>
            <a:off x="1280160" y="457200"/>
            <a:ext cx="7315200" cy="274320"/>
          </a:xfrm>
          <a:prstGeom prst="rect">
            <a:avLst/>
          </a:prstGeom>
          <a:noFill/>
          <a:ln/>
        </p:spPr>
        <p:txBody>
          <a:bodyPr wrap="square" rtlCol="0" anchor="ctr"/>
          <a:lstStyle/>
          <a:p>
            <a:pPr marL="0" indent="0">
              <a:buNone/>
            </a:pPr>
            <a:r>
              <a:rPr lang="en-US" sz="1300" b="1" kern="0" spc="200" dirty="0">
                <a:solidFill>
                  <a:srgbClr val="DC382D"/>
                </a:solidFill>
                <a:latin typeface="Calibri" pitchFamily="34" charset="0"/>
                <a:ea typeface="Calibri" pitchFamily="34" charset="-122"/>
                <a:cs typeface="Calibri" pitchFamily="34" charset="-120"/>
              </a:rPr>
              <a:t>ROAD TO REDIS · 02</a:t>
            </a:r>
            <a:endParaRPr lang="en-US" sz="1300" dirty="0"/>
          </a:p>
        </p:txBody>
      </p:sp>
      <p:sp>
        <p:nvSpPr>
          <p:cNvPr id="5" name="Text 2"/>
          <p:cNvSpPr/>
          <p:nvPr/>
        </p:nvSpPr>
        <p:spPr>
          <a:xfrm>
            <a:off x="1280160" y="713232"/>
            <a:ext cx="10241280" cy="548640"/>
          </a:xfrm>
          <a:prstGeom prst="rect">
            <a:avLst/>
          </a:prstGeom>
          <a:noFill/>
          <a:ln/>
        </p:spPr>
        <p:txBody>
          <a:bodyPr wrap="square" rtlCol="0" anchor="ctr"/>
          <a:lstStyle/>
          <a:p>
            <a:pPr marL="0" indent="0">
              <a:buNone/>
            </a:pPr>
            <a:r>
              <a:rPr lang="en-US" sz="2800" b="1" dirty="0">
                <a:solidFill>
                  <a:srgbClr val="1B1F27"/>
                </a:solidFill>
                <a:latin typeface="Cambria" pitchFamily="34" charset="0"/>
                <a:ea typeface="Cambria" pitchFamily="34" charset="-122"/>
                <a:cs typeface="Cambria" pitchFamily="34" charset="-120"/>
              </a:rPr>
              <a:t>Redis's own generations</a:t>
            </a:r>
            <a:endParaRPr lang="en-US" sz="2800" dirty="0"/>
          </a:p>
        </p:txBody>
      </p:sp>
      <p:sp>
        <p:nvSpPr>
          <p:cNvPr id="6" name="Text 3"/>
          <p:cNvSpPr/>
          <p:nvPr/>
        </p:nvSpPr>
        <p:spPr>
          <a:xfrm>
            <a:off x="1280160" y="1207008"/>
            <a:ext cx="10058400" cy="320040"/>
          </a:xfrm>
          <a:prstGeom prst="rect">
            <a:avLst/>
          </a:prstGeom>
          <a:noFill/>
          <a:ln/>
        </p:spPr>
        <p:txBody>
          <a:bodyPr wrap="square" rtlCol="0" anchor="ctr"/>
          <a:lstStyle/>
          <a:p>
            <a:pPr marL="0" indent="0">
              <a:buNone/>
            </a:pPr>
            <a:r>
              <a:rPr lang="en-US" sz="1350" i="1" dirty="0">
                <a:solidFill>
                  <a:srgbClr val="5B6270"/>
                </a:solidFill>
                <a:latin typeface="Calibri" pitchFamily="34" charset="0"/>
                <a:ea typeface="Calibri" pitchFamily="34" charset="-122"/>
                <a:cs typeface="Calibri" pitchFamily="34" charset="-120"/>
              </a:rPr>
              <a:t>Once created in 2009, Redis itself evolved in generations — each one widening what an in-memory store could do.</a:t>
            </a:r>
            <a:endParaRPr lang="en-US" sz="1350" dirty="0"/>
          </a:p>
        </p:txBody>
      </p:sp>
      <p:sp>
        <p:nvSpPr>
          <p:cNvPr id="7" name="Shape 4"/>
          <p:cNvSpPr/>
          <p:nvPr/>
        </p:nvSpPr>
        <p:spPr>
          <a:xfrm>
            <a:off x="548640" y="1783080"/>
            <a:ext cx="11064240" cy="841248"/>
          </a:xfrm>
          <a:prstGeom prst="rect">
            <a:avLst/>
          </a:prstGeom>
          <a:solidFill>
            <a:srgbClr val="F7F7F7"/>
          </a:solidFill>
          <a:ln/>
        </p:spPr>
      </p:sp>
      <p:sp>
        <p:nvSpPr>
          <p:cNvPr id="8" name="Shape 5"/>
          <p:cNvSpPr/>
          <p:nvPr/>
        </p:nvSpPr>
        <p:spPr>
          <a:xfrm>
            <a:off x="777240" y="1947672"/>
            <a:ext cx="914400" cy="512064"/>
          </a:xfrm>
          <a:prstGeom prst="roundRect">
            <a:avLst>
              <a:gd name="adj" fmla="val 10714"/>
            </a:avLst>
          </a:prstGeom>
          <a:solidFill>
            <a:srgbClr val="DC382D"/>
          </a:solidFill>
          <a:ln/>
        </p:spPr>
      </p:sp>
      <p:sp>
        <p:nvSpPr>
          <p:cNvPr id="9" name="Text 6"/>
          <p:cNvSpPr/>
          <p:nvPr/>
        </p:nvSpPr>
        <p:spPr>
          <a:xfrm>
            <a:off x="777240" y="1947672"/>
            <a:ext cx="914400" cy="512064"/>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Gen 1</a:t>
            </a:r>
            <a:endParaRPr lang="en-US" sz="1400" dirty="0"/>
          </a:p>
        </p:txBody>
      </p:sp>
      <p:sp>
        <p:nvSpPr>
          <p:cNvPr id="10" name="Text 7"/>
          <p:cNvSpPr/>
          <p:nvPr/>
        </p:nvSpPr>
        <p:spPr>
          <a:xfrm>
            <a:off x="1965960" y="1874520"/>
            <a:ext cx="3291840" cy="658368"/>
          </a:xfrm>
          <a:prstGeom prst="rect">
            <a:avLst/>
          </a:prstGeom>
          <a:noFill/>
          <a:ln/>
        </p:spPr>
        <p:txBody>
          <a:bodyPr wrap="square" rtlCol="0" anchor="ctr"/>
          <a:lstStyle/>
          <a:p>
            <a:pPr marL="0" indent="0">
              <a:buNone/>
            </a:pPr>
            <a:r>
              <a:rPr lang="en-US" sz="1300" b="1" dirty="0">
                <a:solidFill>
                  <a:srgbClr val="1B1F27"/>
                </a:solidFill>
                <a:latin typeface="Calibri" pitchFamily="34" charset="0"/>
                <a:ea typeface="Calibri" pitchFamily="34" charset="-122"/>
                <a:cs typeface="Calibri" pitchFamily="34" charset="-120"/>
              </a:rPr>
              <a:t>2009–2012 · The core engine</a:t>
            </a:r>
            <a:endParaRPr lang="en-US" sz="1300" dirty="0"/>
          </a:p>
        </p:txBody>
      </p:sp>
      <p:sp>
        <p:nvSpPr>
          <p:cNvPr id="11" name="Text 8"/>
          <p:cNvSpPr/>
          <p:nvPr/>
        </p:nvSpPr>
        <p:spPr>
          <a:xfrm>
            <a:off x="5394960" y="1874520"/>
            <a:ext cx="5989320" cy="658368"/>
          </a:xfrm>
          <a:prstGeom prst="rect">
            <a:avLst/>
          </a:prstGeom>
          <a:noFill/>
          <a:ln/>
        </p:spPr>
        <p:txBody>
          <a:bodyPr wrap="square" rtlCol="0" anchor="ctr"/>
          <a:lstStyle/>
          <a:p>
            <a:pPr marL="0" indent="0">
              <a:buNone/>
            </a:pPr>
            <a:r>
              <a:rPr lang="en-US" sz="1200" dirty="0">
                <a:solidFill>
                  <a:srgbClr val="5B6270"/>
                </a:solidFill>
                <a:latin typeface="Calibri" pitchFamily="34" charset="0"/>
                <a:ea typeface="Calibri" pitchFamily="34" charset="-122"/>
                <a:cs typeface="Calibri" pitchFamily="34" charset="-120"/>
              </a:rPr>
              <a:t>Strings, lists, hashes, sets, and sorted sets on a single-threaded event loop — simple, predictable, and fast.</a:t>
            </a:r>
            <a:endParaRPr lang="en-US" sz="1200" dirty="0"/>
          </a:p>
        </p:txBody>
      </p:sp>
      <p:sp>
        <p:nvSpPr>
          <p:cNvPr id="12" name="Shape 9"/>
          <p:cNvSpPr/>
          <p:nvPr/>
        </p:nvSpPr>
        <p:spPr>
          <a:xfrm>
            <a:off x="548640" y="2642616"/>
            <a:ext cx="11064240" cy="841248"/>
          </a:xfrm>
          <a:prstGeom prst="rect">
            <a:avLst/>
          </a:prstGeom>
          <a:solidFill>
            <a:srgbClr val="FFFFFF"/>
          </a:solidFill>
          <a:ln/>
        </p:spPr>
      </p:sp>
      <p:sp>
        <p:nvSpPr>
          <p:cNvPr id="13" name="Shape 10"/>
          <p:cNvSpPr/>
          <p:nvPr/>
        </p:nvSpPr>
        <p:spPr>
          <a:xfrm>
            <a:off x="777240" y="2807208"/>
            <a:ext cx="914400" cy="512064"/>
          </a:xfrm>
          <a:prstGeom prst="roundRect">
            <a:avLst>
              <a:gd name="adj" fmla="val 10714"/>
            </a:avLst>
          </a:prstGeom>
          <a:solidFill>
            <a:srgbClr val="DC382D"/>
          </a:solidFill>
          <a:ln/>
        </p:spPr>
      </p:sp>
      <p:sp>
        <p:nvSpPr>
          <p:cNvPr id="14" name="Text 11"/>
          <p:cNvSpPr/>
          <p:nvPr/>
        </p:nvSpPr>
        <p:spPr>
          <a:xfrm>
            <a:off x="777240" y="2807208"/>
            <a:ext cx="914400" cy="512064"/>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Gen 2</a:t>
            </a:r>
            <a:endParaRPr lang="en-US" sz="1400" dirty="0"/>
          </a:p>
        </p:txBody>
      </p:sp>
      <p:sp>
        <p:nvSpPr>
          <p:cNvPr id="15" name="Text 12"/>
          <p:cNvSpPr/>
          <p:nvPr/>
        </p:nvSpPr>
        <p:spPr>
          <a:xfrm>
            <a:off x="1965960" y="2734056"/>
            <a:ext cx="3291840" cy="658368"/>
          </a:xfrm>
          <a:prstGeom prst="rect">
            <a:avLst/>
          </a:prstGeom>
          <a:noFill/>
          <a:ln/>
        </p:spPr>
        <p:txBody>
          <a:bodyPr wrap="square" rtlCol="0" anchor="ctr"/>
          <a:lstStyle/>
          <a:p>
            <a:pPr marL="0" indent="0">
              <a:buNone/>
            </a:pPr>
            <a:r>
              <a:rPr lang="en-US" sz="1300" b="1" dirty="0">
                <a:solidFill>
                  <a:srgbClr val="1B1F27"/>
                </a:solidFill>
                <a:latin typeface="Calibri" pitchFamily="34" charset="0"/>
                <a:ea typeface="Calibri" pitchFamily="34" charset="-122"/>
                <a:cs typeface="Calibri" pitchFamily="34" charset="-120"/>
              </a:rPr>
              <a:t>2013–2017 · Scripting &amp; scale-out</a:t>
            </a:r>
            <a:endParaRPr lang="en-US" sz="1300" dirty="0"/>
          </a:p>
        </p:txBody>
      </p:sp>
      <p:sp>
        <p:nvSpPr>
          <p:cNvPr id="16" name="Text 13"/>
          <p:cNvSpPr/>
          <p:nvPr/>
        </p:nvSpPr>
        <p:spPr>
          <a:xfrm>
            <a:off x="5394960" y="2734056"/>
            <a:ext cx="5989320" cy="658368"/>
          </a:xfrm>
          <a:prstGeom prst="rect">
            <a:avLst/>
          </a:prstGeom>
          <a:noFill/>
          <a:ln/>
        </p:spPr>
        <p:txBody>
          <a:bodyPr wrap="square" rtlCol="0" anchor="ctr"/>
          <a:lstStyle/>
          <a:p>
            <a:pPr marL="0" indent="0">
              <a:buNone/>
            </a:pPr>
            <a:r>
              <a:rPr lang="en-US" sz="1200" dirty="0">
                <a:solidFill>
                  <a:srgbClr val="5B6270"/>
                </a:solidFill>
                <a:latin typeface="Calibri" pitchFamily="34" charset="0"/>
                <a:ea typeface="Calibri" pitchFamily="34" charset="-122"/>
                <a:cs typeface="Calibri" pitchFamily="34" charset="-120"/>
              </a:rPr>
              <a:t>Lua scripting (2.6) enables atomic custom logic; Redis Cluster (3.0) brings native sharding across nodes.</a:t>
            </a:r>
            <a:endParaRPr lang="en-US" sz="1200" dirty="0"/>
          </a:p>
        </p:txBody>
      </p:sp>
      <p:sp>
        <p:nvSpPr>
          <p:cNvPr id="17" name="Shape 14"/>
          <p:cNvSpPr/>
          <p:nvPr/>
        </p:nvSpPr>
        <p:spPr>
          <a:xfrm>
            <a:off x="548640" y="3502152"/>
            <a:ext cx="11064240" cy="841248"/>
          </a:xfrm>
          <a:prstGeom prst="rect">
            <a:avLst/>
          </a:prstGeom>
          <a:solidFill>
            <a:srgbClr val="F7F7F7"/>
          </a:solidFill>
          <a:ln/>
        </p:spPr>
      </p:sp>
      <p:sp>
        <p:nvSpPr>
          <p:cNvPr id="18" name="Shape 15"/>
          <p:cNvSpPr/>
          <p:nvPr/>
        </p:nvSpPr>
        <p:spPr>
          <a:xfrm>
            <a:off x="777240" y="3666744"/>
            <a:ext cx="914400" cy="512064"/>
          </a:xfrm>
          <a:prstGeom prst="roundRect">
            <a:avLst>
              <a:gd name="adj" fmla="val 10714"/>
            </a:avLst>
          </a:prstGeom>
          <a:solidFill>
            <a:srgbClr val="DC382D"/>
          </a:solidFill>
          <a:ln/>
        </p:spPr>
      </p:sp>
      <p:sp>
        <p:nvSpPr>
          <p:cNvPr id="19" name="Text 16"/>
          <p:cNvSpPr/>
          <p:nvPr/>
        </p:nvSpPr>
        <p:spPr>
          <a:xfrm>
            <a:off x="777240" y="3666744"/>
            <a:ext cx="914400" cy="512064"/>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Gen 3</a:t>
            </a:r>
            <a:endParaRPr lang="en-US" sz="1400" dirty="0"/>
          </a:p>
        </p:txBody>
      </p:sp>
      <p:sp>
        <p:nvSpPr>
          <p:cNvPr id="20" name="Text 17"/>
          <p:cNvSpPr/>
          <p:nvPr/>
        </p:nvSpPr>
        <p:spPr>
          <a:xfrm>
            <a:off x="1965960" y="3593592"/>
            <a:ext cx="3291840" cy="658368"/>
          </a:xfrm>
          <a:prstGeom prst="rect">
            <a:avLst/>
          </a:prstGeom>
          <a:noFill/>
          <a:ln/>
        </p:spPr>
        <p:txBody>
          <a:bodyPr wrap="square" rtlCol="0" anchor="ctr"/>
          <a:lstStyle/>
          <a:p>
            <a:pPr marL="0" indent="0">
              <a:buNone/>
            </a:pPr>
            <a:r>
              <a:rPr lang="en-US" sz="1300" b="1" dirty="0">
                <a:solidFill>
                  <a:srgbClr val="1B1F27"/>
                </a:solidFill>
                <a:latin typeface="Calibri" pitchFamily="34" charset="0"/>
                <a:ea typeface="Calibri" pitchFamily="34" charset="-122"/>
                <a:cs typeface="Calibri" pitchFamily="34" charset="-120"/>
              </a:rPr>
              <a:t>2018–2019 · Modules</a:t>
            </a:r>
            <a:endParaRPr lang="en-US" sz="1300" dirty="0"/>
          </a:p>
        </p:txBody>
      </p:sp>
      <p:sp>
        <p:nvSpPr>
          <p:cNvPr id="21" name="Text 18"/>
          <p:cNvSpPr/>
          <p:nvPr/>
        </p:nvSpPr>
        <p:spPr>
          <a:xfrm>
            <a:off x="5394960" y="3593592"/>
            <a:ext cx="5989320" cy="658368"/>
          </a:xfrm>
          <a:prstGeom prst="rect">
            <a:avLst/>
          </a:prstGeom>
          <a:noFill/>
          <a:ln/>
        </p:spPr>
        <p:txBody>
          <a:bodyPr wrap="square" rtlCol="0" anchor="ctr"/>
          <a:lstStyle/>
          <a:p>
            <a:pPr marL="0" indent="0">
              <a:buNone/>
            </a:pPr>
            <a:r>
              <a:rPr lang="en-US" sz="1200" dirty="0">
                <a:solidFill>
                  <a:srgbClr val="5B6270"/>
                </a:solidFill>
                <a:latin typeface="Calibri" pitchFamily="34" charset="0"/>
                <a:ea typeface="Calibri" pitchFamily="34" charset="-122"/>
                <a:cs typeface="Calibri" pitchFamily="34" charset="-120"/>
              </a:rPr>
              <a:t>RedisJSON, RediSearch, and RedisTimeSeries extend Redis beyond key-value into documents, search, and time series.</a:t>
            </a:r>
            <a:endParaRPr lang="en-US" sz="1200" dirty="0"/>
          </a:p>
        </p:txBody>
      </p:sp>
      <p:sp>
        <p:nvSpPr>
          <p:cNvPr id="22" name="Shape 19"/>
          <p:cNvSpPr/>
          <p:nvPr/>
        </p:nvSpPr>
        <p:spPr>
          <a:xfrm>
            <a:off x="548640" y="4361688"/>
            <a:ext cx="11064240" cy="841248"/>
          </a:xfrm>
          <a:prstGeom prst="rect">
            <a:avLst/>
          </a:prstGeom>
          <a:solidFill>
            <a:srgbClr val="FFFFFF"/>
          </a:solidFill>
          <a:ln/>
        </p:spPr>
      </p:sp>
      <p:sp>
        <p:nvSpPr>
          <p:cNvPr id="23" name="Shape 20"/>
          <p:cNvSpPr/>
          <p:nvPr/>
        </p:nvSpPr>
        <p:spPr>
          <a:xfrm>
            <a:off x="777240" y="4526280"/>
            <a:ext cx="914400" cy="512064"/>
          </a:xfrm>
          <a:prstGeom prst="roundRect">
            <a:avLst>
              <a:gd name="adj" fmla="val 10714"/>
            </a:avLst>
          </a:prstGeom>
          <a:solidFill>
            <a:srgbClr val="DC382D"/>
          </a:solidFill>
          <a:ln/>
        </p:spPr>
      </p:sp>
      <p:sp>
        <p:nvSpPr>
          <p:cNvPr id="24" name="Text 21"/>
          <p:cNvSpPr/>
          <p:nvPr/>
        </p:nvSpPr>
        <p:spPr>
          <a:xfrm>
            <a:off x="777240" y="4526280"/>
            <a:ext cx="914400" cy="512064"/>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Gen 4</a:t>
            </a:r>
            <a:endParaRPr lang="en-US" sz="1400" dirty="0"/>
          </a:p>
        </p:txBody>
      </p:sp>
      <p:sp>
        <p:nvSpPr>
          <p:cNvPr id="25" name="Text 22"/>
          <p:cNvSpPr/>
          <p:nvPr/>
        </p:nvSpPr>
        <p:spPr>
          <a:xfrm>
            <a:off x="1965960" y="4453128"/>
            <a:ext cx="3291840" cy="658368"/>
          </a:xfrm>
          <a:prstGeom prst="rect">
            <a:avLst/>
          </a:prstGeom>
          <a:noFill/>
          <a:ln/>
        </p:spPr>
        <p:txBody>
          <a:bodyPr wrap="square" rtlCol="0" anchor="ctr"/>
          <a:lstStyle/>
          <a:p>
            <a:pPr marL="0" indent="0">
              <a:buNone/>
            </a:pPr>
            <a:r>
              <a:rPr lang="en-US" sz="1300" b="1" dirty="0">
                <a:solidFill>
                  <a:srgbClr val="1B1F27"/>
                </a:solidFill>
                <a:latin typeface="Calibri" pitchFamily="34" charset="0"/>
                <a:ea typeface="Calibri" pitchFamily="34" charset="-122"/>
                <a:cs typeface="Calibri" pitchFamily="34" charset="-120"/>
              </a:rPr>
              <a:t>2020–2022 · Enterprise-grade</a:t>
            </a:r>
            <a:endParaRPr lang="en-US" sz="1300" dirty="0"/>
          </a:p>
        </p:txBody>
      </p:sp>
      <p:sp>
        <p:nvSpPr>
          <p:cNvPr id="26" name="Text 23"/>
          <p:cNvSpPr/>
          <p:nvPr/>
        </p:nvSpPr>
        <p:spPr>
          <a:xfrm>
            <a:off x="5394960" y="4453128"/>
            <a:ext cx="5989320" cy="658368"/>
          </a:xfrm>
          <a:prstGeom prst="rect">
            <a:avLst/>
          </a:prstGeom>
          <a:noFill/>
          <a:ln/>
        </p:spPr>
        <p:txBody>
          <a:bodyPr wrap="square" rtlCol="0" anchor="ctr"/>
          <a:lstStyle/>
          <a:p>
            <a:pPr marL="0" indent="0">
              <a:buNone/>
            </a:pPr>
            <a:r>
              <a:rPr lang="en-US" sz="1200" dirty="0">
                <a:solidFill>
                  <a:srgbClr val="5B6270"/>
                </a:solidFill>
                <a:latin typeface="Calibri" pitchFamily="34" charset="0"/>
                <a:ea typeface="Calibri" pitchFamily="34" charset="-122"/>
                <a:cs typeface="Calibri" pitchFamily="34" charset="-120"/>
              </a:rPr>
              <a:t>ACLs, TLS, and multi-threaded I/O (v6) harden security and I/O throughput; Functions (v7) replace ad-hoc scripting.</a:t>
            </a:r>
            <a:endParaRPr lang="en-US" sz="1200" dirty="0"/>
          </a:p>
        </p:txBody>
      </p:sp>
      <p:sp>
        <p:nvSpPr>
          <p:cNvPr id="27" name="Shape 24"/>
          <p:cNvSpPr/>
          <p:nvPr/>
        </p:nvSpPr>
        <p:spPr>
          <a:xfrm>
            <a:off x="548640" y="5221224"/>
            <a:ext cx="11064240" cy="841248"/>
          </a:xfrm>
          <a:prstGeom prst="rect">
            <a:avLst/>
          </a:prstGeom>
          <a:solidFill>
            <a:srgbClr val="F7F7F7"/>
          </a:solidFill>
          <a:ln/>
        </p:spPr>
      </p:sp>
      <p:sp>
        <p:nvSpPr>
          <p:cNvPr id="28" name="Shape 25"/>
          <p:cNvSpPr/>
          <p:nvPr/>
        </p:nvSpPr>
        <p:spPr>
          <a:xfrm>
            <a:off x="777240" y="5385816"/>
            <a:ext cx="914400" cy="512064"/>
          </a:xfrm>
          <a:prstGeom prst="roundRect">
            <a:avLst>
              <a:gd name="adj" fmla="val 10714"/>
            </a:avLst>
          </a:prstGeom>
          <a:solidFill>
            <a:srgbClr val="DC382D"/>
          </a:solidFill>
          <a:ln/>
        </p:spPr>
      </p:sp>
      <p:sp>
        <p:nvSpPr>
          <p:cNvPr id="29" name="Text 26"/>
          <p:cNvSpPr/>
          <p:nvPr/>
        </p:nvSpPr>
        <p:spPr>
          <a:xfrm>
            <a:off x="777240" y="5385816"/>
            <a:ext cx="914400" cy="512064"/>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Gen 5</a:t>
            </a:r>
            <a:endParaRPr lang="en-US" sz="1400" dirty="0"/>
          </a:p>
        </p:txBody>
      </p:sp>
      <p:sp>
        <p:nvSpPr>
          <p:cNvPr id="30" name="Text 27"/>
          <p:cNvSpPr/>
          <p:nvPr/>
        </p:nvSpPr>
        <p:spPr>
          <a:xfrm>
            <a:off x="1965960" y="5312664"/>
            <a:ext cx="3291840" cy="658368"/>
          </a:xfrm>
          <a:prstGeom prst="rect">
            <a:avLst/>
          </a:prstGeom>
          <a:noFill/>
          <a:ln/>
        </p:spPr>
        <p:txBody>
          <a:bodyPr wrap="square" rtlCol="0" anchor="ctr"/>
          <a:lstStyle/>
          <a:p>
            <a:pPr marL="0" indent="0">
              <a:buNone/>
            </a:pPr>
            <a:r>
              <a:rPr lang="en-US" sz="1300" b="1" dirty="0">
                <a:solidFill>
                  <a:srgbClr val="1B1F27"/>
                </a:solidFill>
                <a:latin typeface="Calibri" pitchFamily="34" charset="0"/>
                <a:ea typeface="Calibri" pitchFamily="34" charset="-122"/>
                <a:cs typeface="Calibri" pitchFamily="34" charset="-120"/>
              </a:rPr>
              <a:t>2024–present · New era</a:t>
            </a:r>
            <a:endParaRPr lang="en-US" sz="1300" dirty="0"/>
          </a:p>
        </p:txBody>
      </p:sp>
      <p:sp>
        <p:nvSpPr>
          <p:cNvPr id="31" name="Text 28"/>
          <p:cNvSpPr/>
          <p:nvPr/>
        </p:nvSpPr>
        <p:spPr>
          <a:xfrm>
            <a:off x="5394960" y="5312664"/>
            <a:ext cx="5989320" cy="658368"/>
          </a:xfrm>
          <a:prstGeom prst="rect">
            <a:avLst/>
          </a:prstGeom>
          <a:noFill/>
          <a:ln/>
        </p:spPr>
        <p:txBody>
          <a:bodyPr wrap="square" rtlCol="0" anchor="ctr"/>
          <a:lstStyle/>
          <a:p>
            <a:pPr marL="0" indent="0">
              <a:buNone/>
            </a:pPr>
            <a:r>
              <a:rPr lang="en-US" sz="1200" dirty="0">
                <a:solidFill>
                  <a:srgbClr val="5B6270"/>
                </a:solidFill>
                <a:latin typeface="Calibri" pitchFamily="34" charset="0"/>
                <a:ea typeface="Calibri" pitchFamily="34" charset="-122"/>
                <a:cs typeface="Calibri" pitchFamily="34" charset="-120"/>
              </a:rPr>
              <a:t>Vector search and hash-field TTL land in Redis 8, alongside a fast-growing family of compatible forks (Valkey, Dragonfly, KeyDB).</a:t>
            </a:r>
            <a:endParaRPr lang="en-US" sz="1200" dirty="0"/>
          </a:p>
        </p:txBody>
      </p:sp>
      <p:sp>
        <p:nvSpPr>
          <p:cNvPr id="32" name="Text 29"/>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5B6270"/>
                </a:solidFill>
                <a:latin typeface="Calibri" pitchFamily="34" charset="0"/>
                <a:ea typeface="Calibri" pitchFamily="34" charset="-122"/>
                <a:cs typeface="Calibri" pitchFamily="34" charset="-120"/>
              </a:rPr>
              <a:t>Road to Redis</a:t>
            </a:r>
            <a:endParaRPr lang="en-US" sz="1000" dirty="0"/>
          </a:p>
        </p:txBody>
      </p:sp>
      <p:sp>
        <p:nvSpPr>
          <p:cNvPr id="33" name="Text 30"/>
          <p:cNvSpPr/>
          <p:nvPr/>
        </p:nvSpPr>
        <p:spPr>
          <a:xfrm>
            <a:off x="11247120" y="6537960"/>
            <a:ext cx="457200" cy="274320"/>
          </a:xfrm>
          <a:prstGeom prst="rect">
            <a:avLst/>
          </a:prstGeom>
          <a:noFill/>
          <a:ln/>
        </p:spPr>
        <p:txBody>
          <a:bodyPr wrap="square"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DC382D"/>
          </a:solidFill>
          <a:ln/>
        </p:spPr>
      </p:sp>
      <p:pic>
        <p:nvPicPr>
          <p:cNvPr id="3" name="Image 0" descr="icons/cache_red.png"/>
          <p:cNvPicPr>
            <a:picLocks noChangeAspect="1"/>
          </p:cNvPicPr>
          <p:nvPr/>
        </p:nvPicPr>
        <p:blipFill>
          <a:blip r:embed="rId3"/>
          <a:stretch>
            <a:fillRect/>
          </a:stretch>
        </p:blipFill>
        <p:spPr>
          <a:xfrm>
            <a:off x="694944" y="649224"/>
            <a:ext cx="274320" cy="274320"/>
          </a:xfrm>
          <a:prstGeom prst="rect">
            <a:avLst/>
          </a:prstGeom>
        </p:spPr>
      </p:pic>
      <p:sp>
        <p:nvSpPr>
          <p:cNvPr id="4" name="Text 1"/>
          <p:cNvSpPr/>
          <p:nvPr/>
        </p:nvSpPr>
        <p:spPr>
          <a:xfrm>
            <a:off x="1280160" y="457200"/>
            <a:ext cx="7315200" cy="274320"/>
          </a:xfrm>
          <a:prstGeom prst="rect">
            <a:avLst/>
          </a:prstGeom>
          <a:noFill/>
          <a:ln/>
        </p:spPr>
        <p:txBody>
          <a:bodyPr wrap="square" rtlCol="0" anchor="ctr"/>
          <a:lstStyle/>
          <a:p>
            <a:pPr marL="0" indent="0">
              <a:buNone/>
            </a:pPr>
            <a:r>
              <a:rPr lang="en-US" sz="1300" b="1" kern="0" spc="200" dirty="0">
                <a:solidFill>
                  <a:srgbClr val="DC382D"/>
                </a:solidFill>
                <a:latin typeface="Calibri" pitchFamily="34" charset="0"/>
                <a:ea typeface="Calibri" pitchFamily="34" charset="-122"/>
                <a:cs typeface="Calibri" pitchFamily="34" charset="-120"/>
              </a:rPr>
              <a:t>CAPABILITY · 01</a:t>
            </a:r>
            <a:endParaRPr lang="en-US" sz="1300" dirty="0"/>
          </a:p>
        </p:txBody>
      </p:sp>
      <p:sp>
        <p:nvSpPr>
          <p:cNvPr id="5" name="Text 2"/>
          <p:cNvSpPr/>
          <p:nvPr/>
        </p:nvSpPr>
        <p:spPr>
          <a:xfrm>
            <a:off x="1280160" y="713232"/>
            <a:ext cx="10241280" cy="548640"/>
          </a:xfrm>
          <a:prstGeom prst="rect">
            <a:avLst/>
          </a:prstGeom>
          <a:noFill/>
          <a:ln/>
        </p:spPr>
        <p:txBody>
          <a:bodyPr wrap="square" rtlCol="0" anchor="ctr"/>
          <a:lstStyle/>
          <a:p>
            <a:pPr marL="0" indent="0">
              <a:buNone/>
            </a:pPr>
            <a:r>
              <a:rPr lang="en-US" sz="2800" b="1" dirty="0">
                <a:solidFill>
                  <a:srgbClr val="1B1F27"/>
                </a:solidFill>
                <a:latin typeface="Cambria" pitchFamily="34" charset="0"/>
                <a:ea typeface="Cambria" pitchFamily="34" charset="-122"/>
                <a:cs typeface="Cambria" pitchFamily="34" charset="-120"/>
              </a:rPr>
              <a:t>Caching</a:t>
            </a:r>
            <a:endParaRPr lang="en-US" sz="2800" dirty="0"/>
          </a:p>
        </p:txBody>
      </p:sp>
      <p:sp>
        <p:nvSpPr>
          <p:cNvPr id="6" name="Text 3"/>
          <p:cNvSpPr/>
          <p:nvPr/>
        </p:nvSpPr>
        <p:spPr>
          <a:xfrm>
            <a:off x="1280160" y="1207008"/>
            <a:ext cx="10058400" cy="320040"/>
          </a:xfrm>
          <a:prstGeom prst="rect">
            <a:avLst/>
          </a:prstGeom>
          <a:noFill/>
          <a:ln/>
        </p:spPr>
        <p:txBody>
          <a:bodyPr wrap="square" rtlCol="0" anchor="ctr"/>
          <a:lstStyle/>
          <a:p>
            <a:pPr marL="0" indent="0">
              <a:buNone/>
            </a:pPr>
            <a:r>
              <a:rPr lang="en-US" sz="1350" i="1" dirty="0">
                <a:solidFill>
                  <a:srgbClr val="5B6270"/>
                </a:solidFill>
                <a:latin typeface="Calibri" pitchFamily="34" charset="0"/>
                <a:ea typeface="Calibri" pitchFamily="34" charset="-122"/>
                <a:cs typeface="Calibri" pitchFamily="34" charset="-120"/>
              </a:rPr>
              <a:t>The most common use: keep hot data in memory to skip slow round-trips.</a:t>
            </a:r>
            <a:endParaRPr lang="en-US" sz="1350" dirty="0"/>
          </a:p>
        </p:txBody>
      </p:sp>
      <p:sp>
        <p:nvSpPr>
          <p:cNvPr id="7" name="Shape 4"/>
          <p:cNvSpPr/>
          <p:nvPr/>
        </p:nvSpPr>
        <p:spPr>
          <a:xfrm>
            <a:off x="548640" y="1783080"/>
            <a:ext cx="5577840" cy="4343400"/>
          </a:xfrm>
          <a:prstGeom prst="roundRect">
            <a:avLst>
              <a:gd name="adj" fmla="val 1684"/>
            </a:avLst>
          </a:prstGeom>
          <a:solidFill>
            <a:srgbClr val="F7F7F7"/>
          </a:solidFill>
          <a:ln/>
        </p:spPr>
      </p:sp>
      <p:sp>
        <p:nvSpPr>
          <p:cNvPr id="8" name="Text 5"/>
          <p:cNvSpPr/>
          <p:nvPr/>
        </p:nvSpPr>
        <p:spPr>
          <a:xfrm>
            <a:off x="822960" y="1965960"/>
            <a:ext cx="5029200" cy="274320"/>
          </a:xfrm>
          <a:prstGeom prst="rect">
            <a:avLst/>
          </a:prstGeom>
          <a:noFill/>
          <a:ln/>
        </p:spPr>
        <p:txBody>
          <a:bodyPr wrap="square" rtlCol="0" anchor="ctr"/>
          <a:lstStyle/>
          <a:p>
            <a:pPr marL="0" indent="0">
              <a:buNone/>
            </a:pPr>
            <a:r>
              <a:rPr lang="en-US" sz="1200" b="1" kern="0" spc="100" dirty="0">
                <a:solidFill>
                  <a:srgbClr val="DC382D"/>
                </a:solidFill>
                <a:latin typeface="Calibri" pitchFamily="34" charset="0"/>
                <a:ea typeface="Calibri" pitchFamily="34" charset="-122"/>
                <a:cs typeface="Calibri" pitchFamily="34" charset="-120"/>
              </a:rPr>
              <a:t>HOW IT WORKS</a:t>
            </a:r>
            <a:endParaRPr lang="en-US" sz="1200" dirty="0"/>
          </a:p>
        </p:txBody>
      </p:sp>
      <p:sp>
        <p:nvSpPr>
          <p:cNvPr id="9" name="Text 6"/>
          <p:cNvSpPr/>
          <p:nvPr/>
        </p:nvSpPr>
        <p:spPr>
          <a:xfrm>
            <a:off x="822960" y="2286000"/>
            <a:ext cx="5029200" cy="1554480"/>
          </a:xfrm>
          <a:prstGeom prst="rect">
            <a:avLst/>
          </a:prstGeom>
          <a:noFill/>
          <a:ln/>
        </p:spPr>
        <p:txBody>
          <a:bodyPr wrap="square" rtlCol="0" anchor="t"/>
          <a:lstStyle/>
          <a:p>
            <a:pPr marL="0" indent="0">
              <a:buNone/>
            </a:pPr>
            <a:r>
              <a:rPr lang="en-US" sz="1350" dirty="0">
                <a:solidFill>
                  <a:srgbClr val="1B1F27"/>
                </a:solidFill>
                <a:latin typeface="Calibri" pitchFamily="34" charset="0"/>
                <a:ea typeface="Calibri" pitchFamily="34" charset="-122"/>
                <a:cs typeface="Calibri" pitchFamily="34" charset="-120"/>
              </a:rPr>
              <a:t>An app first checks Redis for a value using a key. If found (a “cache hit”), it returns instantly from memory. If not (a “miss”), the app reads the database, then stores the result in Redis with an expiry (TTL) for next time.</a:t>
            </a:r>
            <a:endParaRPr lang="en-US" sz="1350" dirty="0"/>
          </a:p>
        </p:txBody>
      </p:sp>
      <p:sp>
        <p:nvSpPr>
          <p:cNvPr id="10" name="Shape 7"/>
          <p:cNvSpPr/>
          <p:nvPr/>
        </p:nvSpPr>
        <p:spPr>
          <a:xfrm>
            <a:off x="822960" y="3886200"/>
            <a:ext cx="5029200" cy="18288"/>
          </a:xfrm>
          <a:prstGeom prst="rect">
            <a:avLst/>
          </a:prstGeom>
          <a:solidFill>
            <a:srgbClr val="E1E3E6"/>
          </a:solidFill>
          <a:ln/>
        </p:spPr>
      </p:sp>
      <p:sp>
        <p:nvSpPr>
          <p:cNvPr id="11" name="Text 8"/>
          <p:cNvSpPr/>
          <p:nvPr/>
        </p:nvSpPr>
        <p:spPr>
          <a:xfrm>
            <a:off x="822960" y="4041648"/>
            <a:ext cx="5029200" cy="274320"/>
          </a:xfrm>
          <a:prstGeom prst="rect">
            <a:avLst/>
          </a:prstGeom>
          <a:noFill/>
          <a:ln/>
        </p:spPr>
        <p:txBody>
          <a:bodyPr wrap="square" rtlCol="0" anchor="ctr"/>
          <a:lstStyle/>
          <a:p>
            <a:pPr marL="0" indent="0">
              <a:buNone/>
            </a:pPr>
            <a:r>
              <a:rPr lang="en-US" sz="1200" b="1" kern="0" spc="100" dirty="0">
                <a:solidFill>
                  <a:srgbClr val="DC382D"/>
                </a:solidFill>
                <a:latin typeface="Calibri" pitchFamily="34" charset="0"/>
                <a:ea typeface="Calibri" pitchFamily="34" charset="-122"/>
                <a:cs typeface="Calibri" pitchFamily="34" charset="-120"/>
              </a:rPr>
              <a:t>WHY IT'S FAST / USEFUL</a:t>
            </a:r>
            <a:endParaRPr lang="en-US" sz="1200" dirty="0"/>
          </a:p>
        </p:txBody>
      </p:sp>
      <p:sp>
        <p:nvSpPr>
          <p:cNvPr id="12" name="Shape 9"/>
          <p:cNvSpPr/>
          <p:nvPr/>
        </p:nvSpPr>
        <p:spPr>
          <a:xfrm>
            <a:off x="822960" y="4416552"/>
            <a:ext cx="109728" cy="109728"/>
          </a:xfrm>
          <a:prstGeom prst="ellipse">
            <a:avLst/>
          </a:prstGeom>
          <a:solidFill>
            <a:srgbClr val="F2A900"/>
          </a:solidFill>
          <a:ln/>
        </p:spPr>
      </p:sp>
      <p:sp>
        <p:nvSpPr>
          <p:cNvPr id="13" name="Text 10"/>
          <p:cNvSpPr/>
          <p:nvPr/>
        </p:nvSpPr>
        <p:spPr>
          <a:xfrm>
            <a:off x="1051560" y="4297680"/>
            <a:ext cx="4800600" cy="365760"/>
          </a:xfrm>
          <a:prstGeom prst="rect">
            <a:avLst/>
          </a:prstGeom>
          <a:noFill/>
          <a:ln/>
        </p:spPr>
        <p:txBody>
          <a:bodyPr wrap="square" rtlCol="0" anchor="ctr"/>
          <a:lstStyle/>
          <a:p>
            <a:pPr marL="0" indent="0">
              <a:buNone/>
            </a:pPr>
            <a:r>
              <a:rPr lang="en-US" sz="1250" dirty="0">
                <a:solidFill>
                  <a:srgbClr val="5B6270"/>
                </a:solidFill>
                <a:latin typeface="Calibri" pitchFamily="34" charset="0"/>
                <a:ea typeface="Calibri" pitchFamily="34" charset="-122"/>
                <a:cs typeface="Calibri" pitchFamily="34" charset="-120"/>
              </a:rPr>
              <a:t>Sub-millisecond reads straight from RAM</a:t>
            </a:r>
            <a:endParaRPr lang="en-US" sz="1250" dirty="0"/>
          </a:p>
        </p:txBody>
      </p:sp>
      <p:sp>
        <p:nvSpPr>
          <p:cNvPr id="14" name="Shape 11"/>
          <p:cNvSpPr/>
          <p:nvPr/>
        </p:nvSpPr>
        <p:spPr>
          <a:xfrm>
            <a:off x="822960" y="4800600"/>
            <a:ext cx="109728" cy="109728"/>
          </a:xfrm>
          <a:prstGeom prst="ellipse">
            <a:avLst/>
          </a:prstGeom>
          <a:solidFill>
            <a:srgbClr val="F2A900"/>
          </a:solidFill>
          <a:ln/>
        </p:spPr>
      </p:sp>
      <p:sp>
        <p:nvSpPr>
          <p:cNvPr id="15" name="Text 12"/>
          <p:cNvSpPr/>
          <p:nvPr/>
        </p:nvSpPr>
        <p:spPr>
          <a:xfrm>
            <a:off x="1051560" y="4681728"/>
            <a:ext cx="4800600" cy="365760"/>
          </a:xfrm>
          <a:prstGeom prst="rect">
            <a:avLst/>
          </a:prstGeom>
          <a:noFill/>
          <a:ln/>
        </p:spPr>
        <p:txBody>
          <a:bodyPr wrap="square" rtlCol="0" anchor="ctr"/>
          <a:lstStyle/>
          <a:p>
            <a:pPr marL="0" indent="0">
              <a:buNone/>
            </a:pPr>
            <a:r>
              <a:rPr lang="en-US" sz="1250" dirty="0">
                <a:solidFill>
                  <a:srgbClr val="5B6270"/>
                </a:solidFill>
                <a:latin typeface="Calibri" pitchFamily="34" charset="0"/>
                <a:ea typeface="Calibri" pitchFamily="34" charset="-122"/>
                <a:cs typeface="Calibri" pitchFamily="34" charset="-120"/>
              </a:rPr>
              <a:t>TTL auto-expires stale data</a:t>
            </a:r>
            <a:endParaRPr lang="en-US" sz="1250" dirty="0"/>
          </a:p>
        </p:txBody>
      </p:sp>
      <p:sp>
        <p:nvSpPr>
          <p:cNvPr id="16" name="Shape 13"/>
          <p:cNvSpPr/>
          <p:nvPr/>
        </p:nvSpPr>
        <p:spPr>
          <a:xfrm>
            <a:off x="822960" y="5184648"/>
            <a:ext cx="109728" cy="109728"/>
          </a:xfrm>
          <a:prstGeom prst="ellipse">
            <a:avLst/>
          </a:prstGeom>
          <a:solidFill>
            <a:srgbClr val="F2A900"/>
          </a:solidFill>
          <a:ln/>
        </p:spPr>
      </p:sp>
      <p:sp>
        <p:nvSpPr>
          <p:cNvPr id="17" name="Text 14"/>
          <p:cNvSpPr/>
          <p:nvPr/>
        </p:nvSpPr>
        <p:spPr>
          <a:xfrm>
            <a:off x="1051560" y="5065776"/>
            <a:ext cx="4800600" cy="365760"/>
          </a:xfrm>
          <a:prstGeom prst="rect">
            <a:avLst/>
          </a:prstGeom>
          <a:noFill/>
          <a:ln/>
        </p:spPr>
        <p:txBody>
          <a:bodyPr wrap="square" rtlCol="0" anchor="ctr"/>
          <a:lstStyle/>
          <a:p>
            <a:pPr marL="0" indent="0">
              <a:buNone/>
            </a:pPr>
            <a:r>
              <a:rPr lang="en-US" sz="1250" dirty="0">
                <a:solidFill>
                  <a:srgbClr val="5B6270"/>
                </a:solidFill>
                <a:latin typeface="Calibri" pitchFamily="34" charset="0"/>
                <a:ea typeface="Calibri" pitchFamily="34" charset="-122"/>
                <a:cs typeface="Calibri" pitchFamily="34" charset="-120"/>
              </a:rPr>
              <a:t>Takes repeated load off the primary database</a:t>
            </a:r>
            <a:endParaRPr lang="en-US" sz="1250" dirty="0"/>
          </a:p>
        </p:txBody>
      </p:sp>
      <p:sp>
        <p:nvSpPr>
          <p:cNvPr id="18" name="Shape 15"/>
          <p:cNvSpPr/>
          <p:nvPr/>
        </p:nvSpPr>
        <p:spPr>
          <a:xfrm>
            <a:off x="6355080" y="1783080"/>
            <a:ext cx="5257800" cy="4343400"/>
          </a:xfrm>
          <a:prstGeom prst="roundRect">
            <a:avLst>
              <a:gd name="adj" fmla="val 1684"/>
            </a:avLst>
          </a:prstGeom>
          <a:solidFill>
            <a:srgbClr val="1B1F27"/>
          </a:solidFill>
          <a:ln/>
        </p:spPr>
      </p:sp>
      <p:sp>
        <p:nvSpPr>
          <p:cNvPr id="19" name="Text 16"/>
          <p:cNvSpPr/>
          <p:nvPr/>
        </p:nvSpPr>
        <p:spPr>
          <a:xfrm>
            <a:off x="6629400" y="1965960"/>
            <a:ext cx="4754880" cy="274320"/>
          </a:xfrm>
          <a:prstGeom prst="rect">
            <a:avLst/>
          </a:prstGeom>
          <a:noFill/>
          <a:ln/>
        </p:spPr>
        <p:txBody>
          <a:bodyPr wrap="square" rtlCol="0" anchor="ctr"/>
          <a:lstStyle/>
          <a:p>
            <a:pPr marL="0" indent="0">
              <a:buNone/>
            </a:pPr>
            <a:r>
              <a:rPr lang="en-US" sz="1200" b="1" kern="0" spc="100" dirty="0">
                <a:solidFill>
                  <a:srgbClr val="F2A900"/>
                </a:solidFill>
                <a:latin typeface="Calibri" pitchFamily="34" charset="0"/>
                <a:ea typeface="Calibri" pitchFamily="34" charset="-122"/>
                <a:cs typeface="Calibri" pitchFamily="34" charset="-120"/>
              </a:rPr>
              <a:t>REAL-WORLD USAGE</a:t>
            </a:r>
            <a:endParaRPr lang="en-US" sz="1200" dirty="0"/>
          </a:p>
        </p:txBody>
      </p:sp>
      <p:sp>
        <p:nvSpPr>
          <p:cNvPr id="20" name="Text 17"/>
          <p:cNvSpPr/>
          <p:nvPr/>
        </p:nvSpPr>
        <p:spPr>
          <a:xfrm>
            <a:off x="6629400" y="2286000"/>
            <a:ext cx="4754880" cy="502920"/>
          </a:xfrm>
          <a:prstGeom prst="rect">
            <a:avLst/>
          </a:prstGeom>
          <a:noFill/>
          <a:ln/>
        </p:spPr>
        <p:txBody>
          <a:bodyPr wrap="square"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Cutting database load at scale</a:t>
            </a:r>
            <a:endParaRPr lang="en-US" sz="1900" dirty="0"/>
          </a:p>
        </p:txBody>
      </p:sp>
      <p:sp>
        <p:nvSpPr>
          <p:cNvPr id="21" name="Text 18"/>
          <p:cNvSpPr/>
          <p:nvPr/>
        </p:nvSpPr>
        <p:spPr>
          <a:xfrm>
            <a:off x="6629400" y="2880360"/>
            <a:ext cx="4754880" cy="3017520"/>
          </a:xfrm>
          <a:prstGeom prst="rect">
            <a:avLst/>
          </a:prstGeom>
          <a:noFill/>
          <a:ln/>
        </p:spPr>
        <p:txBody>
          <a:bodyPr wrap="square" rtlCol="0" anchor="t"/>
          <a:lstStyle/>
          <a:p>
            <a:pPr marL="0" indent="0">
              <a:buNone/>
            </a:pPr>
            <a:r>
              <a:rPr lang="en-US" sz="1300" dirty="0">
                <a:solidFill>
                  <a:srgbClr val="C9CDD3"/>
                </a:solidFill>
                <a:latin typeface="Calibri" pitchFamily="34" charset="0"/>
                <a:ea typeface="Calibri" pitchFamily="34" charset="-122"/>
                <a:cs typeface="Calibri" pitchFamily="34" charset="-120"/>
              </a:rPr>
              <a:t>Large social platforms and news sites cache rendered feeds, user profiles, and trending pages in Redis so millions of repeat reads never touch the primary database — keeping pages fast even during traffic spikes.</a:t>
            </a:r>
            <a:endParaRPr lang="en-US" sz="1300" dirty="0"/>
          </a:p>
        </p:txBody>
      </p:sp>
      <p:sp>
        <p:nvSpPr>
          <p:cNvPr id="22" name="Text 19"/>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5B6270"/>
                </a:solidFill>
                <a:latin typeface="Calibri" pitchFamily="34" charset="0"/>
                <a:ea typeface="Calibri" pitchFamily="34" charset="-122"/>
                <a:cs typeface="Calibri" pitchFamily="34" charset="-120"/>
              </a:rPr>
              <a:t>Capabilities of Redis</a:t>
            </a:r>
            <a:endParaRPr lang="en-US" sz="1000" dirty="0"/>
          </a:p>
        </p:txBody>
      </p:sp>
      <p:sp>
        <p:nvSpPr>
          <p:cNvPr id="23" name="Text 20"/>
          <p:cNvSpPr/>
          <p:nvPr/>
        </p:nvSpPr>
        <p:spPr>
          <a:xfrm>
            <a:off x="11247120" y="6537960"/>
            <a:ext cx="457200" cy="274320"/>
          </a:xfrm>
          <a:prstGeom prst="rect">
            <a:avLst/>
          </a:prstGeom>
          <a:noFill/>
          <a:ln/>
        </p:spPr>
        <p:txBody>
          <a:bodyPr wrap="square"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DC382D"/>
          </a:solidFill>
          <a:ln/>
        </p:spPr>
      </p:sp>
      <p:pic>
        <p:nvPicPr>
          <p:cNvPr id="3" name="Image 0" descr="icons/session_red.png"/>
          <p:cNvPicPr>
            <a:picLocks noChangeAspect="1"/>
          </p:cNvPicPr>
          <p:nvPr/>
        </p:nvPicPr>
        <p:blipFill>
          <a:blip r:embed="rId3"/>
          <a:stretch>
            <a:fillRect/>
          </a:stretch>
        </p:blipFill>
        <p:spPr>
          <a:xfrm>
            <a:off x="694944" y="649224"/>
            <a:ext cx="274320" cy="274320"/>
          </a:xfrm>
          <a:prstGeom prst="rect">
            <a:avLst/>
          </a:prstGeom>
        </p:spPr>
      </p:pic>
      <p:sp>
        <p:nvSpPr>
          <p:cNvPr id="4" name="Text 1"/>
          <p:cNvSpPr/>
          <p:nvPr/>
        </p:nvSpPr>
        <p:spPr>
          <a:xfrm>
            <a:off x="1280160" y="457200"/>
            <a:ext cx="7315200" cy="274320"/>
          </a:xfrm>
          <a:prstGeom prst="rect">
            <a:avLst/>
          </a:prstGeom>
          <a:noFill/>
          <a:ln/>
        </p:spPr>
        <p:txBody>
          <a:bodyPr wrap="square" rtlCol="0" anchor="ctr"/>
          <a:lstStyle/>
          <a:p>
            <a:pPr marL="0" indent="0">
              <a:buNone/>
            </a:pPr>
            <a:r>
              <a:rPr lang="en-US" sz="1300" b="1" kern="0" spc="200" dirty="0">
                <a:solidFill>
                  <a:srgbClr val="DC382D"/>
                </a:solidFill>
                <a:latin typeface="Calibri" pitchFamily="34" charset="0"/>
                <a:ea typeface="Calibri" pitchFamily="34" charset="-122"/>
                <a:cs typeface="Calibri" pitchFamily="34" charset="-120"/>
              </a:rPr>
              <a:t>CAPABILITY · 02</a:t>
            </a:r>
            <a:endParaRPr lang="en-US" sz="1300" dirty="0"/>
          </a:p>
        </p:txBody>
      </p:sp>
      <p:sp>
        <p:nvSpPr>
          <p:cNvPr id="5" name="Text 2"/>
          <p:cNvSpPr/>
          <p:nvPr/>
        </p:nvSpPr>
        <p:spPr>
          <a:xfrm>
            <a:off x="1280160" y="713232"/>
            <a:ext cx="10241280" cy="548640"/>
          </a:xfrm>
          <a:prstGeom prst="rect">
            <a:avLst/>
          </a:prstGeom>
          <a:noFill/>
          <a:ln/>
        </p:spPr>
        <p:txBody>
          <a:bodyPr wrap="square" rtlCol="0" anchor="ctr"/>
          <a:lstStyle/>
          <a:p>
            <a:pPr marL="0" indent="0">
              <a:buNone/>
            </a:pPr>
            <a:r>
              <a:rPr lang="en-US" sz="2800" b="1" dirty="0">
                <a:solidFill>
                  <a:srgbClr val="1B1F27"/>
                </a:solidFill>
                <a:latin typeface="Cambria" pitchFamily="34" charset="0"/>
                <a:ea typeface="Cambria" pitchFamily="34" charset="-122"/>
                <a:cs typeface="Cambria" pitchFamily="34" charset="-120"/>
              </a:rPr>
              <a:t>Session Store</a:t>
            </a:r>
            <a:endParaRPr lang="en-US" sz="2800" dirty="0"/>
          </a:p>
        </p:txBody>
      </p:sp>
      <p:sp>
        <p:nvSpPr>
          <p:cNvPr id="6" name="Text 3"/>
          <p:cNvSpPr/>
          <p:nvPr/>
        </p:nvSpPr>
        <p:spPr>
          <a:xfrm>
            <a:off x="1280160" y="1207008"/>
            <a:ext cx="10058400" cy="320040"/>
          </a:xfrm>
          <a:prstGeom prst="rect">
            <a:avLst/>
          </a:prstGeom>
          <a:noFill/>
          <a:ln/>
        </p:spPr>
        <p:txBody>
          <a:bodyPr wrap="square" rtlCol="0" anchor="ctr"/>
          <a:lstStyle/>
          <a:p>
            <a:pPr marL="0" indent="0">
              <a:buNone/>
            </a:pPr>
            <a:r>
              <a:rPr lang="en-US" sz="1350" i="1" dirty="0">
                <a:solidFill>
                  <a:srgbClr val="5B6270"/>
                </a:solidFill>
                <a:latin typeface="Calibri" pitchFamily="34" charset="0"/>
                <a:ea typeface="Calibri" pitchFamily="34" charset="-122"/>
                <a:cs typeface="Calibri" pitchFamily="34" charset="-120"/>
              </a:rPr>
              <a:t>Share login/session state across many app servers.</a:t>
            </a:r>
            <a:endParaRPr lang="en-US" sz="1350" dirty="0"/>
          </a:p>
        </p:txBody>
      </p:sp>
      <p:sp>
        <p:nvSpPr>
          <p:cNvPr id="7" name="Shape 4"/>
          <p:cNvSpPr/>
          <p:nvPr/>
        </p:nvSpPr>
        <p:spPr>
          <a:xfrm>
            <a:off x="548640" y="1783080"/>
            <a:ext cx="5577840" cy="4343400"/>
          </a:xfrm>
          <a:prstGeom prst="roundRect">
            <a:avLst>
              <a:gd name="adj" fmla="val 1684"/>
            </a:avLst>
          </a:prstGeom>
          <a:solidFill>
            <a:srgbClr val="F7F7F7"/>
          </a:solidFill>
          <a:ln/>
        </p:spPr>
      </p:sp>
      <p:sp>
        <p:nvSpPr>
          <p:cNvPr id="8" name="Text 5"/>
          <p:cNvSpPr/>
          <p:nvPr/>
        </p:nvSpPr>
        <p:spPr>
          <a:xfrm>
            <a:off x="822960" y="1965960"/>
            <a:ext cx="5029200" cy="274320"/>
          </a:xfrm>
          <a:prstGeom prst="rect">
            <a:avLst/>
          </a:prstGeom>
          <a:noFill/>
          <a:ln/>
        </p:spPr>
        <p:txBody>
          <a:bodyPr wrap="square" rtlCol="0" anchor="ctr"/>
          <a:lstStyle/>
          <a:p>
            <a:pPr marL="0" indent="0">
              <a:buNone/>
            </a:pPr>
            <a:r>
              <a:rPr lang="en-US" sz="1200" b="1" kern="0" spc="100" dirty="0">
                <a:solidFill>
                  <a:srgbClr val="DC382D"/>
                </a:solidFill>
                <a:latin typeface="Calibri" pitchFamily="34" charset="0"/>
                <a:ea typeface="Calibri" pitchFamily="34" charset="-122"/>
                <a:cs typeface="Calibri" pitchFamily="34" charset="-120"/>
              </a:rPr>
              <a:t>HOW IT WORKS</a:t>
            </a:r>
            <a:endParaRPr lang="en-US" sz="1200" dirty="0"/>
          </a:p>
        </p:txBody>
      </p:sp>
      <p:sp>
        <p:nvSpPr>
          <p:cNvPr id="9" name="Text 6"/>
          <p:cNvSpPr/>
          <p:nvPr/>
        </p:nvSpPr>
        <p:spPr>
          <a:xfrm>
            <a:off x="822960" y="2286000"/>
            <a:ext cx="5029200" cy="1554480"/>
          </a:xfrm>
          <a:prstGeom prst="rect">
            <a:avLst/>
          </a:prstGeom>
          <a:noFill/>
          <a:ln/>
        </p:spPr>
        <p:txBody>
          <a:bodyPr wrap="square" rtlCol="0" anchor="t"/>
          <a:lstStyle/>
          <a:p>
            <a:pPr marL="0" indent="0">
              <a:buNone/>
            </a:pPr>
            <a:r>
              <a:rPr lang="en-US" sz="1350" dirty="0">
                <a:solidFill>
                  <a:srgbClr val="1B1F27"/>
                </a:solidFill>
                <a:latin typeface="Calibri" pitchFamily="34" charset="0"/>
                <a:ea typeface="Calibri" pitchFamily="34" charset="-122"/>
                <a:cs typeface="Calibri" pitchFamily="34" charset="-120"/>
              </a:rPr>
              <a:t>When a user logs in, their session (user id, auth token, cart, preferences) is written to Redis instead of a single server's memory. Any server behind the load balancer can then read that session on the next request.</a:t>
            </a:r>
            <a:endParaRPr lang="en-US" sz="1350" dirty="0"/>
          </a:p>
        </p:txBody>
      </p:sp>
      <p:sp>
        <p:nvSpPr>
          <p:cNvPr id="10" name="Shape 7"/>
          <p:cNvSpPr/>
          <p:nvPr/>
        </p:nvSpPr>
        <p:spPr>
          <a:xfrm>
            <a:off x="822960" y="3886200"/>
            <a:ext cx="5029200" cy="18288"/>
          </a:xfrm>
          <a:prstGeom prst="rect">
            <a:avLst/>
          </a:prstGeom>
          <a:solidFill>
            <a:srgbClr val="E1E3E6"/>
          </a:solidFill>
          <a:ln/>
        </p:spPr>
      </p:sp>
      <p:sp>
        <p:nvSpPr>
          <p:cNvPr id="11" name="Text 8"/>
          <p:cNvSpPr/>
          <p:nvPr/>
        </p:nvSpPr>
        <p:spPr>
          <a:xfrm>
            <a:off x="822960" y="4041648"/>
            <a:ext cx="5029200" cy="274320"/>
          </a:xfrm>
          <a:prstGeom prst="rect">
            <a:avLst/>
          </a:prstGeom>
          <a:noFill/>
          <a:ln/>
        </p:spPr>
        <p:txBody>
          <a:bodyPr wrap="square" rtlCol="0" anchor="ctr"/>
          <a:lstStyle/>
          <a:p>
            <a:pPr marL="0" indent="0">
              <a:buNone/>
            </a:pPr>
            <a:r>
              <a:rPr lang="en-US" sz="1200" b="1" kern="0" spc="100" dirty="0">
                <a:solidFill>
                  <a:srgbClr val="DC382D"/>
                </a:solidFill>
                <a:latin typeface="Calibri" pitchFamily="34" charset="0"/>
                <a:ea typeface="Calibri" pitchFamily="34" charset="-122"/>
                <a:cs typeface="Calibri" pitchFamily="34" charset="-120"/>
              </a:rPr>
              <a:t>WHY IT'S FAST / USEFUL</a:t>
            </a:r>
            <a:endParaRPr lang="en-US" sz="1200" dirty="0"/>
          </a:p>
        </p:txBody>
      </p:sp>
      <p:sp>
        <p:nvSpPr>
          <p:cNvPr id="12" name="Shape 9"/>
          <p:cNvSpPr/>
          <p:nvPr/>
        </p:nvSpPr>
        <p:spPr>
          <a:xfrm>
            <a:off x="822960" y="4416552"/>
            <a:ext cx="109728" cy="109728"/>
          </a:xfrm>
          <a:prstGeom prst="ellipse">
            <a:avLst/>
          </a:prstGeom>
          <a:solidFill>
            <a:srgbClr val="F2A900"/>
          </a:solidFill>
          <a:ln/>
        </p:spPr>
      </p:sp>
      <p:sp>
        <p:nvSpPr>
          <p:cNvPr id="13" name="Text 10"/>
          <p:cNvSpPr/>
          <p:nvPr/>
        </p:nvSpPr>
        <p:spPr>
          <a:xfrm>
            <a:off x="1051560" y="4297680"/>
            <a:ext cx="4800600" cy="365760"/>
          </a:xfrm>
          <a:prstGeom prst="rect">
            <a:avLst/>
          </a:prstGeom>
          <a:noFill/>
          <a:ln/>
        </p:spPr>
        <p:txBody>
          <a:bodyPr wrap="square" rtlCol="0" anchor="ctr"/>
          <a:lstStyle/>
          <a:p>
            <a:pPr marL="0" indent="0">
              <a:buNone/>
            </a:pPr>
            <a:r>
              <a:rPr lang="en-US" sz="1250" dirty="0">
                <a:solidFill>
                  <a:srgbClr val="5B6270"/>
                </a:solidFill>
                <a:latin typeface="Calibri" pitchFamily="34" charset="0"/>
                <a:ea typeface="Calibri" pitchFamily="34" charset="-122"/>
                <a:cs typeface="Calibri" pitchFamily="34" charset="-120"/>
              </a:rPr>
              <a:t>Enables stateless, horizontally-scaled app servers</a:t>
            </a:r>
            <a:endParaRPr lang="en-US" sz="1250" dirty="0"/>
          </a:p>
        </p:txBody>
      </p:sp>
      <p:sp>
        <p:nvSpPr>
          <p:cNvPr id="14" name="Shape 11"/>
          <p:cNvSpPr/>
          <p:nvPr/>
        </p:nvSpPr>
        <p:spPr>
          <a:xfrm>
            <a:off x="822960" y="4800600"/>
            <a:ext cx="109728" cy="109728"/>
          </a:xfrm>
          <a:prstGeom prst="ellipse">
            <a:avLst/>
          </a:prstGeom>
          <a:solidFill>
            <a:srgbClr val="F2A900"/>
          </a:solidFill>
          <a:ln/>
        </p:spPr>
      </p:sp>
      <p:sp>
        <p:nvSpPr>
          <p:cNvPr id="15" name="Text 12"/>
          <p:cNvSpPr/>
          <p:nvPr/>
        </p:nvSpPr>
        <p:spPr>
          <a:xfrm>
            <a:off x="1051560" y="4681728"/>
            <a:ext cx="4800600" cy="365760"/>
          </a:xfrm>
          <a:prstGeom prst="rect">
            <a:avLst/>
          </a:prstGeom>
          <a:noFill/>
          <a:ln/>
        </p:spPr>
        <p:txBody>
          <a:bodyPr wrap="square" rtlCol="0" anchor="ctr"/>
          <a:lstStyle/>
          <a:p>
            <a:pPr marL="0" indent="0">
              <a:buNone/>
            </a:pPr>
            <a:r>
              <a:rPr lang="en-US" sz="1250" dirty="0">
                <a:solidFill>
                  <a:srgbClr val="5B6270"/>
                </a:solidFill>
                <a:latin typeface="Calibri" pitchFamily="34" charset="0"/>
                <a:ea typeface="Calibri" pitchFamily="34" charset="-122"/>
                <a:cs typeface="Calibri" pitchFamily="34" charset="-120"/>
              </a:rPr>
              <a:t>Survives app server restarts or deploys</a:t>
            </a:r>
            <a:endParaRPr lang="en-US" sz="1250" dirty="0"/>
          </a:p>
        </p:txBody>
      </p:sp>
      <p:sp>
        <p:nvSpPr>
          <p:cNvPr id="16" name="Shape 13"/>
          <p:cNvSpPr/>
          <p:nvPr/>
        </p:nvSpPr>
        <p:spPr>
          <a:xfrm>
            <a:off x="822960" y="5184648"/>
            <a:ext cx="109728" cy="109728"/>
          </a:xfrm>
          <a:prstGeom prst="ellipse">
            <a:avLst/>
          </a:prstGeom>
          <a:solidFill>
            <a:srgbClr val="F2A900"/>
          </a:solidFill>
          <a:ln/>
        </p:spPr>
      </p:sp>
      <p:sp>
        <p:nvSpPr>
          <p:cNvPr id="17" name="Text 14"/>
          <p:cNvSpPr/>
          <p:nvPr/>
        </p:nvSpPr>
        <p:spPr>
          <a:xfrm>
            <a:off x="1051560" y="5065776"/>
            <a:ext cx="4800600" cy="365760"/>
          </a:xfrm>
          <a:prstGeom prst="rect">
            <a:avLst/>
          </a:prstGeom>
          <a:noFill/>
          <a:ln/>
        </p:spPr>
        <p:txBody>
          <a:bodyPr wrap="square" rtlCol="0" anchor="ctr"/>
          <a:lstStyle/>
          <a:p>
            <a:pPr marL="0" indent="0">
              <a:buNone/>
            </a:pPr>
            <a:r>
              <a:rPr lang="en-US" sz="1250" dirty="0">
                <a:solidFill>
                  <a:srgbClr val="5B6270"/>
                </a:solidFill>
                <a:latin typeface="Calibri" pitchFamily="34" charset="0"/>
                <a:ea typeface="Calibri" pitchFamily="34" charset="-122"/>
                <a:cs typeface="Calibri" pitchFamily="34" charset="-120"/>
              </a:rPr>
              <a:t>Built-in TTL matches session expiry rules</a:t>
            </a:r>
            <a:endParaRPr lang="en-US" sz="1250" dirty="0"/>
          </a:p>
        </p:txBody>
      </p:sp>
      <p:sp>
        <p:nvSpPr>
          <p:cNvPr id="18" name="Shape 15"/>
          <p:cNvSpPr/>
          <p:nvPr/>
        </p:nvSpPr>
        <p:spPr>
          <a:xfrm>
            <a:off x="6355080" y="1783080"/>
            <a:ext cx="5257800" cy="4343400"/>
          </a:xfrm>
          <a:prstGeom prst="roundRect">
            <a:avLst>
              <a:gd name="adj" fmla="val 1684"/>
            </a:avLst>
          </a:prstGeom>
          <a:solidFill>
            <a:srgbClr val="1B1F27"/>
          </a:solidFill>
          <a:ln/>
        </p:spPr>
      </p:sp>
      <p:sp>
        <p:nvSpPr>
          <p:cNvPr id="19" name="Text 16"/>
          <p:cNvSpPr/>
          <p:nvPr/>
        </p:nvSpPr>
        <p:spPr>
          <a:xfrm>
            <a:off x="6629400" y="1965960"/>
            <a:ext cx="4754880" cy="274320"/>
          </a:xfrm>
          <a:prstGeom prst="rect">
            <a:avLst/>
          </a:prstGeom>
          <a:noFill/>
          <a:ln/>
        </p:spPr>
        <p:txBody>
          <a:bodyPr wrap="square" rtlCol="0" anchor="ctr"/>
          <a:lstStyle/>
          <a:p>
            <a:pPr marL="0" indent="0">
              <a:buNone/>
            </a:pPr>
            <a:r>
              <a:rPr lang="en-US" sz="1200" b="1" kern="0" spc="100" dirty="0">
                <a:solidFill>
                  <a:srgbClr val="F2A900"/>
                </a:solidFill>
                <a:latin typeface="Calibri" pitchFamily="34" charset="0"/>
                <a:ea typeface="Calibri" pitchFamily="34" charset="-122"/>
                <a:cs typeface="Calibri" pitchFamily="34" charset="-120"/>
              </a:rPr>
              <a:t>REAL-WORLD USAGE</a:t>
            </a:r>
            <a:endParaRPr lang="en-US" sz="1200" dirty="0"/>
          </a:p>
        </p:txBody>
      </p:sp>
      <p:sp>
        <p:nvSpPr>
          <p:cNvPr id="20" name="Text 17"/>
          <p:cNvSpPr/>
          <p:nvPr/>
        </p:nvSpPr>
        <p:spPr>
          <a:xfrm>
            <a:off x="6629400" y="2286000"/>
            <a:ext cx="4754880" cy="502920"/>
          </a:xfrm>
          <a:prstGeom prst="rect">
            <a:avLst/>
          </a:prstGeom>
          <a:noFill/>
          <a:ln/>
        </p:spPr>
        <p:txBody>
          <a:bodyPr wrap="square"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Keeping users logged in behind a load balancer</a:t>
            </a:r>
            <a:endParaRPr lang="en-US" sz="1900" dirty="0"/>
          </a:p>
        </p:txBody>
      </p:sp>
      <p:sp>
        <p:nvSpPr>
          <p:cNvPr id="21" name="Text 18"/>
          <p:cNvSpPr/>
          <p:nvPr/>
        </p:nvSpPr>
        <p:spPr>
          <a:xfrm>
            <a:off x="6629400" y="2880360"/>
            <a:ext cx="4754880" cy="3017520"/>
          </a:xfrm>
          <a:prstGeom prst="rect">
            <a:avLst/>
          </a:prstGeom>
          <a:noFill/>
          <a:ln/>
        </p:spPr>
        <p:txBody>
          <a:bodyPr wrap="square" rtlCol="0" anchor="t"/>
          <a:lstStyle/>
          <a:p>
            <a:pPr marL="0" indent="0">
              <a:buNone/>
            </a:pPr>
            <a:r>
              <a:rPr lang="en-US" sz="1300" dirty="0">
                <a:solidFill>
                  <a:srgbClr val="C9CDD3"/>
                </a:solidFill>
                <a:latin typeface="Calibri" pitchFamily="34" charset="0"/>
                <a:ea typeface="Calibri" pitchFamily="34" charset="-122"/>
                <a:cs typeface="Calibri" pitchFamily="34" charset="-120"/>
              </a:rPr>
              <a:t>E-commerce sites running dozens of web server instances store shopping-cart and login sessions in Redis, so a shopper can be routed to any server on every request without ever being logged out.</a:t>
            </a:r>
            <a:endParaRPr lang="en-US" sz="1300" dirty="0"/>
          </a:p>
        </p:txBody>
      </p:sp>
      <p:sp>
        <p:nvSpPr>
          <p:cNvPr id="22" name="Text 19"/>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5B6270"/>
                </a:solidFill>
                <a:latin typeface="Calibri" pitchFamily="34" charset="0"/>
                <a:ea typeface="Calibri" pitchFamily="34" charset="-122"/>
                <a:cs typeface="Calibri" pitchFamily="34" charset="-120"/>
              </a:rPr>
              <a:t>Capabilities of Redis</a:t>
            </a:r>
            <a:endParaRPr lang="en-US" sz="1000" dirty="0"/>
          </a:p>
        </p:txBody>
      </p:sp>
      <p:sp>
        <p:nvSpPr>
          <p:cNvPr id="23" name="Text 20"/>
          <p:cNvSpPr/>
          <p:nvPr/>
        </p:nvSpPr>
        <p:spPr>
          <a:xfrm>
            <a:off x="11247120" y="6537960"/>
            <a:ext cx="457200" cy="274320"/>
          </a:xfrm>
          <a:prstGeom prst="rect">
            <a:avLst/>
          </a:prstGeom>
          <a:noFill/>
          <a:ln/>
        </p:spPr>
        <p:txBody>
          <a:bodyPr wrap="square"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DC382D"/>
          </a:solidFill>
          <a:ln/>
        </p:spPr>
      </p:sp>
      <p:pic>
        <p:nvPicPr>
          <p:cNvPr id="3" name="Image 0" descr="icons/pubsub_red.png"/>
          <p:cNvPicPr>
            <a:picLocks noChangeAspect="1"/>
          </p:cNvPicPr>
          <p:nvPr/>
        </p:nvPicPr>
        <p:blipFill>
          <a:blip r:embed="rId3"/>
          <a:stretch>
            <a:fillRect/>
          </a:stretch>
        </p:blipFill>
        <p:spPr>
          <a:xfrm>
            <a:off x="694944" y="649224"/>
            <a:ext cx="274320" cy="274320"/>
          </a:xfrm>
          <a:prstGeom prst="rect">
            <a:avLst/>
          </a:prstGeom>
        </p:spPr>
      </p:pic>
      <p:sp>
        <p:nvSpPr>
          <p:cNvPr id="4" name="Text 1"/>
          <p:cNvSpPr/>
          <p:nvPr/>
        </p:nvSpPr>
        <p:spPr>
          <a:xfrm>
            <a:off x="1280160" y="457200"/>
            <a:ext cx="7315200" cy="274320"/>
          </a:xfrm>
          <a:prstGeom prst="rect">
            <a:avLst/>
          </a:prstGeom>
          <a:noFill/>
          <a:ln/>
        </p:spPr>
        <p:txBody>
          <a:bodyPr wrap="square" rtlCol="0" anchor="ctr"/>
          <a:lstStyle/>
          <a:p>
            <a:pPr marL="0" indent="0">
              <a:buNone/>
            </a:pPr>
            <a:r>
              <a:rPr lang="en-US" sz="1300" b="1" kern="0" spc="200" dirty="0">
                <a:solidFill>
                  <a:srgbClr val="DC382D"/>
                </a:solidFill>
                <a:latin typeface="Calibri" pitchFamily="34" charset="0"/>
                <a:ea typeface="Calibri" pitchFamily="34" charset="-122"/>
                <a:cs typeface="Calibri" pitchFamily="34" charset="-120"/>
              </a:rPr>
              <a:t>CAPABILITY · 03</a:t>
            </a:r>
            <a:endParaRPr lang="en-US" sz="1300" dirty="0"/>
          </a:p>
        </p:txBody>
      </p:sp>
      <p:sp>
        <p:nvSpPr>
          <p:cNvPr id="5" name="Text 2"/>
          <p:cNvSpPr/>
          <p:nvPr/>
        </p:nvSpPr>
        <p:spPr>
          <a:xfrm>
            <a:off x="1280160" y="713232"/>
            <a:ext cx="10241280" cy="548640"/>
          </a:xfrm>
          <a:prstGeom prst="rect">
            <a:avLst/>
          </a:prstGeom>
          <a:noFill/>
          <a:ln/>
        </p:spPr>
        <p:txBody>
          <a:bodyPr wrap="square" rtlCol="0" anchor="ctr"/>
          <a:lstStyle/>
          <a:p>
            <a:pPr marL="0" indent="0">
              <a:buNone/>
            </a:pPr>
            <a:r>
              <a:rPr lang="en-US" sz="2800" b="1" dirty="0">
                <a:solidFill>
                  <a:srgbClr val="1B1F27"/>
                </a:solidFill>
                <a:latin typeface="Cambria" pitchFamily="34" charset="0"/>
                <a:ea typeface="Cambria" pitchFamily="34" charset="-122"/>
                <a:cs typeface="Cambria" pitchFamily="34" charset="-120"/>
              </a:rPr>
              <a:t>Pub / Sub Messaging</a:t>
            </a:r>
            <a:endParaRPr lang="en-US" sz="2800" dirty="0"/>
          </a:p>
        </p:txBody>
      </p:sp>
      <p:sp>
        <p:nvSpPr>
          <p:cNvPr id="6" name="Text 3"/>
          <p:cNvSpPr/>
          <p:nvPr/>
        </p:nvSpPr>
        <p:spPr>
          <a:xfrm>
            <a:off x="1280160" y="1207008"/>
            <a:ext cx="10058400" cy="320040"/>
          </a:xfrm>
          <a:prstGeom prst="rect">
            <a:avLst/>
          </a:prstGeom>
          <a:noFill/>
          <a:ln/>
        </p:spPr>
        <p:txBody>
          <a:bodyPr wrap="square" rtlCol="0" anchor="ctr"/>
          <a:lstStyle/>
          <a:p>
            <a:pPr marL="0" indent="0">
              <a:buNone/>
            </a:pPr>
            <a:r>
              <a:rPr lang="en-US" sz="1350" i="1" dirty="0">
                <a:solidFill>
                  <a:srgbClr val="5B6270"/>
                </a:solidFill>
                <a:latin typeface="Calibri" pitchFamily="34" charset="0"/>
                <a:ea typeface="Calibri" pitchFamily="34" charset="-122"/>
                <a:cs typeface="Calibri" pitchFamily="34" charset="-120"/>
              </a:rPr>
              <a:t>Broadcast real-time events to many subscribers instantly.</a:t>
            </a:r>
            <a:endParaRPr lang="en-US" sz="1350" dirty="0"/>
          </a:p>
        </p:txBody>
      </p:sp>
      <p:sp>
        <p:nvSpPr>
          <p:cNvPr id="7" name="Shape 4"/>
          <p:cNvSpPr/>
          <p:nvPr/>
        </p:nvSpPr>
        <p:spPr>
          <a:xfrm>
            <a:off x="548640" y="1783080"/>
            <a:ext cx="5577840" cy="4343400"/>
          </a:xfrm>
          <a:prstGeom prst="roundRect">
            <a:avLst>
              <a:gd name="adj" fmla="val 1684"/>
            </a:avLst>
          </a:prstGeom>
          <a:solidFill>
            <a:srgbClr val="F7F7F7"/>
          </a:solidFill>
          <a:ln/>
        </p:spPr>
      </p:sp>
      <p:sp>
        <p:nvSpPr>
          <p:cNvPr id="8" name="Text 5"/>
          <p:cNvSpPr/>
          <p:nvPr/>
        </p:nvSpPr>
        <p:spPr>
          <a:xfrm>
            <a:off x="822960" y="1965960"/>
            <a:ext cx="5029200" cy="274320"/>
          </a:xfrm>
          <a:prstGeom prst="rect">
            <a:avLst/>
          </a:prstGeom>
          <a:noFill/>
          <a:ln/>
        </p:spPr>
        <p:txBody>
          <a:bodyPr wrap="square" rtlCol="0" anchor="ctr"/>
          <a:lstStyle/>
          <a:p>
            <a:pPr marL="0" indent="0">
              <a:buNone/>
            </a:pPr>
            <a:r>
              <a:rPr lang="en-US" sz="1200" b="1" kern="0" spc="100" dirty="0">
                <a:solidFill>
                  <a:srgbClr val="DC382D"/>
                </a:solidFill>
                <a:latin typeface="Calibri" pitchFamily="34" charset="0"/>
                <a:ea typeface="Calibri" pitchFamily="34" charset="-122"/>
                <a:cs typeface="Calibri" pitchFamily="34" charset="-120"/>
              </a:rPr>
              <a:t>HOW IT WORKS</a:t>
            </a:r>
            <a:endParaRPr lang="en-US" sz="1200" dirty="0"/>
          </a:p>
        </p:txBody>
      </p:sp>
      <p:sp>
        <p:nvSpPr>
          <p:cNvPr id="9" name="Text 6"/>
          <p:cNvSpPr/>
          <p:nvPr/>
        </p:nvSpPr>
        <p:spPr>
          <a:xfrm>
            <a:off x="822960" y="2286000"/>
            <a:ext cx="5029200" cy="1554480"/>
          </a:xfrm>
          <a:prstGeom prst="rect">
            <a:avLst/>
          </a:prstGeom>
          <a:noFill/>
          <a:ln/>
        </p:spPr>
        <p:txBody>
          <a:bodyPr wrap="square" rtlCol="0" anchor="t"/>
          <a:lstStyle/>
          <a:p>
            <a:pPr marL="0" indent="0">
              <a:buNone/>
            </a:pPr>
            <a:r>
              <a:rPr lang="en-US" sz="1350" dirty="0">
                <a:solidFill>
                  <a:srgbClr val="1B1F27"/>
                </a:solidFill>
                <a:latin typeface="Calibri" pitchFamily="34" charset="0"/>
                <a:ea typeface="Calibri" pitchFamily="34" charset="-122"/>
                <a:cs typeface="Calibri" pitchFamily="34" charset="-120"/>
              </a:rPr>
              <a:t>A publisher sends a message to a named channel. Every client currently subscribed to that channel receives it immediately. Redis doesn't store the message — it's fire-and-forget, built for live updates.</a:t>
            </a:r>
            <a:endParaRPr lang="en-US" sz="1350" dirty="0"/>
          </a:p>
        </p:txBody>
      </p:sp>
      <p:sp>
        <p:nvSpPr>
          <p:cNvPr id="10" name="Shape 7"/>
          <p:cNvSpPr/>
          <p:nvPr/>
        </p:nvSpPr>
        <p:spPr>
          <a:xfrm>
            <a:off x="822960" y="3886200"/>
            <a:ext cx="5029200" cy="18288"/>
          </a:xfrm>
          <a:prstGeom prst="rect">
            <a:avLst/>
          </a:prstGeom>
          <a:solidFill>
            <a:srgbClr val="E1E3E6"/>
          </a:solidFill>
          <a:ln/>
        </p:spPr>
      </p:sp>
      <p:sp>
        <p:nvSpPr>
          <p:cNvPr id="11" name="Text 8"/>
          <p:cNvSpPr/>
          <p:nvPr/>
        </p:nvSpPr>
        <p:spPr>
          <a:xfrm>
            <a:off x="822960" y="4041648"/>
            <a:ext cx="5029200" cy="274320"/>
          </a:xfrm>
          <a:prstGeom prst="rect">
            <a:avLst/>
          </a:prstGeom>
          <a:noFill/>
          <a:ln/>
        </p:spPr>
        <p:txBody>
          <a:bodyPr wrap="square" rtlCol="0" anchor="ctr"/>
          <a:lstStyle/>
          <a:p>
            <a:pPr marL="0" indent="0">
              <a:buNone/>
            </a:pPr>
            <a:r>
              <a:rPr lang="en-US" sz="1200" b="1" kern="0" spc="100" dirty="0">
                <a:solidFill>
                  <a:srgbClr val="DC382D"/>
                </a:solidFill>
                <a:latin typeface="Calibri" pitchFamily="34" charset="0"/>
                <a:ea typeface="Calibri" pitchFamily="34" charset="-122"/>
                <a:cs typeface="Calibri" pitchFamily="34" charset="-120"/>
              </a:rPr>
              <a:t>WHY IT'S FAST / USEFUL</a:t>
            </a:r>
            <a:endParaRPr lang="en-US" sz="1200" dirty="0"/>
          </a:p>
        </p:txBody>
      </p:sp>
      <p:sp>
        <p:nvSpPr>
          <p:cNvPr id="12" name="Shape 9"/>
          <p:cNvSpPr/>
          <p:nvPr/>
        </p:nvSpPr>
        <p:spPr>
          <a:xfrm>
            <a:off x="822960" y="4416552"/>
            <a:ext cx="109728" cy="109728"/>
          </a:xfrm>
          <a:prstGeom prst="ellipse">
            <a:avLst/>
          </a:prstGeom>
          <a:solidFill>
            <a:srgbClr val="F2A900"/>
          </a:solidFill>
          <a:ln/>
        </p:spPr>
      </p:sp>
      <p:sp>
        <p:nvSpPr>
          <p:cNvPr id="13" name="Text 10"/>
          <p:cNvSpPr/>
          <p:nvPr/>
        </p:nvSpPr>
        <p:spPr>
          <a:xfrm>
            <a:off x="1051560" y="4297680"/>
            <a:ext cx="4800600" cy="365760"/>
          </a:xfrm>
          <a:prstGeom prst="rect">
            <a:avLst/>
          </a:prstGeom>
          <a:noFill/>
          <a:ln/>
        </p:spPr>
        <p:txBody>
          <a:bodyPr wrap="square" rtlCol="0" anchor="ctr"/>
          <a:lstStyle/>
          <a:p>
            <a:pPr marL="0" indent="0">
              <a:buNone/>
            </a:pPr>
            <a:r>
              <a:rPr lang="en-US" sz="1250" dirty="0">
                <a:solidFill>
                  <a:srgbClr val="5B6270"/>
                </a:solidFill>
                <a:latin typeface="Calibri" pitchFamily="34" charset="0"/>
                <a:ea typeface="Calibri" pitchFamily="34" charset="-122"/>
                <a:cs typeface="Calibri" pitchFamily="34" charset="-120"/>
              </a:rPr>
              <a:t>Millisecond fan-out to many subscribers at once</a:t>
            </a:r>
            <a:endParaRPr lang="en-US" sz="1250" dirty="0"/>
          </a:p>
        </p:txBody>
      </p:sp>
      <p:sp>
        <p:nvSpPr>
          <p:cNvPr id="14" name="Shape 11"/>
          <p:cNvSpPr/>
          <p:nvPr/>
        </p:nvSpPr>
        <p:spPr>
          <a:xfrm>
            <a:off x="822960" y="4800600"/>
            <a:ext cx="109728" cy="109728"/>
          </a:xfrm>
          <a:prstGeom prst="ellipse">
            <a:avLst/>
          </a:prstGeom>
          <a:solidFill>
            <a:srgbClr val="F2A900"/>
          </a:solidFill>
          <a:ln/>
        </p:spPr>
      </p:sp>
      <p:sp>
        <p:nvSpPr>
          <p:cNvPr id="15" name="Text 12"/>
          <p:cNvSpPr/>
          <p:nvPr/>
        </p:nvSpPr>
        <p:spPr>
          <a:xfrm>
            <a:off x="1051560" y="4681728"/>
            <a:ext cx="4800600" cy="365760"/>
          </a:xfrm>
          <a:prstGeom prst="rect">
            <a:avLst/>
          </a:prstGeom>
          <a:noFill/>
          <a:ln/>
        </p:spPr>
        <p:txBody>
          <a:bodyPr wrap="square" rtlCol="0" anchor="ctr"/>
          <a:lstStyle/>
          <a:p>
            <a:pPr marL="0" indent="0">
              <a:buNone/>
            </a:pPr>
            <a:r>
              <a:rPr lang="en-US" sz="1250" dirty="0">
                <a:solidFill>
                  <a:srgbClr val="5B6270"/>
                </a:solidFill>
                <a:latin typeface="Calibri" pitchFamily="34" charset="0"/>
                <a:ea typeface="Calibri" pitchFamily="34" charset="-122"/>
                <a:cs typeface="Calibri" pitchFamily="34" charset="-120"/>
              </a:rPr>
              <a:t>Decouples producers from consumers</a:t>
            </a:r>
            <a:endParaRPr lang="en-US" sz="1250" dirty="0"/>
          </a:p>
        </p:txBody>
      </p:sp>
      <p:sp>
        <p:nvSpPr>
          <p:cNvPr id="16" name="Shape 13"/>
          <p:cNvSpPr/>
          <p:nvPr/>
        </p:nvSpPr>
        <p:spPr>
          <a:xfrm>
            <a:off x="822960" y="5184648"/>
            <a:ext cx="109728" cy="109728"/>
          </a:xfrm>
          <a:prstGeom prst="ellipse">
            <a:avLst/>
          </a:prstGeom>
          <a:solidFill>
            <a:srgbClr val="F2A900"/>
          </a:solidFill>
          <a:ln/>
        </p:spPr>
      </p:sp>
      <p:sp>
        <p:nvSpPr>
          <p:cNvPr id="17" name="Text 14"/>
          <p:cNvSpPr/>
          <p:nvPr/>
        </p:nvSpPr>
        <p:spPr>
          <a:xfrm>
            <a:off x="1051560" y="5065776"/>
            <a:ext cx="4800600" cy="365760"/>
          </a:xfrm>
          <a:prstGeom prst="rect">
            <a:avLst/>
          </a:prstGeom>
          <a:noFill/>
          <a:ln/>
        </p:spPr>
        <p:txBody>
          <a:bodyPr wrap="square" rtlCol="0" anchor="ctr"/>
          <a:lstStyle/>
          <a:p>
            <a:pPr marL="0" indent="0">
              <a:buNone/>
            </a:pPr>
            <a:r>
              <a:rPr lang="en-US" sz="1250" dirty="0">
                <a:solidFill>
                  <a:srgbClr val="5B6270"/>
                </a:solidFill>
                <a:latin typeface="Calibri" pitchFamily="34" charset="0"/>
                <a:ea typeface="Calibri" pitchFamily="34" charset="-122"/>
                <a:cs typeface="Calibri" pitchFamily="34" charset="-120"/>
              </a:rPr>
              <a:t>Simple channel model — no broker setup required</a:t>
            </a:r>
            <a:endParaRPr lang="en-US" sz="1250" dirty="0"/>
          </a:p>
        </p:txBody>
      </p:sp>
      <p:sp>
        <p:nvSpPr>
          <p:cNvPr id="18" name="Shape 15"/>
          <p:cNvSpPr/>
          <p:nvPr/>
        </p:nvSpPr>
        <p:spPr>
          <a:xfrm>
            <a:off x="6355080" y="1783080"/>
            <a:ext cx="5257800" cy="4343400"/>
          </a:xfrm>
          <a:prstGeom prst="roundRect">
            <a:avLst>
              <a:gd name="adj" fmla="val 1684"/>
            </a:avLst>
          </a:prstGeom>
          <a:solidFill>
            <a:srgbClr val="1B1F27"/>
          </a:solidFill>
          <a:ln/>
        </p:spPr>
      </p:sp>
      <p:sp>
        <p:nvSpPr>
          <p:cNvPr id="19" name="Text 16"/>
          <p:cNvSpPr/>
          <p:nvPr/>
        </p:nvSpPr>
        <p:spPr>
          <a:xfrm>
            <a:off x="6629400" y="1965960"/>
            <a:ext cx="4754880" cy="274320"/>
          </a:xfrm>
          <a:prstGeom prst="rect">
            <a:avLst/>
          </a:prstGeom>
          <a:noFill/>
          <a:ln/>
        </p:spPr>
        <p:txBody>
          <a:bodyPr wrap="square" rtlCol="0" anchor="ctr"/>
          <a:lstStyle/>
          <a:p>
            <a:pPr marL="0" indent="0">
              <a:buNone/>
            </a:pPr>
            <a:r>
              <a:rPr lang="en-US" sz="1200" b="1" kern="0" spc="100" dirty="0">
                <a:solidFill>
                  <a:srgbClr val="F2A900"/>
                </a:solidFill>
                <a:latin typeface="Calibri" pitchFamily="34" charset="0"/>
                <a:ea typeface="Calibri" pitchFamily="34" charset="-122"/>
                <a:cs typeface="Calibri" pitchFamily="34" charset="-120"/>
              </a:rPr>
              <a:t>REAL-WORLD USAGE</a:t>
            </a:r>
            <a:endParaRPr lang="en-US" sz="1200" dirty="0"/>
          </a:p>
        </p:txBody>
      </p:sp>
      <p:sp>
        <p:nvSpPr>
          <p:cNvPr id="20" name="Text 17"/>
          <p:cNvSpPr/>
          <p:nvPr/>
        </p:nvSpPr>
        <p:spPr>
          <a:xfrm>
            <a:off x="6629400" y="2286000"/>
            <a:ext cx="4754880" cy="502920"/>
          </a:xfrm>
          <a:prstGeom prst="rect">
            <a:avLst/>
          </a:prstGeom>
          <a:noFill/>
          <a:ln/>
        </p:spPr>
        <p:txBody>
          <a:bodyPr wrap="square"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Live notifications &amp; chat</a:t>
            </a:r>
            <a:endParaRPr lang="en-US" sz="1900" dirty="0"/>
          </a:p>
        </p:txBody>
      </p:sp>
      <p:sp>
        <p:nvSpPr>
          <p:cNvPr id="21" name="Text 18"/>
          <p:cNvSpPr/>
          <p:nvPr/>
        </p:nvSpPr>
        <p:spPr>
          <a:xfrm>
            <a:off x="6629400" y="2880360"/>
            <a:ext cx="4754880" cy="3017520"/>
          </a:xfrm>
          <a:prstGeom prst="rect">
            <a:avLst/>
          </a:prstGeom>
          <a:noFill/>
          <a:ln/>
        </p:spPr>
        <p:txBody>
          <a:bodyPr wrap="square" rtlCol="0" anchor="t"/>
          <a:lstStyle/>
          <a:p>
            <a:pPr marL="0" indent="0">
              <a:buNone/>
            </a:pPr>
            <a:r>
              <a:rPr lang="en-US" sz="1300" dirty="0">
                <a:solidFill>
                  <a:srgbClr val="C9CDD3"/>
                </a:solidFill>
                <a:latin typeface="Calibri" pitchFamily="34" charset="0"/>
                <a:ea typeface="Calibri" pitchFamily="34" charset="-122"/>
                <a:cs typeface="Calibri" pitchFamily="34" charset="-120"/>
              </a:rPr>
              <a:t>Chat applications and live-score apps publish every new message or score update to a channel; every connected user's browser session, subscribed via WebSocket, receives the update the instant it happens.</a:t>
            </a:r>
            <a:endParaRPr lang="en-US" sz="1300" dirty="0"/>
          </a:p>
        </p:txBody>
      </p:sp>
      <p:sp>
        <p:nvSpPr>
          <p:cNvPr id="22" name="Text 19"/>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5B6270"/>
                </a:solidFill>
                <a:latin typeface="Calibri" pitchFamily="34" charset="0"/>
                <a:ea typeface="Calibri" pitchFamily="34" charset="-122"/>
                <a:cs typeface="Calibri" pitchFamily="34" charset="-120"/>
              </a:rPr>
              <a:t>Capabilities of Redis</a:t>
            </a:r>
            <a:endParaRPr lang="en-US" sz="1000" dirty="0"/>
          </a:p>
        </p:txBody>
      </p:sp>
      <p:sp>
        <p:nvSpPr>
          <p:cNvPr id="23" name="Text 20"/>
          <p:cNvSpPr/>
          <p:nvPr/>
        </p:nvSpPr>
        <p:spPr>
          <a:xfrm>
            <a:off x="11247120" y="6537960"/>
            <a:ext cx="457200" cy="274320"/>
          </a:xfrm>
          <a:prstGeom prst="rect">
            <a:avLst/>
          </a:prstGeom>
          <a:noFill/>
          <a:ln/>
        </p:spPr>
        <p:txBody>
          <a:bodyPr wrap="square"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DC382D"/>
          </a:solidFill>
          <a:ln/>
        </p:spPr>
      </p:sp>
      <p:pic>
        <p:nvPicPr>
          <p:cNvPr id="3" name="Image 0" descr="icons/leaderboard_red.png"/>
          <p:cNvPicPr>
            <a:picLocks noChangeAspect="1"/>
          </p:cNvPicPr>
          <p:nvPr/>
        </p:nvPicPr>
        <p:blipFill>
          <a:blip r:embed="rId3"/>
          <a:stretch>
            <a:fillRect/>
          </a:stretch>
        </p:blipFill>
        <p:spPr>
          <a:xfrm>
            <a:off x="694944" y="649224"/>
            <a:ext cx="274320" cy="274320"/>
          </a:xfrm>
          <a:prstGeom prst="rect">
            <a:avLst/>
          </a:prstGeom>
        </p:spPr>
      </p:pic>
      <p:sp>
        <p:nvSpPr>
          <p:cNvPr id="4" name="Text 1"/>
          <p:cNvSpPr/>
          <p:nvPr/>
        </p:nvSpPr>
        <p:spPr>
          <a:xfrm>
            <a:off x="1280160" y="457200"/>
            <a:ext cx="7315200" cy="274320"/>
          </a:xfrm>
          <a:prstGeom prst="rect">
            <a:avLst/>
          </a:prstGeom>
          <a:noFill/>
          <a:ln/>
        </p:spPr>
        <p:txBody>
          <a:bodyPr wrap="square" rtlCol="0" anchor="ctr"/>
          <a:lstStyle/>
          <a:p>
            <a:pPr marL="0" indent="0">
              <a:buNone/>
            </a:pPr>
            <a:r>
              <a:rPr lang="en-US" sz="1300" b="1" kern="0" spc="200" dirty="0">
                <a:solidFill>
                  <a:srgbClr val="DC382D"/>
                </a:solidFill>
                <a:latin typeface="Calibri" pitchFamily="34" charset="0"/>
                <a:ea typeface="Calibri" pitchFamily="34" charset="-122"/>
                <a:cs typeface="Calibri" pitchFamily="34" charset="-120"/>
              </a:rPr>
              <a:t>CAPABILITY · 04</a:t>
            </a:r>
            <a:endParaRPr lang="en-US" sz="1300" dirty="0"/>
          </a:p>
        </p:txBody>
      </p:sp>
      <p:sp>
        <p:nvSpPr>
          <p:cNvPr id="5" name="Text 2"/>
          <p:cNvSpPr/>
          <p:nvPr/>
        </p:nvSpPr>
        <p:spPr>
          <a:xfrm>
            <a:off x="1280160" y="713232"/>
            <a:ext cx="10241280" cy="548640"/>
          </a:xfrm>
          <a:prstGeom prst="rect">
            <a:avLst/>
          </a:prstGeom>
          <a:noFill/>
          <a:ln/>
        </p:spPr>
        <p:txBody>
          <a:bodyPr wrap="square" rtlCol="0" anchor="ctr"/>
          <a:lstStyle/>
          <a:p>
            <a:pPr marL="0" indent="0">
              <a:buNone/>
            </a:pPr>
            <a:r>
              <a:rPr lang="en-US" sz="2800" b="1" dirty="0">
                <a:solidFill>
                  <a:srgbClr val="1B1F27"/>
                </a:solidFill>
                <a:latin typeface="Cambria" pitchFamily="34" charset="0"/>
                <a:ea typeface="Cambria" pitchFamily="34" charset="-122"/>
                <a:cs typeface="Cambria" pitchFamily="34" charset="-120"/>
              </a:rPr>
              <a:t>Leaderboards (Sorted Sets)</a:t>
            </a:r>
            <a:endParaRPr lang="en-US" sz="2800" dirty="0"/>
          </a:p>
        </p:txBody>
      </p:sp>
      <p:sp>
        <p:nvSpPr>
          <p:cNvPr id="6" name="Text 3"/>
          <p:cNvSpPr/>
          <p:nvPr/>
        </p:nvSpPr>
        <p:spPr>
          <a:xfrm>
            <a:off x="1280160" y="1207008"/>
            <a:ext cx="10058400" cy="320040"/>
          </a:xfrm>
          <a:prstGeom prst="rect">
            <a:avLst/>
          </a:prstGeom>
          <a:noFill/>
          <a:ln/>
        </p:spPr>
        <p:txBody>
          <a:bodyPr wrap="square" rtlCol="0" anchor="ctr"/>
          <a:lstStyle/>
          <a:p>
            <a:pPr marL="0" indent="0">
              <a:buNone/>
            </a:pPr>
            <a:r>
              <a:rPr lang="en-US" sz="1350" i="1" dirty="0">
                <a:solidFill>
                  <a:srgbClr val="5B6270"/>
                </a:solidFill>
                <a:latin typeface="Calibri" pitchFamily="34" charset="0"/>
                <a:ea typeface="Calibri" pitchFamily="34" charset="-122"/>
                <a:cs typeface="Calibri" pitchFamily="34" charset="-120"/>
              </a:rPr>
              <a:t>Rank thousands of players or items with live updates.</a:t>
            </a:r>
            <a:endParaRPr lang="en-US" sz="1350" dirty="0"/>
          </a:p>
        </p:txBody>
      </p:sp>
      <p:sp>
        <p:nvSpPr>
          <p:cNvPr id="7" name="Shape 4"/>
          <p:cNvSpPr/>
          <p:nvPr/>
        </p:nvSpPr>
        <p:spPr>
          <a:xfrm>
            <a:off x="548640" y="1783080"/>
            <a:ext cx="5577840" cy="4343400"/>
          </a:xfrm>
          <a:prstGeom prst="roundRect">
            <a:avLst>
              <a:gd name="adj" fmla="val 1684"/>
            </a:avLst>
          </a:prstGeom>
          <a:solidFill>
            <a:srgbClr val="F7F7F7"/>
          </a:solidFill>
          <a:ln/>
        </p:spPr>
      </p:sp>
      <p:sp>
        <p:nvSpPr>
          <p:cNvPr id="8" name="Text 5"/>
          <p:cNvSpPr/>
          <p:nvPr/>
        </p:nvSpPr>
        <p:spPr>
          <a:xfrm>
            <a:off x="822960" y="1965960"/>
            <a:ext cx="5029200" cy="274320"/>
          </a:xfrm>
          <a:prstGeom prst="rect">
            <a:avLst/>
          </a:prstGeom>
          <a:noFill/>
          <a:ln/>
        </p:spPr>
        <p:txBody>
          <a:bodyPr wrap="square" rtlCol="0" anchor="ctr"/>
          <a:lstStyle/>
          <a:p>
            <a:pPr marL="0" indent="0">
              <a:buNone/>
            </a:pPr>
            <a:r>
              <a:rPr lang="en-US" sz="1200" b="1" kern="0" spc="100" dirty="0">
                <a:solidFill>
                  <a:srgbClr val="DC382D"/>
                </a:solidFill>
                <a:latin typeface="Calibri" pitchFamily="34" charset="0"/>
                <a:ea typeface="Calibri" pitchFamily="34" charset="-122"/>
                <a:cs typeface="Calibri" pitchFamily="34" charset="-120"/>
              </a:rPr>
              <a:t>HOW IT WORKS</a:t>
            </a:r>
            <a:endParaRPr lang="en-US" sz="1200" dirty="0"/>
          </a:p>
        </p:txBody>
      </p:sp>
      <p:sp>
        <p:nvSpPr>
          <p:cNvPr id="9" name="Text 6"/>
          <p:cNvSpPr/>
          <p:nvPr/>
        </p:nvSpPr>
        <p:spPr>
          <a:xfrm>
            <a:off x="822960" y="2286000"/>
            <a:ext cx="5029200" cy="1554480"/>
          </a:xfrm>
          <a:prstGeom prst="rect">
            <a:avLst/>
          </a:prstGeom>
          <a:noFill/>
          <a:ln/>
        </p:spPr>
        <p:txBody>
          <a:bodyPr wrap="square" rtlCol="0" anchor="t"/>
          <a:lstStyle/>
          <a:p>
            <a:pPr marL="0" indent="0">
              <a:buNone/>
            </a:pPr>
            <a:r>
              <a:rPr lang="en-US" sz="1350" dirty="0">
                <a:solidFill>
                  <a:srgbClr val="1B1F27"/>
                </a:solidFill>
                <a:latin typeface="Calibri" pitchFamily="34" charset="0"/>
                <a:ea typeface="Calibri" pitchFamily="34" charset="-122"/>
                <a:cs typeface="Calibri" pitchFamily="34" charset="-120"/>
              </a:rPr>
              <a:t>A Sorted Set stores each member once with a numeric score, always kept in sorted order. Redis can return “top 10”, a player's exact rank, or everyone within a score range — in a single, fast command.</a:t>
            </a:r>
            <a:endParaRPr lang="en-US" sz="1350" dirty="0"/>
          </a:p>
        </p:txBody>
      </p:sp>
      <p:sp>
        <p:nvSpPr>
          <p:cNvPr id="10" name="Shape 7"/>
          <p:cNvSpPr/>
          <p:nvPr/>
        </p:nvSpPr>
        <p:spPr>
          <a:xfrm>
            <a:off x="822960" y="3886200"/>
            <a:ext cx="5029200" cy="18288"/>
          </a:xfrm>
          <a:prstGeom prst="rect">
            <a:avLst/>
          </a:prstGeom>
          <a:solidFill>
            <a:srgbClr val="E1E3E6"/>
          </a:solidFill>
          <a:ln/>
        </p:spPr>
      </p:sp>
      <p:sp>
        <p:nvSpPr>
          <p:cNvPr id="11" name="Text 8"/>
          <p:cNvSpPr/>
          <p:nvPr/>
        </p:nvSpPr>
        <p:spPr>
          <a:xfrm>
            <a:off x="822960" y="4041648"/>
            <a:ext cx="5029200" cy="274320"/>
          </a:xfrm>
          <a:prstGeom prst="rect">
            <a:avLst/>
          </a:prstGeom>
          <a:noFill/>
          <a:ln/>
        </p:spPr>
        <p:txBody>
          <a:bodyPr wrap="square" rtlCol="0" anchor="ctr"/>
          <a:lstStyle/>
          <a:p>
            <a:pPr marL="0" indent="0">
              <a:buNone/>
            </a:pPr>
            <a:r>
              <a:rPr lang="en-US" sz="1200" b="1" kern="0" spc="100" dirty="0">
                <a:solidFill>
                  <a:srgbClr val="DC382D"/>
                </a:solidFill>
                <a:latin typeface="Calibri" pitchFamily="34" charset="0"/>
                <a:ea typeface="Calibri" pitchFamily="34" charset="-122"/>
                <a:cs typeface="Calibri" pitchFamily="34" charset="-120"/>
              </a:rPr>
              <a:t>WHY IT'S FAST / USEFUL</a:t>
            </a:r>
            <a:endParaRPr lang="en-US" sz="1200" dirty="0"/>
          </a:p>
        </p:txBody>
      </p:sp>
      <p:sp>
        <p:nvSpPr>
          <p:cNvPr id="12" name="Shape 9"/>
          <p:cNvSpPr/>
          <p:nvPr/>
        </p:nvSpPr>
        <p:spPr>
          <a:xfrm>
            <a:off x="822960" y="4416552"/>
            <a:ext cx="109728" cy="109728"/>
          </a:xfrm>
          <a:prstGeom prst="ellipse">
            <a:avLst/>
          </a:prstGeom>
          <a:solidFill>
            <a:srgbClr val="F2A900"/>
          </a:solidFill>
          <a:ln/>
        </p:spPr>
      </p:sp>
      <p:sp>
        <p:nvSpPr>
          <p:cNvPr id="13" name="Text 10"/>
          <p:cNvSpPr/>
          <p:nvPr/>
        </p:nvSpPr>
        <p:spPr>
          <a:xfrm>
            <a:off x="1051560" y="4297680"/>
            <a:ext cx="4800600" cy="365760"/>
          </a:xfrm>
          <a:prstGeom prst="rect">
            <a:avLst/>
          </a:prstGeom>
          <a:noFill/>
          <a:ln/>
        </p:spPr>
        <p:txBody>
          <a:bodyPr wrap="square" rtlCol="0" anchor="ctr"/>
          <a:lstStyle/>
          <a:p>
            <a:pPr marL="0" indent="0">
              <a:buNone/>
            </a:pPr>
            <a:r>
              <a:rPr lang="en-US" sz="1250" dirty="0">
                <a:solidFill>
                  <a:srgbClr val="5B6270"/>
                </a:solidFill>
                <a:latin typeface="Calibri" pitchFamily="34" charset="0"/>
                <a:ea typeface="Calibri" pitchFamily="34" charset="-122"/>
                <a:cs typeface="Calibri" pitchFamily="34" charset="-120"/>
              </a:rPr>
              <a:t>O(log N) inserts and rank look-ups even at huge scale</a:t>
            </a:r>
            <a:endParaRPr lang="en-US" sz="1250" dirty="0"/>
          </a:p>
        </p:txBody>
      </p:sp>
      <p:sp>
        <p:nvSpPr>
          <p:cNvPr id="14" name="Shape 11"/>
          <p:cNvSpPr/>
          <p:nvPr/>
        </p:nvSpPr>
        <p:spPr>
          <a:xfrm>
            <a:off x="822960" y="4800600"/>
            <a:ext cx="109728" cy="109728"/>
          </a:xfrm>
          <a:prstGeom prst="ellipse">
            <a:avLst/>
          </a:prstGeom>
          <a:solidFill>
            <a:srgbClr val="F2A900"/>
          </a:solidFill>
          <a:ln/>
        </p:spPr>
      </p:sp>
      <p:sp>
        <p:nvSpPr>
          <p:cNvPr id="15" name="Text 12"/>
          <p:cNvSpPr/>
          <p:nvPr/>
        </p:nvSpPr>
        <p:spPr>
          <a:xfrm>
            <a:off x="1051560" y="4681728"/>
            <a:ext cx="4800600" cy="365760"/>
          </a:xfrm>
          <a:prstGeom prst="rect">
            <a:avLst/>
          </a:prstGeom>
          <a:noFill/>
          <a:ln/>
        </p:spPr>
        <p:txBody>
          <a:bodyPr wrap="square" rtlCol="0" anchor="ctr"/>
          <a:lstStyle/>
          <a:p>
            <a:pPr marL="0" indent="0">
              <a:buNone/>
            </a:pPr>
            <a:r>
              <a:rPr lang="en-US" sz="1250" dirty="0">
                <a:solidFill>
                  <a:srgbClr val="5B6270"/>
                </a:solidFill>
                <a:latin typeface="Calibri" pitchFamily="34" charset="0"/>
                <a:ea typeface="Calibri" pitchFamily="34" charset="-122"/>
                <a:cs typeface="Calibri" pitchFamily="34" charset="-120"/>
              </a:rPr>
              <a:t>Always sorted — no separate sort step needed</a:t>
            </a:r>
            <a:endParaRPr lang="en-US" sz="1250" dirty="0"/>
          </a:p>
        </p:txBody>
      </p:sp>
      <p:sp>
        <p:nvSpPr>
          <p:cNvPr id="16" name="Shape 13"/>
          <p:cNvSpPr/>
          <p:nvPr/>
        </p:nvSpPr>
        <p:spPr>
          <a:xfrm>
            <a:off x="822960" y="5184648"/>
            <a:ext cx="109728" cy="109728"/>
          </a:xfrm>
          <a:prstGeom prst="ellipse">
            <a:avLst/>
          </a:prstGeom>
          <a:solidFill>
            <a:srgbClr val="F2A900"/>
          </a:solidFill>
          <a:ln/>
        </p:spPr>
      </p:sp>
      <p:sp>
        <p:nvSpPr>
          <p:cNvPr id="17" name="Text 14"/>
          <p:cNvSpPr/>
          <p:nvPr/>
        </p:nvSpPr>
        <p:spPr>
          <a:xfrm>
            <a:off x="1051560" y="5065776"/>
            <a:ext cx="4800600" cy="365760"/>
          </a:xfrm>
          <a:prstGeom prst="rect">
            <a:avLst/>
          </a:prstGeom>
          <a:noFill/>
          <a:ln/>
        </p:spPr>
        <p:txBody>
          <a:bodyPr wrap="square" rtlCol="0" anchor="ctr"/>
          <a:lstStyle/>
          <a:p>
            <a:pPr marL="0" indent="0">
              <a:buNone/>
            </a:pPr>
            <a:r>
              <a:rPr lang="en-US" sz="1250" dirty="0">
                <a:solidFill>
                  <a:srgbClr val="5B6270"/>
                </a:solidFill>
                <a:latin typeface="Calibri" pitchFamily="34" charset="0"/>
                <a:ea typeface="Calibri" pitchFamily="34" charset="-122"/>
                <a:cs typeface="Calibri" pitchFamily="34" charset="-120"/>
              </a:rPr>
              <a:t>Ties and ranges handled natively</a:t>
            </a:r>
            <a:endParaRPr lang="en-US" sz="1250" dirty="0"/>
          </a:p>
        </p:txBody>
      </p:sp>
      <p:sp>
        <p:nvSpPr>
          <p:cNvPr id="18" name="Shape 15"/>
          <p:cNvSpPr/>
          <p:nvPr/>
        </p:nvSpPr>
        <p:spPr>
          <a:xfrm>
            <a:off x="6355080" y="1783080"/>
            <a:ext cx="5257800" cy="4343400"/>
          </a:xfrm>
          <a:prstGeom prst="roundRect">
            <a:avLst>
              <a:gd name="adj" fmla="val 1684"/>
            </a:avLst>
          </a:prstGeom>
          <a:solidFill>
            <a:srgbClr val="1B1F27"/>
          </a:solidFill>
          <a:ln/>
        </p:spPr>
      </p:sp>
      <p:sp>
        <p:nvSpPr>
          <p:cNvPr id="19" name="Text 16"/>
          <p:cNvSpPr/>
          <p:nvPr/>
        </p:nvSpPr>
        <p:spPr>
          <a:xfrm>
            <a:off x="6629400" y="1965960"/>
            <a:ext cx="4754880" cy="274320"/>
          </a:xfrm>
          <a:prstGeom prst="rect">
            <a:avLst/>
          </a:prstGeom>
          <a:noFill/>
          <a:ln/>
        </p:spPr>
        <p:txBody>
          <a:bodyPr wrap="square" rtlCol="0" anchor="ctr"/>
          <a:lstStyle/>
          <a:p>
            <a:pPr marL="0" indent="0">
              <a:buNone/>
            </a:pPr>
            <a:r>
              <a:rPr lang="en-US" sz="1200" b="1" kern="0" spc="100" dirty="0">
                <a:solidFill>
                  <a:srgbClr val="F2A900"/>
                </a:solidFill>
                <a:latin typeface="Calibri" pitchFamily="34" charset="0"/>
                <a:ea typeface="Calibri" pitchFamily="34" charset="-122"/>
                <a:cs typeface="Calibri" pitchFamily="34" charset="-120"/>
              </a:rPr>
              <a:t>REAL-WORLD USAGE</a:t>
            </a:r>
            <a:endParaRPr lang="en-US" sz="1200" dirty="0"/>
          </a:p>
        </p:txBody>
      </p:sp>
      <p:sp>
        <p:nvSpPr>
          <p:cNvPr id="20" name="Text 17"/>
          <p:cNvSpPr/>
          <p:nvPr/>
        </p:nvSpPr>
        <p:spPr>
          <a:xfrm>
            <a:off x="6629400" y="2286000"/>
            <a:ext cx="4754880" cy="502920"/>
          </a:xfrm>
          <a:prstGeom prst="rect">
            <a:avLst/>
          </a:prstGeom>
          <a:noFill/>
          <a:ln/>
        </p:spPr>
        <p:txBody>
          <a:bodyPr wrap="square"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Live game &amp; contest rankings</a:t>
            </a:r>
            <a:endParaRPr lang="en-US" sz="1900" dirty="0"/>
          </a:p>
        </p:txBody>
      </p:sp>
      <p:sp>
        <p:nvSpPr>
          <p:cNvPr id="21" name="Text 18"/>
          <p:cNvSpPr/>
          <p:nvPr/>
        </p:nvSpPr>
        <p:spPr>
          <a:xfrm>
            <a:off x="6629400" y="2880360"/>
            <a:ext cx="4754880" cy="3017520"/>
          </a:xfrm>
          <a:prstGeom prst="rect">
            <a:avLst/>
          </a:prstGeom>
          <a:noFill/>
          <a:ln/>
        </p:spPr>
        <p:txBody>
          <a:bodyPr wrap="square" rtlCol="0" anchor="t"/>
          <a:lstStyle/>
          <a:p>
            <a:pPr marL="0" indent="0">
              <a:buNone/>
            </a:pPr>
            <a:r>
              <a:rPr lang="en-US" sz="1300" dirty="0">
                <a:solidFill>
                  <a:srgbClr val="C9CDD3"/>
                </a:solidFill>
                <a:latin typeface="Calibri" pitchFamily="34" charset="0"/>
                <a:ea typeface="Calibri" pitchFamily="34" charset="-122"/>
                <a:cs typeface="Calibri" pitchFamily="34" charset="-120"/>
              </a:rPr>
              <a:t>Mobile and online games update a player's score in a sorted set after every match, then instantly query “top 100 this week” or “my rank near friends” without recalculating the whole leaderboard.</a:t>
            </a:r>
            <a:endParaRPr lang="en-US" sz="1300" dirty="0"/>
          </a:p>
        </p:txBody>
      </p:sp>
      <p:sp>
        <p:nvSpPr>
          <p:cNvPr id="22" name="Text 19"/>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5B6270"/>
                </a:solidFill>
                <a:latin typeface="Calibri" pitchFamily="34" charset="0"/>
                <a:ea typeface="Calibri" pitchFamily="34" charset="-122"/>
                <a:cs typeface="Calibri" pitchFamily="34" charset="-120"/>
              </a:rPr>
              <a:t>Capabilities of Redis</a:t>
            </a:r>
            <a:endParaRPr lang="en-US" sz="1000" dirty="0"/>
          </a:p>
        </p:txBody>
      </p:sp>
      <p:sp>
        <p:nvSpPr>
          <p:cNvPr id="23" name="Text 20"/>
          <p:cNvSpPr/>
          <p:nvPr/>
        </p:nvSpPr>
        <p:spPr>
          <a:xfrm>
            <a:off x="11247120" y="6537960"/>
            <a:ext cx="457200" cy="274320"/>
          </a:xfrm>
          <a:prstGeom prst="rect">
            <a:avLst/>
          </a:prstGeom>
          <a:noFill/>
          <a:ln/>
        </p:spPr>
        <p:txBody>
          <a:bodyPr wrap="square"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DC382D"/>
          </a:solidFill>
          <a:ln/>
        </p:spPr>
      </p:sp>
      <p:pic>
        <p:nvPicPr>
          <p:cNvPr id="3" name="Image 0" descr="icons/ratelimit_red.png"/>
          <p:cNvPicPr>
            <a:picLocks noChangeAspect="1"/>
          </p:cNvPicPr>
          <p:nvPr/>
        </p:nvPicPr>
        <p:blipFill>
          <a:blip r:embed="rId3"/>
          <a:stretch>
            <a:fillRect/>
          </a:stretch>
        </p:blipFill>
        <p:spPr>
          <a:xfrm>
            <a:off x="694944" y="649224"/>
            <a:ext cx="274320" cy="274320"/>
          </a:xfrm>
          <a:prstGeom prst="rect">
            <a:avLst/>
          </a:prstGeom>
        </p:spPr>
      </p:pic>
      <p:sp>
        <p:nvSpPr>
          <p:cNvPr id="4" name="Text 1"/>
          <p:cNvSpPr/>
          <p:nvPr/>
        </p:nvSpPr>
        <p:spPr>
          <a:xfrm>
            <a:off x="1280160" y="457200"/>
            <a:ext cx="7315200" cy="274320"/>
          </a:xfrm>
          <a:prstGeom prst="rect">
            <a:avLst/>
          </a:prstGeom>
          <a:noFill/>
          <a:ln/>
        </p:spPr>
        <p:txBody>
          <a:bodyPr wrap="square" rtlCol="0" anchor="ctr"/>
          <a:lstStyle/>
          <a:p>
            <a:pPr marL="0" indent="0">
              <a:buNone/>
            </a:pPr>
            <a:r>
              <a:rPr lang="en-US" sz="1300" b="1" kern="0" spc="200" dirty="0">
                <a:solidFill>
                  <a:srgbClr val="DC382D"/>
                </a:solidFill>
                <a:latin typeface="Calibri" pitchFamily="34" charset="0"/>
                <a:ea typeface="Calibri" pitchFamily="34" charset="-122"/>
                <a:cs typeface="Calibri" pitchFamily="34" charset="-120"/>
              </a:rPr>
              <a:t>CAPABILITY · 05</a:t>
            </a:r>
            <a:endParaRPr lang="en-US" sz="1300" dirty="0"/>
          </a:p>
        </p:txBody>
      </p:sp>
      <p:sp>
        <p:nvSpPr>
          <p:cNvPr id="5" name="Text 2"/>
          <p:cNvSpPr/>
          <p:nvPr/>
        </p:nvSpPr>
        <p:spPr>
          <a:xfrm>
            <a:off x="1280160" y="713232"/>
            <a:ext cx="10241280" cy="548640"/>
          </a:xfrm>
          <a:prstGeom prst="rect">
            <a:avLst/>
          </a:prstGeom>
          <a:noFill/>
          <a:ln/>
        </p:spPr>
        <p:txBody>
          <a:bodyPr wrap="square" rtlCol="0" anchor="ctr"/>
          <a:lstStyle/>
          <a:p>
            <a:pPr marL="0" indent="0">
              <a:buNone/>
            </a:pPr>
            <a:r>
              <a:rPr lang="en-US" sz="2800" b="1" dirty="0">
                <a:solidFill>
                  <a:srgbClr val="1B1F27"/>
                </a:solidFill>
                <a:latin typeface="Cambria" pitchFamily="34" charset="0"/>
                <a:ea typeface="Cambria" pitchFamily="34" charset="-122"/>
                <a:cs typeface="Cambria" pitchFamily="34" charset="-120"/>
              </a:rPr>
              <a:t>Rate Limiting</a:t>
            </a:r>
            <a:endParaRPr lang="en-US" sz="2800" dirty="0"/>
          </a:p>
        </p:txBody>
      </p:sp>
      <p:sp>
        <p:nvSpPr>
          <p:cNvPr id="6" name="Text 3"/>
          <p:cNvSpPr/>
          <p:nvPr/>
        </p:nvSpPr>
        <p:spPr>
          <a:xfrm>
            <a:off x="1280160" y="1207008"/>
            <a:ext cx="10058400" cy="320040"/>
          </a:xfrm>
          <a:prstGeom prst="rect">
            <a:avLst/>
          </a:prstGeom>
          <a:noFill/>
          <a:ln/>
        </p:spPr>
        <p:txBody>
          <a:bodyPr wrap="square" rtlCol="0" anchor="ctr"/>
          <a:lstStyle/>
          <a:p>
            <a:pPr marL="0" indent="0">
              <a:buNone/>
            </a:pPr>
            <a:r>
              <a:rPr lang="en-US" sz="1350" i="1" dirty="0">
                <a:solidFill>
                  <a:srgbClr val="5B6270"/>
                </a:solidFill>
                <a:latin typeface="Calibri" pitchFamily="34" charset="0"/>
                <a:ea typeface="Calibri" pitchFamily="34" charset="-122"/>
                <a:cs typeface="Calibri" pitchFamily="34" charset="-120"/>
              </a:rPr>
              <a:t>Cap how many requests a client can make in a time window.</a:t>
            </a:r>
            <a:endParaRPr lang="en-US" sz="1350" dirty="0"/>
          </a:p>
        </p:txBody>
      </p:sp>
      <p:sp>
        <p:nvSpPr>
          <p:cNvPr id="7" name="Shape 4"/>
          <p:cNvSpPr/>
          <p:nvPr/>
        </p:nvSpPr>
        <p:spPr>
          <a:xfrm>
            <a:off x="548640" y="1783080"/>
            <a:ext cx="5577840" cy="4343400"/>
          </a:xfrm>
          <a:prstGeom prst="roundRect">
            <a:avLst>
              <a:gd name="adj" fmla="val 1684"/>
            </a:avLst>
          </a:prstGeom>
          <a:solidFill>
            <a:srgbClr val="F7F7F7"/>
          </a:solidFill>
          <a:ln/>
        </p:spPr>
      </p:sp>
      <p:sp>
        <p:nvSpPr>
          <p:cNvPr id="8" name="Text 5"/>
          <p:cNvSpPr/>
          <p:nvPr/>
        </p:nvSpPr>
        <p:spPr>
          <a:xfrm>
            <a:off x="822960" y="1965960"/>
            <a:ext cx="5029200" cy="274320"/>
          </a:xfrm>
          <a:prstGeom prst="rect">
            <a:avLst/>
          </a:prstGeom>
          <a:noFill/>
          <a:ln/>
        </p:spPr>
        <p:txBody>
          <a:bodyPr wrap="square" rtlCol="0" anchor="ctr"/>
          <a:lstStyle/>
          <a:p>
            <a:pPr marL="0" indent="0">
              <a:buNone/>
            </a:pPr>
            <a:r>
              <a:rPr lang="en-US" sz="1200" b="1" kern="0" spc="100" dirty="0">
                <a:solidFill>
                  <a:srgbClr val="DC382D"/>
                </a:solidFill>
                <a:latin typeface="Calibri" pitchFamily="34" charset="0"/>
                <a:ea typeface="Calibri" pitchFamily="34" charset="-122"/>
                <a:cs typeface="Calibri" pitchFamily="34" charset="-120"/>
              </a:rPr>
              <a:t>HOW IT WORKS</a:t>
            </a:r>
            <a:endParaRPr lang="en-US" sz="1200" dirty="0"/>
          </a:p>
        </p:txBody>
      </p:sp>
      <p:sp>
        <p:nvSpPr>
          <p:cNvPr id="9" name="Text 6"/>
          <p:cNvSpPr/>
          <p:nvPr/>
        </p:nvSpPr>
        <p:spPr>
          <a:xfrm>
            <a:off x="822960" y="2286000"/>
            <a:ext cx="5029200" cy="1554480"/>
          </a:xfrm>
          <a:prstGeom prst="rect">
            <a:avLst/>
          </a:prstGeom>
          <a:noFill/>
          <a:ln/>
        </p:spPr>
        <p:txBody>
          <a:bodyPr wrap="square" rtlCol="0" anchor="t"/>
          <a:lstStyle/>
          <a:p>
            <a:pPr marL="0" indent="0">
              <a:buNone/>
            </a:pPr>
            <a:r>
              <a:rPr lang="en-US" sz="1350" dirty="0">
                <a:solidFill>
                  <a:srgbClr val="1B1F27"/>
                </a:solidFill>
                <a:latin typeface="Calibri" pitchFamily="34" charset="0"/>
                <a:ea typeface="Calibri" pitchFamily="34" charset="-122"/>
                <a:cs typeface="Calibri" pitchFamily="34" charset="-120"/>
              </a:rPr>
              <a:t>Each request increments a counter keyed by client id (e.g. api:user123). The key is given a short TTL matching the limit window; once the counter passes the threshold within that window, further requests are rejected.</a:t>
            </a:r>
            <a:endParaRPr lang="en-US" sz="1350" dirty="0"/>
          </a:p>
        </p:txBody>
      </p:sp>
      <p:sp>
        <p:nvSpPr>
          <p:cNvPr id="10" name="Shape 7"/>
          <p:cNvSpPr/>
          <p:nvPr/>
        </p:nvSpPr>
        <p:spPr>
          <a:xfrm>
            <a:off x="822960" y="3886200"/>
            <a:ext cx="5029200" cy="18288"/>
          </a:xfrm>
          <a:prstGeom prst="rect">
            <a:avLst/>
          </a:prstGeom>
          <a:solidFill>
            <a:srgbClr val="E1E3E6"/>
          </a:solidFill>
          <a:ln/>
        </p:spPr>
      </p:sp>
      <p:sp>
        <p:nvSpPr>
          <p:cNvPr id="11" name="Text 8"/>
          <p:cNvSpPr/>
          <p:nvPr/>
        </p:nvSpPr>
        <p:spPr>
          <a:xfrm>
            <a:off x="822960" y="4041648"/>
            <a:ext cx="5029200" cy="274320"/>
          </a:xfrm>
          <a:prstGeom prst="rect">
            <a:avLst/>
          </a:prstGeom>
          <a:noFill/>
          <a:ln/>
        </p:spPr>
        <p:txBody>
          <a:bodyPr wrap="square" rtlCol="0" anchor="ctr"/>
          <a:lstStyle/>
          <a:p>
            <a:pPr marL="0" indent="0">
              <a:buNone/>
            </a:pPr>
            <a:r>
              <a:rPr lang="en-US" sz="1200" b="1" kern="0" spc="100" dirty="0">
                <a:solidFill>
                  <a:srgbClr val="DC382D"/>
                </a:solidFill>
                <a:latin typeface="Calibri" pitchFamily="34" charset="0"/>
                <a:ea typeface="Calibri" pitchFamily="34" charset="-122"/>
                <a:cs typeface="Calibri" pitchFamily="34" charset="-120"/>
              </a:rPr>
              <a:t>WHY IT'S FAST / USEFUL</a:t>
            </a:r>
            <a:endParaRPr lang="en-US" sz="1200" dirty="0"/>
          </a:p>
        </p:txBody>
      </p:sp>
      <p:sp>
        <p:nvSpPr>
          <p:cNvPr id="12" name="Shape 9"/>
          <p:cNvSpPr/>
          <p:nvPr/>
        </p:nvSpPr>
        <p:spPr>
          <a:xfrm>
            <a:off x="822960" y="4416552"/>
            <a:ext cx="109728" cy="109728"/>
          </a:xfrm>
          <a:prstGeom prst="ellipse">
            <a:avLst/>
          </a:prstGeom>
          <a:solidFill>
            <a:srgbClr val="F2A900"/>
          </a:solidFill>
          <a:ln/>
        </p:spPr>
      </p:sp>
      <p:sp>
        <p:nvSpPr>
          <p:cNvPr id="13" name="Text 10"/>
          <p:cNvSpPr/>
          <p:nvPr/>
        </p:nvSpPr>
        <p:spPr>
          <a:xfrm>
            <a:off x="1051560" y="4297680"/>
            <a:ext cx="4800600" cy="365760"/>
          </a:xfrm>
          <a:prstGeom prst="rect">
            <a:avLst/>
          </a:prstGeom>
          <a:noFill/>
          <a:ln/>
        </p:spPr>
        <p:txBody>
          <a:bodyPr wrap="square" rtlCol="0" anchor="ctr"/>
          <a:lstStyle/>
          <a:p>
            <a:pPr marL="0" indent="0">
              <a:buNone/>
            </a:pPr>
            <a:r>
              <a:rPr lang="en-US" sz="1250" dirty="0">
                <a:solidFill>
                  <a:srgbClr val="5B6270"/>
                </a:solidFill>
                <a:latin typeface="Calibri" pitchFamily="34" charset="0"/>
                <a:ea typeface="Calibri" pitchFamily="34" charset="-122"/>
                <a:cs typeface="Calibri" pitchFamily="34" charset="-120"/>
              </a:rPr>
              <a:t>Atomic INCR avoids race conditions under load</a:t>
            </a:r>
            <a:endParaRPr lang="en-US" sz="1250" dirty="0"/>
          </a:p>
        </p:txBody>
      </p:sp>
      <p:sp>
        <p:nvSpPr>
          <p:cNvPr id="14" name="Shape 11"/>
          <p:cNvSpPr/>
          <p:nvPr/>
        </p:nvSpPr>
        <p:spPr>
          <a:xfrm>
            <a:off x="822960" y="4800600"/>
            <a:ext cx="109728" cy="109728"/>
          </a:xfrm>
          <a:prstGeom prst="ellipse">
            <a:avLst/>
          </a:prstGeom>
          <a:solidFill>
            <a:srgbClr val="F2A900"/>
          </a:solidFill>
          <a:ln/>
        </p:spPr>
      </p:sp>
      <p:sp>
        <p:nvSpPr>
          <p:cNvPr id="15" name="Text 12"/>
          <p:cNvSpPr/>
          <p:nvPr/>
        </p:nvSpPr>
        <p:spPr>
          <a:xfrm>
            <a:off x="1051560" y="4681728"/>
            <a:ext cx="4800600" cy="365760"/>
          </a:xfrm>
          <a:prstGeom prst="rect">
            <a:avLst/>
          </a:prstGeom>
          <a:noFill/>
          <a:ln/>
        </p:spPr>
        <p:txBody>
          <a:bodyPr wrap="square" rtlCol="0" anchor="ctr"/>
          <a:lstStyle/>
          <a:p>
            <a:pPr marL="0" indent="0">
              <a:buNone/>
            </a:pPr>
            <a:r>
              <a:rPr lang="en-US" sz="1250" dirty="0">
                <a:solidFill>
                  <a:srgbClr val="5B6270"/>
                </a:solidFill>
                <a:latin typeface="Calibri" pitchFamily="34" charset="0"/>
                <a:ea typeface="Calibri" pitchFamily="34" charset="-122"/>
                <a:cs typeface="Calibri" pitchFamily="34" charset="-120"/>
              </a:rPr>
              <a:t>TTL auto-resets the window — no cleanup job needed</a:t>
            </a:r>
            <a:endParaRPr lang="en-US" sz="1250" dirty="0"/>
          </a:p>
        </p:txBody>
      </p:sp>
      <p:sp>
        <p:nvSpPr>
          <p:cNvPr id="16" name="Shape 13"/>
          <p:cNvSpPr/>
          <p:nvPr/>
        </p:nvSpPr>
        <p:spPr>
          <a:xfrm>
            <a:off x="822960" y="5184648"/>
            <a:ext cx="109728" cy="109728"/>
          </a:xfrm>
          <a:prstGeom prst="ellipse">
            <a:avLst/>
          </a:prstGeom>
          <a:solidFill>
            <a:srgbClr val="F2A900"/>
          </a:solidFill>
          <a:ln/>
        </p:spPr>
      </p:sp>
      <p:sp>
        <p:nvSpPr>
          <p:cNvPr id="17" name="Text 14"/>
          <p:cNvSpPr/>
          <p:nvPr/>
        </p:nvSpPr>
        <p:spPr>
          <a:xfrm>
            <a:off x="1051560" y="5065776"/>
            <a:ext cx="4800600" cy="365760"/>
          </a:xfrm>
          <a:prstGeom prst="rect">
            <a:avLst/>
          </a:prstGeom>
          <a:noFill/>
          <a:ln/>
        </p:spPr>
        <p:txBody>
          <a:bodyPr wrap="square" rtlCol="0" anchor="ctr"/>
          <a:lstStyle/>
          <a:p>
            <a:pPr marL="0" indent="0">
              <a:buNone/>
            </a:pPr>
            <a:r>
              <a:rPr lang="en-US" sz="1250" dirty="0">
                <a:solidFill>
                  <a:srgbClr val="5B6270"/>
                </a:solidFill>
                <a:latin typeface="Calibri" pitchFamily="34" charset="0"/>
                <a:ea typeface="Calibri" pitchFamily="34" charset="-122"/>
                <a:cs typeface="Calibri" pitchFamily="34" charset="-120"/>
              </a:rPr>
              <a:t>One round-trip per request check</a:t>
            </a:r>
            <a:endParaRPr lang="en-US" sz="1250" dirty="0"/>
          </a:p>
        </p:txBody>
      </p:sp>
      <p:sp>
        <p:nvSpPr>
          <p:cNvPr id="18" name="Shape 15"/>
          <p:cNvSpPr/>
          <p:nvPr/>
        </p:nvSpPr>
        <p:spPr>
          <a:xfrm>
            <a:off x="6355080" y="1783080"/>
            <a:ext cx="5257800" cy="4343400"/>
          </a:xfrm>
          <a:prstGeom prst="roundRect">
            <a:avLst>
              <a:gd name="adj" fmla="val 1684"/>
            </a:avLst>
          </a:prstGeom>
          <a:solidFill>
            <a:srgbClr val="1B1F27"/>
          </a:solidFill>
          <a:ln/>
        </p:spPr>
      </p:sp>
      <p:sp>
        <p:nvSpPr>
          <p:cNvPr id="19" name="Text 16"/>
          <p:cNvSpPr/>
          <p:nvPr/>
        </p:nvSpPr>
        <p:spPr>
          <a:xfrm>
            <a:off x="6629400" y="1965960"/>
            <a:ext cx="4754880" cy="274320"/>
          </a:xfrm>
          <a:prstGeom prst="rect">
            <a:avLst/>
          </a:prstGeom>
          <a:noFill/>
          <a:ln/>
        </p:spPr>
        <p:txBody>
          <a:bodyPr wrap="square" rtlCol="0" anchor="ctr"/>
          <a:lstStyle/>
          <a:p>
            <a:pPr marL="0" indent="0">
              <a:buNone/>
            </a:pPr>
            <a:r>
              <a:rPr lang="en-US" sz="1200" b="1" kern="0" spc="100" dirty="0">
                <a:solidFill>
                  <a:srgbClr val="F2A900"/>
                </a:solidFill>
                <a:latin typeface="Calibri" pitchFamily="34" charset="0"/>
                <a:ea typeface="Calibri" pitchFamily="34" charset="-122"/>
                <a:cs typeface="Calibri" pitchFamily="34" charset="-120"/>
              </a:rPr>
              <a:t>REAL-WORLD USAGE</a:t>
            </a:r>
            <a:endParaRPr lang="en-US" sz="1200" dirty="0"/>
          </a:p>
        </p:txBody>
      </p:sp>
      <p:sp>
        <p:nvSpPr>
          <p:cNvPr id="20" name="Text 17"/>
          <p:cNvSpPr/>
          <p:nvPr/>
        </p:nvSpPr>
        <p:spPr>
          <a:xfrm>
            <a:off x="6629400" y="2286000"/>
            <a:ext cx="4754880" cy="502920"/>
          </a:xfrm>
          <a:prstGeom prst="rect">
            <a:avLst/>
          </a:prstGeom>
          <a:noFill/>
          <a:ln/>
        </p:spPr>
        <p:txBody>
          <a:bodyPr wrap="square"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Protecting public APIs from abuse</a:t>
            </a:r>
            <a:endParaRPr lang="en-US" sz="1900" dirty="0"/>
          </a:p>
        </p:txBody>
      </p:sp>
      <p:sp>
        <p:nvSpPr>
          <p:cNvPr id="21" name="Text 18"/>
          <p:cNvSpPr/>
          <p:nvPr/>
        </p:nvSpPr>
        <p:spPr>
          <a:xfrm>
            <a:off x="6629400" y="2880360"/>
            <a:ext cx="4754880" cy="3017520"/>
          </a:xfrm>
          <a:prstGeom prst="rect">
            <a:avLst/>
          </a:prstGeom>
          <a:noFill/>
          <a:ln/>
        </p:spPr>
        <p:txBody>
          <a:bodyPr wrap="square" rtlCol="0" anchor="t"/>
          <a:lstStyle/>
          <a:p>
            <a:pPr marL="0" indent="0">
              <a:buNone/>
            </a:pPr>
            <a:r>
              <a:rPr lang="en-US" sz="1300" dirty="0">
                <a:solidFill>
                  <a:srgbClr val="C9CDD3"/>
                </a:solidFill>
                <a:latin typeface="Calibri" pitchFamily="34" charset="0"/>
                <a:ea typeface="Calibri" pitchFamily="34" charset="-122"/>
                <a:cs typeface="Calibri" pitchFamily="34" charset="-120"/>
              </a:rPr>
              <a:t>API gateways use Redis counters to enforce limits such as “5,000 requests per hour per API key,” throttling or blocking a client the moment it crosses the threshold, protecting backend services from overload.</a:t>
            </a:r>
            <a:endParaRPr lang="en-US" sz="1300" dirty="0"/>
          </a:p>
        </p:txBody>
      </p:sp>
      <p:sp>
        <p:nvSpPr>
          <p:cNvPr id="22" name="Text 19"/>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5B6270"/>
                </a:solidFill>
                <a:latin typeface="Calibri" pitchFamily="34" charset="0"/>
                <a:ea typeface="Calibri" pitchFamily="34" charset="-122"/>
                <a:cs typeface="Calibri" pitchFamily="34" charset="-120"/>
              </a:rPr>
              <a:t>Capabilities of Redis</a:t>
            </a:r>
            <a:endParaRPr lang="en-US" sz="1000" dirty="0"/>
          </a:p>
        </p:txBody>
      </p:sp>
      <p:sp>
        <p:nvSpPr>
          <p:cNvPr id="23" name="Text 20"/>
          <p:cNvSpPr/>
          <p:nvPr/>
        </p:nvSpPr>
        <p:spPr>
          <a:xfrm>
            <a:off x="11247120" y="6537960"/>
            <a:ext cx="457200" cy="274320"/>
          </a:xfrm>
          <a:prstGeom prst="rect">
            <a:avLst/>
          </a:prstGeom>
          <a:noFill/>
          <a:ln/>
        </p:spPr>
        <p:txBody>
          <a:bodyPr wrap="square"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DC382D"/>
          </a:solidFill>
          <a:ln/>
        </p:spPr>
      </p:sp>
      <p:pic>
        <p:nvPicPr>
          <p:cNvPr id="3" name="Image 0" descr="icons/lock_red.png"/>
          <p:cNvPicPr>
            <a:picLocks noChangeAspect="1"/>
          </p:cNvPicPr>
          <p:nvPr/>
        </p:nvPicPr>
        <p:blipFill>
          <a:blip r:embed="rId3"/>
          <a:stretch>
            <a:fillRect/>
          </a:stretch>
        </p:blipFill>
        <p:spPr>
          <a:xfrm>
            <a:off x="694944" y="649224"/>
            <a:ext cx="274320" cy="274320"/>
          </a:xfrm>
          <a:prstGeom prst="rect">
            <a:avLst/>
          </a:prstGeom>
        </p:spPr>
      </p:pic>
      <p:sp>
        <p:nvSpPr>
          <p:cNvPr id="4" name="Text 1"/>
          <p:cNvSpPr/>
          <p:nvPr/>
        </p:nvSpPr>
        <p:spPr>
          <a:xfrm>
            <a:off x="1280160" y="457200"/>
            <a:ext cx="7315200" cy="274320"/>
          </a:xfrm>
          <a:prstGeom prst="rect">
            <a:avLst/>
          </a:prstGeom>
          <a:noFill/>
          <a:ln/>
        </p:spPr>
        <p:txBody>
          <a:bodyPr wrap="square" rtlCol="0" anchor="ctr"/>
          <a:lstStyle/>
          <a:p>
            <a:pPr marL="0" indent="0">
              <a:buNone/>
            </a:pPr>
            <a:r>
              <a:rPr lang="en-US" sz="1300" b="1" kern="0" spc="200" dirty="0">
                <a:solidFill>
                  <a:srgbClr val="DC382D"/>
                </a:solidFill>
                <a:latin typeface="Calibri" pitchFamily="34" charset="0"/>
                <a:ea typeface="Calibri" pitchFamily="34" charset="-122"/>
                <a:cs typeface="Calibri" pitchFamily="34" charset="-120"/>
              </a:rPr>
              <a:t>CAPABILITY · 06</a:t>
            </a:r>
            <a:endParaRPr lang="en-US" sz="1300" dirty="0"/>
          </a:p>
        </p:txBody>
      </p:sp>
      <p:sp>
        <p:nvSpPr>
          <p:cNvPr id="5" name="Text 2"/>
          <p:cNvSpPr/>
          <p:nvPr/>
        </p:nvSpPr>
        <p:spPr>
          <a:xfrm>
            <a:off x="1280160" y="713232"/>
            <a:ext cx="10241280" cy="548640"/>
          </a:xfrm>
          <a:prstGeom prst="rect">
            <a:avLst/>
          </a:prstGeom>
          <a:noFill/>
          <a:ln/>
        </p:spPr>
        <p:txBody>
          <a:bodyPr wrap="square" rtlCol="0" anchor="ctr"/>
          <a:lstStyle/>
          <a:p>
            <a:pPr marL="0" indent="0">
              <a:buNone/>
            </a:pPr>
            <a:r>
              <a:rPr lang="en-US" sz="2800" b="1" dirty="0">
                <a:solidFill>
                  <a:srgbClr val="1B1F27"/>
                </a:solidFill>
                <a:latin typeface="Cambria" pitchFamily="34" charset="0"/>
                <a:ea typeface="Cambria" pitchFamily="34" charset="-122"/>
                <a:cs typeface="Cambria" pitchFamily="34" charset="-120"/>
              </a:rPr>
              <a:t>Distributed Locking</a:t>
            </a:r>
            <a:endParaRPr lang="en-US" sz="2800" dirty="0"/>
          </a:p>
        </p:txBody>
      </p:sp>
      <p:sp>
        <p:nvSpPr>
          <p:cNvPr id="6" name="Text 3"/>
          <p:cNvSpPr/>
          <p:nvPr/>
        </p:nvSpPr>
        <p:spPr>
          <a:xfrm>
            <a:off x="1280160" y="1207008"/>
            <a:ext cx="10058400" cy="320040"/>
          </a:xfrm>
          <a:prstGeom prst="rect">
            <a:avLst/>
          </a:prstGeom>
          <a:noFill/>
          <a:ln/>
        </p:spPr>
        <p:txBody>
          <a:bodyPr wrap="square" rtlCol="0" anchor="ctr"/>
          <a:lstStyle/>
          <a:p>
            <a:pPr marL="0" indent="0">
              <a:buNone/>
            </a:pPr>
            <a:r>
              <a:rPr lang="en-US" sz="1350" i="1" dirty="0">
                <a:solidFill>
                  <a:srgbClr val="5B6270"/>
                </a:solidFill>
                <a:latin typeface="Calibri" pitchFamily="34" charset="0"/>
                <a:ea typeface="Calibri" pitchFamily="34" charset="-122"/>
                <a:cs typeface="Calibri" pitchFamily="34" charset="-120"/>
              </a:rPr>
              <a:t>Let only one process at a time touch a shared resource.</a:t>
            </a:r>
            <a:endParaRPr lang="en-US" sz="1350" dirty="0"/>
          </a:p>
        </p:txBody>
      </p:sp>
      <p:sp>
        <p:nvSpPr>
          <p:cNvPr id="7" name="Shape 4"/>
          <p:cNvSpPr/>
          <p:nvPr/>
        </p:nvSpPr>
        <p:spPr>
          <a:xfrm>
            <a:off x="548640" y="1783080"/>
            <a:ext cx="5577840" cy="4343400"/>
          </a:xfrm>
          <a:prstGeom prst="roundRect">
            <a:avLst>
              <a:gd name="adj" fmla="val 1684"/>
            </a:avLst>
          </a:prstGeom>
          <a:solidFill>
            <a:srgbClr val="F7F7F7"/>
          </a:solidFill>
          <a:ln/>
        </p:spPr>
      </p:sp>
      <p:sp>
        <p:nvSpPr>
          <p:cNvPr id="8" name="Text 5"/>
          <p:cNvSpPr/>
          <p:nvPr/>
        </p:nvSpPr>
        <p:spPr>
          <a:xfrm>
            <a:off x="822960" y="1965960"/>
            <a:ext cx="5029200" cy="274320"/>
          </a:xfrm>
          <a:prstGeom prst="rect">
            <a:avLst/>
          </a:prstGeom>
          <a:noFill/>
          <a:ln/>
        </p:spPr>
        <p:txBody>
          <a:bodyPr wrap="square" rtlCol="0" anchor="ctr"/>
          <a:lstStyle/>
          <a:p>
            <a:pPr marL="0" indent="0">
              <a:buNone/>
            </a:pPr>
            <a:r>
              <a:rPr lang="en-US" sz="1200" b="1" kern="0" spc="100" dirty="0">
                <a:solidFill>
                  <a:srgbClr val="DC382D"/>
                </a:solidFill>
                <a:latin typeface="Calibri" pitchFamily="34" charset="0"/>
                <a:ea typeface="Calibri" pitchFamily="34" charset="-122"/>
                <a:cs typeface="Calibri" pitchFamily="34" charset="-120"/>
              </a:rPr>
              <a:t>HOW IT WORKS</a:t>
            </a:r>
            <a:endParaRPr lang="en-US" sz="1200" dirty="0"/>
          </a:p>
        </p:txBody>
      </p:sp>
      <p:sp>
        <p:nvSpPr>
          <p:cNvPr id="9" name="Text 6"/>
          <p:cNvSpPr/>
          <p:nvPr/>
        </p:nvSpPr>
        <p:spPr>
          <a:xfrm>
            <a:off x="822960" y="2286000"/>
            <a:ext cx="5029200" cy="1554480"/>
          </a:xfrm>
          <a:prstGeom prst="rect">
            <a:avLst/>
          </a:prstGeom>
          <a:noFill/>
          <a:ln/>
        </p:spPr>
        <p:txBody>
          <a:bodyPr wrap="square" rtlCol="0" anchor="t"/>
          <a:lstStyle/>
          <a:p>
            <a:pPr marL="0" indent="0">
              <a:buNone/>
            </a:pPr>
            <a:r>
              <a:rPr lang="en-US" sz="1350" dirty="0">
                <a:solidFill>
                  <a:srgbClr val="1B1F27"/>
                </a:solidFill>
                <a:latin typeface="Calibri" pitchFamily="34" charset="0"/>
                <a:ea typeface="Calibri" pitchFamily="34" charset="-122"/>
                <a:cs typeface="Calibri" pitchFamily="34" charset="-120"/>
              </a:rPr>
              <a:t>A process tries to SET a lock key only if it doesn't already exist, with a short TTL as a safety net. If it succeeds, it holds the lock; if not, another process already owns it and this one waits or retries.</a:t>
            </a:r>
            <a:endParaRPr lang="en-US" sz="1350" dirty="0"/>
          </a:p>
        </p:txBody>
      </p:sp>
      <p:sp>
        <p:nvSpPr>
          <p:cNvPr id="10" name="Shape 7"/>
          <p:cNvSpPr/>
          <p:nvPr/>
        </p:nvSpPr>
        <p:spPr>
          <a:xfrm>
            <a:off x="822960" y="3886200"/>
            <a:ext cx="5029200" cy="18288"/>
          </a:xfrm>
          <a:prstGeom prst="rect">
            <a:avLst/>
          </a:prstGeom>
          <a:solidFill>
            <a:srgbClr val="E1E3E6"/>
          </a:solidFill>
          <a:ln/>
        </p:spPr>
      </p:sp>
      <p:sp>
        <p:nvSpPr>
          <p:cNvPr id="11" name="Text 8"/>
          <p:cNvSpPr/>
          <p:nvPr/>
        </p:nvSpPr>
        <p:spPr>
          <a:xfrm>
            <a:off x="822960" y="4041648"/>
            <a:ext cx="5029200" cy="274320"/>
          </a:xfrm>
          <a:prstGeom prst="rect">
            <a:avLst/>
          </a:prstGeom>
          <a:noFill/>
          <a:ln/>
        </p:spPr>
        <p:txBody>
          <a:bodyPr wrap="square" rtlCol="0" anchor="ctr"/>
          <a:lstStyle/>
          <a:p>
            <a:pPr marL="0" indent="0">
              <a:buNone/>
            </a:pPr>
            <a:r>
              <a:rPr lang="en-US" sz="1200" b="1" kern="0" spc="100" dirty="0">
                <a:solidFill>
                  <a:srgbClr val="DC382D"/>
                </a:solidFill>
                <a:latin typeface="Calibri" pitchFamily="34" charset="0"/>
                <a:ea typeface="Calibri" pitchFamily="34" charset="-122"/>
                <a:cs typeface="Calibri" pitchFamily="34" charset="-120"/>
              </a:rPr>
              <a:t>WHY IT'S FAST / USEFUL</a:t>
            </a:r>
            <a:endParaRPr lang="en-US" sz="1200" dirty="0"/>
          </a:p>
        </p:txBody>
      </p:sp>
      <p:sp>
        <p:nvSpPr>
          <p:cNvPr id="12" name="Shape 9"/>
          <p:cNvSpPr/>
          <p:nvPr/>
        </p:nvSpPr>
        <p:spPr>
          <a:xfrm>
            <a:off x="822960" y="4416552"/>
            <a:ext cx="109728" cy="109728"/>
          </a:xfrm>
          <a:prstGeom prst="ellipse">
            <a:avLst/>
          </a:prstGeom>
          <a:solidFill>
            <a:srgbClr val="F2A900"/>
          </a:solidFill>
          <a:ln/>
        </p:spPr>
      </p:sp>
      <p:sp>
        <p:nvSpPr>
          <p:cNvPr id="13" name="Text 10"/>
          <p:cNvSpPr/>
          <p:nvPr/>
        </p:nvSpPr>
        <p:spPr>
          <a:xfrm>
            <a:off x="1051560" y="4297680"/>
            <a:ext cx="4800600" cy="365760"/>
          </a:xfrm>
          <a:prstGeom prst="rect">
            <a:avLst/>
          </a:prstGeom>
          <a:noFill/>
          <a:ln/>
        </p:spPr>
        <p:txBody>
          <a:bodyPr wrap="square" rtlCol="0" anchor="ctr"/>
          <a:lstStyle/>
          <a:p>
            <a:pPr marL="0" indent="0">
              <a:buNone/>
            </a:pPr>
            <a:r>
              <a:rPr lang="en-US" sz="1250" dirty="0">
                <a:solidFill>
                  <a:srgbClr val="5B6270"/>
                </a:solidFill>
                <a:latin typeface="Calibri" pitchFamily="34" charset="0"/>
                <a:ea typeface="Calibri" pitchFamily="34" charset="-122"/>
                <a:cs typeface="Calibri" pitchFamily="34" charset="-120"/>
              </a:rPr>
              <a:t>SET NX EX is atomic — no two processes win at once</a:t>
            </a:r>
            <a:endParaRPr lang="en-US" sz="1250" dirty="0"/>
          </a:p>
        </p:txBody>
      </p:sp>
      <p:sp>
        <p:nvSpPr>
          <p:cNvPr id="14" name="Shape 11"/>
          <p:cNvSpPr/>
          <p:nvPr/>
        </p:nvSpPr>
        <p:spPr>
          <a:xfrm>
            <a:off x="822960" y="4800600"/>
            <a:ext cx="109728" cy="109728"/>
          </a:xfrm>
          <a:prstGeom prst="ellipse">
            <a:avLst/>
          </a:prstGeom>
          <a:solidFill>
            <a:srgbClr val="F2A900"/>
          </a:solidFill>
          <a:ln/>
        </p:spPr>
      </p:sp>
      <p:sp>
        <p:nvSpPr>
          <p:cNvPr id="15" name="Text 12"/>
          <p:cNvSpPr/>
          <p:nvPr/>
        </p:nvSpPr>
        <p:spPr>
          <a:xfrm>
            <a:off x="1051560" y="4681728"/>
            <a:ext cx="4800600" cy="365760"/>
          </a:xfrm>
          <a:prstGeom prst="rect">
            <a:avLst/>
          </a:prstGeom>
          <a:noFill/>
          <a:ln/>
        </p:spPr>
        <p:txBody>
          <a:bodyPr wrap="square" rtlCol="0" anchor="ctr"/>
          <a:lstStyle/>
          <a:p>
            <a:pPr marL="0" indent="0">
              <a:buNone/>
            </a:pPr>
            <a:r>
              <a:rPr lang="en-US" sz="1250" dirty="0">
                <a:solidFill>
                  <a:srgbClr val="5B6270"/>
                </a:solidFill>
                <a:latin typeface="Calibri" pitchFamily="34" charset="0"/>
                <a:ea typeface="Calibri" pitchFamily="34" charset="-122"/>
                <a:cs typeface="Calibri" pitchFamily="34" charset="-120"/>
              </a:rPr>
              <a:t>TTL prevents a crashed process from holding the lock forever</a:t>
            </a:r>
            <a:endParaRPr lang="en-US" sz="1250" dirty="0"/>
          </a:p>
        </p:txBody>
      </p:sp>
      <p:sp>
        <p:nvSpPr>
          <p:cNvPr id="16" name="Shape 13"/>
          <p:cNvSpPr/>
          <p:nvPr/>
        </p:nvSpPr>
        <p:spPr>
          <a:xfrm>
            <a:off x="822960" y="5184648"/>
            <a:ext cx="109728" cy="109728"/>
          </a:xfrm>
          <a:prstGeom prst="ellipse">
            <a:avLst/>
          </a:prstGeom>
          <a:solidFill>
            <a:srgbClr val="F2A900"/>
          </a:solidFill>
          <a:ln/>
        </p:spPr>
      </p:sp>
      <p:sp>
        <p:nvSpPr>
          <p:cNvPr id="17" name="Text 14"/>
          <p:cNvSpPr/>
          <p:nvPr/>
        </p:nvSpPr>
        <p:spPr>
          <a:xfrm>
            <a:off x="1051560" y="5065776"/>
            <a:ext cx="4800600" cy="365760"/>
          </a:xfrm>
          <a:prstGeom prst="rect">
            <a:avLst/>
          </a:prstGeom>
          <a:noFill/>
          <a:ln/>
        </p:spPr>
        <p:txBody>
          <a:bodyPr wrap="square" rtlCol="0" anchor="ctr"/>
          <a:lstStyle/>
          <a:p>
            <a:pPr marL="0" indent="0">
              <a:buNone/>
            </a:pPr>
            <a:r>
              <a:rPr lang="en-US" sz="1250" dirty="0">
                <a:solidFill>
                  <a:srgbClr val="5B6270"/>
                </a:solidFill>
                <a:latin typeface="Calibri" pitchFamily="34" charset="0"/>
                <a:ea typeface="Calibri" pitchFamily="34" charset="-122"/>
                <a:cs typeface="Calibri" pitchFamily="34" charset="-120"/>
              </a:rPr>
              <a:t>Works across many app instances, not just one machine</a:t>
            </a:r>
            <a:endParaRPr lang="en-US" sz="1250" dirty="0"/>
          </a:p>
        </p:txBody>
      </p:sp>
      <p:sp>
        <p:nvSpPr>
          <p:cNvPr id="18" name="Shape 15"/>
          <p:cNvSpPr/>
          <p:nvPr/>
        </p:nvSpPr>
        <p:spPr>
          <a:xfrm>
            <a:off x="6355080" y="1783080"/>
            <a:ext cx="5257800" cy="4343400"/>
          </a:xfrm>
          <a:prstGeom prst="roundRect">
            <a:avLst>
              <a:gd name="adj" fmla="val 1684"/>
            </a:avLst>
          </a:prstGeom>
          <a:solidFill>
            <a:srgbClr val="1B1F27"/>
          </a:solidFill>
          <a:ln/>
        </p:spPr>
      </p:sp>
      <p:sp>
        <p:nvSpPr>
          <p:cNvPr id="19" name="Text 16"/>
          <p:cNvSpPr/>
          <p:nvPr/>
        </p:nvSpPr>
        <p:spPr>
          <a:xfrm>
            <a:off x="6629400" y="1965960"/>
            <a:ext cx="4754880" cy="274320"/>
          </a:xfrm>
          <a:prstGeom prst="rect">
            <a:avLst/>
          </a:prstGeom>
          <a:noFill/>
          <a:ln/>
        </p:spPr>
        <p:txBody>
          <a:bodyPr wrap="square" rtlCol="0" anchor="ctr"/>
          <a:lstStyle/>
          <a:p>
            <a:pPr marL="0" indent="0">
              <a:buNone/>
            </a:pPr>
            <a:r>
              <a:rPr lang="en-US" sz="1200" b="1" kern="0" spc="100" dirty="0">
                <a:solidFill>
                  <a:srgbClr val="F2A900"/>
                </a:solidFill>
                <a:latin typeface="Calibri" pitchFamily="34" charset="0"/>
                <a:ea typeface="Calibri" pitchFamily="34" charset="-122"/>
                <a:cs typeface="Calibri" pitchFamily="34" charset="-120"/>
              </a:rPr>
              <a:t>REAL-WORLD USAGE</a:t>
            </a:r>
            <a:endParaRPr lang="en-US" sz="1200" dirty="0"/>
          </a:p>
        </p:txBody>
      </p:sp>
      <p:sp>
        <p:nvSpPr>
          <p:cNvPr id="20" name="Text 17"/>
          <p:cNvSpPr/>
          <p:nvPr/>
        </p:nvSpPr>
        <p:spPr>
          <a:xfrm>
            <a:off x="6629400" y="2286000"/>
            <a:ext cx="4754880" cy="502920"/>
          </a:xfrm>
          <a:prstGeom prst="rect">
            <a:avLst/>
          </a:prstGeom>
          <a:noFill/>
          <a:ln/>
        </p:spPr>
        <p:txBody>
          <a:bodyPr wrap="square"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Preventing duplicate order processing</a:t>
            </a:r>
            <a:endParaRPr lang="en-US" sz="1900" dirty="0"/>
          </a:p>
        </p:txBody>
      </p:sp>
      <p:sp>
        <p:nvSpPr>
          <p:cNvPr id="21" name="Text 18"/>
          <p:cNvSpPr/>
          <p:nvPr/>
        </p:nvSpPr>
        <p:spPr>
          <a:xfrm>
            <a:off x="6629400" y="2880360"/>
            <a:ext cx="4754880" cy="3017520"/>
          </a:xfrm>
          <a:prstGeom prst="rect">
            <a:avLst/>
          </a:prstGeom>
          <a:noFill/>
          <a:ln/>
        </p:spPr>
        <p:txBody>
          <a:bodyPr wrap="square" rtlCol="0" anchor="t"/>
          <a:lstStyle/>
          <a:p>
            <a:pPr marL="0" indent="0">
              <a:buNone/>
            </a:pPr>
            <a:r>
              <a:rPr lang="en-US" sz="1300" dirty="0">
                <a:solidFill>
                  <a:srgbClr val="C9CDD3"/>
                </a:solidFill>
                <a:latin typeface="Calibri" pitchFamily="34" charset="0"/>
                <a:ea typeface="Calibri" pitchFamily="34" charset="-122"/>
                <a:cs typeface="Calibri" pitchFamily="34" charset="-120"/>
              </a:rPr>
              <a:t>In e-commerce and payment systems, a distributed lock in Redis ensures that when an order is being fulfilled or an inventory count is decremented, only one worker process handles it — avoiding double charges or overselling stock.</a:t>
            </a:r>
            <a:endParaRPr lang="en-US" sz="1300" dirty="0"/>
          </a:p>
        </p:txBody>
      </p:sp>
      <p:sp>
        <p:nvSpPr>
          <p:cNvPr id="22" name="Text 19"/>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5B6270"/>
                </a:solidFill>
                <a:latin typeface="Calibri" pitchFamily="34" charset="0"/>
                <a:ea typeface="Calibri" pitchFamily="34" charset="-122"/>
                <a:cs typeface="Calibri" pitchFamily="34" charset="-120"/>
              </a:rPr>
              <a:t>Capabilities of Redis</a:t>
            </a:r>
            <a:endParaRPr lang="en-US" sz="1000" dirty="0"/>
          </a:p>
        </p:txBody>
      </p:sp>
      <p:sp>
        <p:nvSpPr>
          <p:cNvPr id="23" name="Text 20"/>
          <p:cNvSpPr/>
          <p:nvPr/>
        </p:nvSpPr>
        <p:spPr>
          <a:xfrm>
            <a:off x="11247120" y="6537960"/>
            <a:ext cx="457200" cy="274320"/>
          </a:xfrm>
          <a:prstGeom prst="rect">
            <a:avLst/>
          </a:prstGeom>
          <a:noFill/>
          <a:ln/>
        </p:spPr>
        <p:txBody>
          <a:bodyPr wrap="square"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DC382D"/>
          </a:solidFill>
          <a:ln/>
        </p:spPr>
      </p:sp>
      <p:pic>
        <p:nvPicPr>
          <p:cNvPr id="3" name="Image 0" descr="icons/compare_red.png"/>
          <p:cNvPicPr>
            <a:picLocks noChangeAspect="1"/>
          </p:cNvPicPr>
          <p:nvPr/>
        </p:nvPicPr>
        <p:blipFill>
          <a:blip r:embed="rId3"/>
          <a:stretch>
            <a:fillRect/>
          </a:stretch>
        </p:blipFill>
        <p:spPr>
          <a:xfrm>
            <a:off x="694944" y="649224"/>
            <a:ext cx="274320" cy="274320"/>
          </a:xfrm>
          <a:prstGeom prst="rect">
            <a:avLst/>
          </a:prstGeom>
        </p:spPr>
      </p:pic>
      <p:sp>
        <p:nvSpPr>
          <p:cNvPr id="4" name="Text 1"/>
          <p:cNvSpPr/>
          <p:nvPr/>
        </p:nvSpPr>
        <p:spPr>
          <a:xfrm>
            <a:off x="1280160" y="457200"/>
            <a:ext cx="7315200" cy="274320"/>
          </a:xfrm>
          <a:prstGeom prst="rect">
            <a:avLst/>
          </a:prstGeom>
          <a:noFill/>
          <a:ln/>
        </p:spPr>
        <p:txBody>
          <a:bodyPr wrap="square" rtlCol="0" anchor="ctr"/>
          <a:lstStyle/>
          <a:p>
            <a:pPr marL="0" indent="0">
              <a:buNone/>
            </a:pPr>
            <a:r>
              <a:rPr lang="en-US" sz="1300" b="1" kern="0" spc="200" dirty="0">
                <a:solidFill>
                  <a:srgbClr val="DC382D"/>
                </a:solidFill>
                <a:latin typeface="Calibri" pitchFamily="34" charset="0"/>
                <a:ea typeface="Calibri" pitchFamily="34" charset="-122"/>
                <a:cs typeface="Calibri" pitchFamily="34" charset="-120"/>
              </a:rPr>
              <a:t>ALTERNATIVES · 01</a:t>
            </a:r>
            <a:endParaRPr lang="en-US" sz="1300" dirty="0"/>
          </a:p>
        </p:txBody>
      </p:sp>
      <p:sp>
        <p:nvSpPr>
          <p:cNvPr id="5" name="Text 2"/>
          <p:cNvSpPr/>
          <p:nvPr/>
        </p:nvSpPr>
        <p:spPr>
          <a:xfrm>
            <a:off x="1280160" y="713232"/>
            <a:ext cx="10241280" cy="548640"/>
          </a:xfrm>
          <a:prstGeom prst="rect">
            <a:avLst/>
          </a:prstGeom>
          <a:noFill/>
          <a:ln/>
        </p:spPr>
        <p:txBody>
          <a:bodyPr wrap="square" rtlCol="0" anchor="ctr"/>
          <a:lstStyle/>
          <a:p>
            <a:pPr marL="0" indent="0">
              <a:buNone/>
            </a:pPr>
            <a:r>
              <a:rPr lang="en-US" sz="2800" b="1" dirty="0">
                <a:solidFill>
                  <a:srgbClr val="1B1F27"/>
                </a:solidFill>
                <a:latin typeface="Cambria" pitchFamily="34" charset="0"/>
                <a:ea typeface="Cambria" pitchFamily="34" charset="-122"/>
                <a:cs typeface="Cambria" pitchFamily="34" charset="-120"/>
              </a:rPr>
              <a:t>How Redis stacks up</a:t>
            </a:r>
            <a:endParaRPr lang="en-US" sz="2800" dirty="0"/>
          </a:p>
        </p:txBody>
      </p:sp>
      <p:sp>
        <p:nvSpPr>
          <p:cNvPr id="6" name="Shape 3"/>
          <p:cNvSpPr/>
          <p:nvPr/>
        </p:nvSpPr>
        <p:spPr>
          <a:xfrm>
            <a:off x="457200" y="1737360"/>
            <a:ext cx="1691640" cy="502920"/>
          </a:xfrm>
          <a:prstGeom prst="roundRect">
            <a:avLst>
              <a:gd name="adj" fmla="val 9091"/>
            </a:avLst>
          </a:prstGeom>
          <a:solidFill>
            <a:srgbClr val="FFFFFF"/>
          </a:solidFill>
          <a:ln/>
        </p:spPr>
      </p:sp>
      <p:sp>
        <p:nvSpPr>
          <p:cNvPr id="7" name="Shape 4"/>
          <p:cNvSpPr/>
          <p:nvPr/>
        </p:nvSpPr>
        <p:spPr>
          <a:xfrm>
            <a:off x="2148840" y="1737360"/>
            <a:ext cx="1892808" cy="502920"/>
          </a:xfrm>
          <a:prstGeom prst="roundRect">
            <a:avLst>
              <a:gd name="adj" fmla="val 9091"/>
            </a:avLst>
          </a:prstGeom>
          <a:solidFill>
            <a:srgbClr val="DC382D"/>
          </a:solidFill>
          <a:ln/>
        </p:spPr>
      </p:sp>
      <p:sp>
        <p:nvSpPr>
          <p:cNvPr id="8" name="Text 5"/>
          <p:cNvSpPr/>
          <p:nvPr/>
        </p:nvSpPr>
        <p:spPr>
          <a:xfrm>
            <a:off x="2148840" y="1737360"/>
            <a:ext cx="1892808" cy="502920"/>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Redis</a:t>
            </a:r>
            <a:endParaRPr lang="en-US" sz="1300" dirty="0"/>
          </a:p>
        </p:txBody>
      </p:sp>
      <p:sp>
        <p:nvSpPr>
          <p:cNvPr id="9" name="Shape 6"/>
          <p:cNvSpPr/>
          <p:nvPr/>
        </p:nvSpPr>
        <p:spPr>
          <a:xfrm>
            <a:off x="4114800" y="1737360"/>
            <a:ext cx="1892808" cy="502920"/>
          </a:xfrm>
          <a:prstGeom prst="roundRect">
            <a:avLst>
              <a:gd name="adj" fmla="val 9091"/>
            </a:avLst>
          </a:prstGeom>
          <a:solidFill>
            <a:srgbClr val="1B1F27"/>
          </a:solidFill>
          <a:ln/>
        </p:spPr>
      </p:sp>
      <p:sp>
        <p:nvSpPr>
          <p:cNvPr id="10" name="Text 7"/>
          <p:cNvSpPr/>
          <p:nvPr/>
        </p:nvSpPr>
        <p:spPr>
          <a:xfrm>
            <a:off x="4114800" y="1737360"/>
            <a:ext cx="1892808" cy="502920"/>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Memcached</a:t>
            </a:r>
            <a:endParaRPr lang="en-US" sz="1300" dirty="0"/>
          </a:p>
        </p:txBody>
      </p:sp>
      <p:sp>
        <p:nvSpPr>
          <p:cNvPr id="11" name="Shape 8"/>
          <p:cNvSpPr/>
          <p:nvPr/>
        </p:nvSpPr>
        <p:spPr>
          <a:xfrm>
            <a:off x="6080760" y="1737360"/>
            <a:ext cx="1892808" cy="502920"/>
          </a:xfrm>
          <a:prstGeom prst="roundRect">
            <a:avLst>
              <a:gd name="adj" fmla="val 9091"/>
            </a:avLst>
          </a:prstGeom>
          <a:solidFill>
            <a:srgbClr val="1B1F27"/>
          </a:solidFill>
          <a:ln/>
        </p:spPr>
      </p:sp>
      <p:sp>
        <p:nvSpPr>
          <p:cNvPr id="12" name="Text 9"/>
          <p:cNvSpPr/>
          <p:nvPr/>
        </p:nvSpPr>
        <p:spPr>
          <a:xfrm>
            <a:off x="6080760" y="1737360"/>
            <a:ext cx="1892808" cy="502920"/>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Valkey</a:t>
            </a:r>
            <a:endParaRPr lang="en-US" sz="1300" dirty="0"/>
          </a:p>
        </p:txBody>
      </p:sp>
      <p:sp>
        <p:nvSpPr>
          <p:cNvPr id="13" name="Shape 10"/>
          <p:cNvSpPr/>
          <p:nvPr/>
        </p:nvSpPr>
        <p:spPr>
          <a:xfrm>
            <a:off x="8046720" y="1737360"/>
            <a:ext cx="1892808" cy="502920"/>
          </a:xfrm>
          <a:prstGeom prst="roundRect">
            <a:avLst>
              <a:gd name="adj" fmla="val 9091"/>
            </a:avLst>
          </a:prstGeom>
          <a:solidFill>
            <a:srgbClr val="1B1F27"/>
          </a:solidFill>
          <a:ln/>
        </p:spPr>
      </p:sp>
      <p:sp>
        <p:nvSpPr>
          <p:cNvPr id="14" name="Text 11"/>
          <p:cNvSpPr/>
          <p:nvPr/>
        </p:nvSpPr>
        <p:spPr>
          <a:xfrm>
            <a:off x="8046720" y="1737360"/>
            <a:ext cx="1892808" cy="502920"/>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Dragonfly</a:t>
            </a:r>
            <a:endParaRPr lang="en-US" sz="1300" dirty="0"/>
          </a:p>
        </p:txBody>
      </p:sp>
      <p:sp>
        <p:nvSpPr>
          <p:cNvPr id="15" name="Shape 12"/>
          <p:cNvSpPr/>
          <p:nvPr/>
        </p:nvSpPr>
        <p:spPr>
          <a:xfrm>
            <a:off x="10012680" y="1737360"/>
            <a:ext cx="1892808" cy="502920"/>
          </a:xfrm>
          <a:prstGeom prst="roundRect">
            <a:avLst>
              <a:gd name="adj" fmla="val 9091"/>
            </a:avLst>
          </a:prstGeom>
          <a:solidFill>
            <a:srgbClr val="1B1F27"/>
          </a:solidFill>
          <a:ln/>
        </p:spPr>
      </p:sp>
      <p:sp>
        <p:nvSpPr>
          <p:cNvPr id="16" name="Text 13"/>
          <p:cNvSpPr/>
          <p:nvPr/>
        </p:nvSpPr>
        <p:spPr>
          <a:xfrm>
            <a:off x="10012680" y="1737360"/>
            <a:ext cx="1892808" cy="502920"/>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Hazelcast</a:t>
            </a:r>
            <a:endParaRPr lang="en-US" sz="1300" dirty="0"/>
          </a:p>
        </p:txBody>
      </p:sp>
      <p:sp>
        <p:nvSpPr>
          <p:cNvPr id="17" name="Shape 14"/>
          <p:cNvSpPr/>
          <p:nvPr/>
        </p:nvSpPr>
        <p:spPr>
          <a:xfrm>
            <a:off x="457200" y="2313432"/>
            <a:ext cx="1691640" cy="841248"/>
          </a:xfrm>
          <a:prstGeom prst="rect">
            <a:avLst/>
          </a:prstGeom>
          <a:solidFill>
            <a:srgbClr val="F7F7F7"/>
          </a:solidFill>
          <a:ln/>
        </p:spPr>
      </p:sp>
      <p:sp>
        <p:nvSpPr>
          <p:cNvPr id="18" name="Text 15"/>
          <p:cNvSpPr/>
          <p:nvPr/>
        </p:nvSpPr>
        <p:spPr>
          <a:xfrm>
            <a:off x="530352" y="2313432"/>
            <a:ext cx="1545336" cy="841248"/>
          </a:xfrm>
          <a:prstGeom prst="rect">
            <a:avLst/>
          </a:prstGeom>
          <a:noFill/>
          <a:ln/>
        </p:spPr>
        <p:txBody>
          <a:bodyPr wrap="square" rtlCol="0" anchor="ctr"/>
          <a:lstStyle/>
          <a:p>
            <a:pPr marL="0" indent="0">
              <a:buNone/>
            </a:pPr>
            <a:r>
              <a:rPr lang="en-US" sz="1100" b="1" dirty="0">
                <a:solidFill>
                  <a:srgbClr val="1B1F27"/>
                </a:solidFill>
                <a:latin typeface="Calibri" pitchFamily="34" charset="0"/>
                <a:ea typeface="Calibri" pitchFamily="34" charset="-122"/>
                <a:cs typeface="Calibri" pitchFamily="34" charset="-120"/>
              </a:rPr>
              <a:t>Data structures</a:t>
            </a:r>
            <a:endParaRPr lang="en-US" sz="1100" dirty="0"/>
          </a:p>
        </p:txBody>
      </p:sp>
      <p:sp>
        <p:nvSpPr>
          <p:cNvPr id="19" name="Shape 16"/>
          <p:cNvSpPr/>
          <p:nvPr/>
        </p:nvSpPr>
        <p:spPr>
          <a:xfrm>
            <a:off x="2148840" y="2313432"/>
            <a:ext cx="1892808" cy="841248"/>
          </a:xfrm>
          <a:prstGeom prst="rect">
            <a:avLst/>
          </a:prstGeom>
          <a:solidFill>
            <a:srgbClr val="F7F7F7"/>
          </a:solidFill>
          <a:ln/>
        </p:spPr>
      </p:sp>
      <p:sp>
        <p:nvSpPr>
          <p:cNvPr id="20" name="Text 17"/>
          <p:cNvSpPr/>
          <p:nvPr/>
        </p:nvSpPr>
        <p:spPr>
          <a:xfrm>
            <a:off x="2203704" y="2313432"/>
            <a:ext cx="1783080" cy="841248"/>
          </a:xfrm>
          <a:prstGeom prst="rect">
            <a:avLst/>
          </a:prstGeom>
          <a:noFill/>
          <a:ln/>
        </p:spPr>
        <p:txBody>
          <a:bodyPr wrap="square" rtlCol="0" anchor="ctr"/>
          <a:lstStyle/>
          <a:p>
            <a:pPr marL="0" indent="0" algn="ctr">
              <a:buNone/>
            </a:pPr>
            <a:r>
              <a:rPr lang="en-US" sz="970" dirty="0">
                <a:solidFill>
                  <a:srgbClr val="5B6270"/>
                </a:solidFill>
                <a:latin typeface="Calibri" pitchFamily="34" charset="0"/>
                <a:ea typeface="Calibri" pitchFamily="34" charset="-122"/>
                <a:cs typeface="Calibri" pitchFamily="34" charset="-120"/>
              </a:rPr>
              <a:t>Rich (strings, lists, sets,</a:t>
            </a:r>
            <a:endParaRPr lang="en-US" sz="970" dirty="0"/>
          </a:p>
          <a:p>
            <a:pPr marL="0" indent="0" algn="ctr">
              <a:buNone/>
            </a:pPr>
            <a:r>
              <a:rPr lang="en-US" sz="970" dirty="0">
                <a:solidFill>
                  <a:srgbClr val="5B6270"/>
                </a:solidFill>
                <a:latin typeface="Calibri" pitchFamily="34" charset="0"/>
                <a:ea typeface="Calibri" pitchFamily="34" charset="-122"/>
                <a:cs typeface="Calibri" pitchFamily="34" charset="-120"/>
              </a:rPr>
              <a:t>sorted sets, streams)</a:t>
            </a:r>
            <a:endParaRPr lang="en-US" sz="970" dirty="0"/>
          </a:p>
        </p:txBody>
      </p:sp>
      <p:sp>
        <p:nvSpPr>
          <p:cNvPr id="21" name="Shape 18"/>
          <p:cNvSpPr/>
          <p:nvPr/>
        </p:nvSpPr>
        <p:spPr>
          <a:xfrm>
            <a:off x="4114800" y="2313432"/>
            <a:ext cx="1892808" cy="841248"/>
          </a:xfrm>
          <a:prstGeom prst="rect">
            <a:avLst/>
          </a:prstGeom>
          <a:solidFill>
            <a:srgbClr val="F7F7F7"/>
          </a:solidFill>
          <a:ln/>
        </p:spPr>
      </p:sp>
      <p:sp>
        <p:nvSpPr>
          <p:cNvPr id="22" name="Text 19"/>
          <p:cNvSpPr/>
          <p:nvPr/>
        </p:nvSpPr>
        <p:spPr>
          <a:xfrm>
            <a:off x="4169664" y="2313432"/>
            <a:ext cx="1783080" cy="841248"/>
          </a:xfrm>
          <a:prstGeom prst="rect">
            <a:avLst/>
          </a:prstGeom>
          <a:noFill/>
          <a:ln/>
        </p:spPr>
        <p:txBody>
          <a:bodyPr wrap="square" rtlCol="0" anchor="ctr"/>
          <a:lstStyle/>
          <a:p>
            <a:pPr marL="0" indent="0" algn="ctr">
              <a:buNone/>
            </a:pPr>
            <a:r>
              <a:rPr lang="en-US" sz="970" dirty="0">
                <a:solidFill>
                  <a:srgbClr val="5B6270"/>
                </a:solidFill>
                <a:latin typeface="Calibri" pitchFamily="34" charset="0"/>
                <a:ea typeface="Calibri" pitchFamily="34" charset="-122"/>
                <a:cs typeface="Calibri" pitchFamily="34" charset="-120"/>
              </a:rPr>
              <a:t>Strings only</a:t>
            </a:r>
            <a:endParaRPr lang="en-US" sz="970" dirty="0"/>
          </a:p>
        </p:txBody>
      </p:sp>
      <p:sp>
        <p:nvSpPr>
          <p:cNvPr id="23" name="Shape 20"/>
          <p:cNvSpPr/>
          <p:nvPr/>
        </p:nvSpPr>
        <p:spPr>
          <a:xfrm>
            <a:off x="6080760" y="2313432"/>
            <a:ext cx="1892808" cy="841248"/>
          </a:xfrm>
          <a:prstGeom prst="rect">
            <a:avLst/>
          </a:prstGeom>
          <a:solidFill>
            <a:srgbClr val="F7F7F7"/>
          </a:solidFill>
          <a:ln/>
        </p:spPr>
      </p:sp>
      <p:sp>
        <p:nvSpPr>
          <p:cNvPr id="24" name="Text 21"/>
          <p:cNvSpPr/>
          <p:nvPr/>
        </p:nvSpPr>
        <p:spPr>
          <a:xfrm>
            <a:off x="6135624" y="2313432"/>
            <a:ext cx="1783080" cy="841248"/>
          </a:xfrm>
          <a:prstGeom prst="rect">
            <a:avLst/>
          </a:prstGeom>
          <a:noFill/>
          <a:ln/>
        </p:spPr>
        <p:txBody>
          <a:bodyPr wrap="square" rtlCol="0" anchor="ctr"/>
          <a:lstStyle/>
          <a:p>
            <a:pPr marL="0" indent="0" algn="ctr">
              <a:buNone/>
            </a:pPr>
            <a:r>
              <a:rPr lang="en-US" sz="970" dirty="0">
                <a:solidFill>
                  <a:srgbClr val="5B6270"/>
                </a:solidFill>
                <a:latin typeface="Calibri" pitchFamily="34" charset="0"/>
                <a:ea typeface="Calibri" pitchFamily="34" charset="-122"/>
                <a:cs typeface="Calibri" pitchFamily="34" charset="-120"/>
              </a:rPr>
              <a:t>Same as Redis</a:t>
            </a:r>
            <a:endParaRPr lang="en-US" sz="970" dirty="0"/>
          </a:p>
          <a:p>
            <a:pPr marL="0" indent="0" algn="ctr">
              <a:buNone/>
            </a:pPr>
            <a:r>
              <a:rPr lang="en-US" sz="970" dirty="0">
                <a:solidFill>
                  <a:srgbClr val="5B6270"/>
                </a:solidFill>
                <a:latin typeface="Calibri" pitchFamily="34" charset="0"/>
                <a:ea typeface="Calibri" pitchFamily="34" charset="-122"/>
                <a:cs typeface="Calibri" pitchFamily="34" charset="-120"/>
              </a:rPr>
              <a:t>(fork)</a:t>
            </a:r>
            <a:endParaRPr lang="en-US" sz="970" dirty="0"/>
          </a:p>
        </p:txBody>
      </p:sp>
      <p:sp>
        <p:nvSpPr>
          <p:cNvPr id="25" name="Shape 22"/>
          <p:cNvSpPr/>
          <p:nvPr/>
        </p:nvSpPr>
        <p:spPr>
          <a:xfrm>
            <a:off x="8046720" y="2313432"/>
            <a:ext cx="1892808" cy="841248"/>
          </a:xfrm>
          <a:prstGeom prst="rect">
            <a:avLst/>
          </a:prstGeom>
          <a:solidFill>
            <a:srgbClr val="F7F7F7"/>
          </a:solidFill>
          <a:ln/>
        </p:spPr>
      </p:sp>
      <p:sp>
        <p:nvSpPr>
          <p:cNvPr id="26" name="Text 23"/>
          <p:cNvSpPr/>
          <p:nvPr/>
        </p:nvSpPr>
        <p:spPr>
          <a:xfrm>
            <a:off x="8101584" y="2313432"/>
            <a:ext cx="1783080" cy="841248"/>
          </a:xfrm>
          <a:prstGeom prst="rect">
            <a:avLst/>
          </a:prstGeom>
          <a:noFill/>
          <a:ln/>
        </p:spPr>
        <p:txBody>
          <a:bodyPr wrap="square" rtlCol="0" anchor="ctr"/>
          <a:lstStyle/>
          <a:p>
            <a:pPr marL="0" indent="0" algn="ctr">
              <a:buNone/>
            </a:pPr>
            <a:r>
              <a:rPr lang="en-US" sz="970" dirty="0">
                <a:solidFill>
                  <a:srgbClr val="5B6270"/>
                </a:solidFill>
                <a:latin typeface="Calibri" pitchFamily="34" charset="0"/>
                <a:ea typeface="Calibri" pitchFamily="34" charset="-122"/>
                <a:cs typeface="Calibri" pitchFamily="34" charset="-120"/>
              </a:rPr>
              <a:t>Redis-compatible</a:t>
            </a:r>
            <a:endParaRPr lang="en-US" sz="970" dirty="0"/>
          </a:p>
          <a:p>
            <a:pPr marL="0" indent="0" algn="ctr">
              <a:buNone/>
            </a:pPr>
            <a:r>
              <a:rPr lang="en-US" sz="970" dirty="0">
                <a:solidFill>
                  <a:srgbClr val="5B6270"/>
                </a:solidFill>
                <a:latin typeface="Calibri" pitchFamily="34" charset="0"/>
                <a:ea typeface="Calibri" pitchFamily="34" charset="-122"/>
                <a:cs typeface="Calibri" pitchFamily="34" charset="-120"/>
              </a:rPr>
              <a:t>(RESP protocol)</a:t>
            </a:r>
            <a:endParaRPr lang="en-US" sz="970" dirty="0"/>
          </a:p>
        </p:txBody>
      </p:sp>
      <p:sp>
        <p:nvSpPr>
          <p:cNvPr id="27" name="Shape 24"/>
          <p:cNvSpPr/>
          <p:nvPr/>
        </p:nvSpPr>
        <p:spPr>
          <a:xfrm>
            <a:off x="10012680" y="2313432"/>
            <a:ext cx="1892808" cy="841248"/>
          </a:xfrm>
          <a:prstGeom prst="rect">
            <a:avLst/>
          </a:prstGeom>
          <a:solidFill>
            <a:srgbClr val="F7F7F7"/>
          </a:solidFill>
          <a:ln/>
        </p:spPr>
      </p:sp>
      <p:sp>
        <p:nvSpPr>
          <p:cNvPr id="28" name="Text 25"/>
          <p:cNvSpPr/>
          <p:nvPr/>
        </p:nvSpPr>
        <p:spPr>
          <a:xfrm>
            <a:off x="10067544" y="2313432"/>
            <a:ext cx="1783080" cy="841248"/>
          </a:xfrm>
          <a:prstGeom prst="rect">
            <a:avLst/>
          </a:prstGeom>
          <a:noFill/>
          <a:ln/>
        </p:spPr>
        <p:txBody>
          <a:bodyPr wrap="square" rtlCol="0" anchor="ctr"/>
          <a:lstStyle/>
          <a:p>
            <a:pPr marL="0" indent="0" algn="ctr">
              <a:buNone/>
            </a:pPr>
            <a:r>
              <a:rPr lang="en-US" sz="970" dirty="0">
                <a:solidFill>
                  <a:srgbClr val="5B6270"/>
                </a:solidFill>
                <a:latin typeface="Calibri" pitchFamily="34" charset="0"/>
                <a:ea typeface="Calibri" pitchFamily="34" charset="-122"/>
                <a:cs typeface="Calibri" pitchFamily="34" charset="-120"/>
              </a:rPr>
              <a:t>Rich (Java objects,</a:t>
            </a:r>
            <a:endParaRPr lang="en-US" sz="970" dirty="0"/>
          </a:p>
          <a:p>
            <a:pPr marL="0" indent="0" algn="ctr">
              <a:buNone/>
            </a:pPr>
            <a:r>
              <a:rPr lang="en-US" sz="970" dirty="0">
                <a:solidFill>
                  <a:srgbClr val="5B6270"/>
                </a:solidFill>
                <a:latin typeface="Calibri" pitchFamily="34" charset="0"/>
                <a:ea typeface="Calibri" pitchFamily="34" charset="-122"/>
                <a:cs typeface="Calibri" pitchFamily="34" charset="-120"/>
              </a:rPr>
              <a:t>maps, queues)</a:t>
            </a:r>
            <a:endParaRPr lang="en-US" sz="970" dirty="0"/>
          </a:p>
        </p:txBody>
      </p:sp>
      <p:sp>
        <p:nvSpPr>
          <p:cNvPr id="29" name="Shape 26"/>
          <p:cNvSpPr/>
          <p:nvPr/>
        </p:nvSpPr>
        <p:spPr>
          <a:xfrm>
            <a:off x="457200" y="3209544"/>
            <a:ext cx="1691640" cy="841248"/>
          </a:xfrm>
          <a:prstGeom prst="rect">
            <a:avLst/>
          </a:prstGeom>
          <a:solidFill>
            <a:srgbClr val="FFFFFF"/>
          </a:solidFill>
          <a:ln/>
        </p:spPr>
      </p:sp>
      <p:sp>
        <p:nvSpPr>
          <p:cNvPr id="30" name="Text 27"/>
          <p:cNvSpPr/>
          <p:nvPr/>
        </p:nvSpPr>
        <p:spPr>
          <a:xfrm>
            <a:off x="530352" y="3209544"/>
            <a:ext cx="1545336" cy="841248"/>
          </a:xfrm>
          <a:prstGeom prst="rect">
            <a:avLst/>
          </a:prstGeom>
          <a:noFill/>
          <a:ln/>
        </p:spPr>
        <p:txBody>
          <a:bodyPr wrap="square" rtlCol="0" anchor="ctr"/>
          <a:lstStyle/>
          <a:p>
            <a:pPr marL="0" indent="0">
              <a:buNone/>
            </a:pPr>
            <a:r>
              <a:rPr lang="en-US" sz="1100" b="1" dirty="0">
                <a:solidFill>
                  <a:srgbClr val="1B1F27"/>
                </a:solidFill>
                <a:latin typeface="Calibri" pitchFamily="34" charset="0"/>
                <a:ea typeface="Calibri" pitchFamily="34" charset="-122"/>
                <a:cs typeface="Calibri" pitchFamily="34" charset="-120"/>
              </a:rPr>
              <a:t>Persistence</a:t>
            </a:r>
            <a:endParaRPr lang="en-US" sz="1100" dirty="0"/>
          </a:p>
        </p:txBody>
      </p:sp>
      <p:sp>
        <p:nvSpPr>
          <p:cNvPr id="31" name="Shape 28"/>
          <p:cNvSpPr/>
          <p:nvPr/>
        </p:nvSpPr>
        <p:spPr>
          <a:xfrm>
            <a:off x="2148840" y="3209544"/>
            <a:ext cx="1892808" cy="841248"/>
          </a:xfrm>
          <a:prstGeom prst="rect">
            <a:avLst/>
          </a:prstGeom>
          <a:solidFill>
            <a:srgbClr val="FFFFFF"/>
          </a:solidFill>
          <a:ln/>
        </p:spPr>
      </p:sp>
      <p:sp>
        <p:nvSpPr>
          <p:cNvPr id="32" name="Text 29"/>
          <p:cNvSpPr/>
          <p:nvPr/>
        </p:nvSpPr>
        <p:spPr>
          <a:xfrm>
            <a:off x="2203704" y="3209544"/>
            <a:ext cx="1783080" cy="841248"/>
          </a:xfrm>
          <a:prstGeom prst="rect">
            <a:avLst/>
          </a:prstGeom>
          <a:noFill/>
          <a:ln/>
        </p:spPr>
        <p:txBody>
          <a:bodyPr wrap="square" rtlCol="0" anchor="ctr"/>
          <a:lstStyle/>
          <a:p>
            <a:pPr marL="0" indent="0" algn="ctr">
              <a:buNone/>
            </a:pPr>
            <a:r>
              <a:rPr lang="en-US" sz="970" dirty="0">
                <a:solidFill>
                  <a:srgbClr val="5B6270"/>
                </a:solidFill>
                <a:latin typeface="Calibri" pitchFamily="34" charset="0"/>
                <a:ea typeface="Calibri" pitchFamily="34" charset="-122"/>
                <a:cs typeface="Calibri" pitchFamily="34" charset="-120"/>
              </a:rPr>
              <a:t>Optional (RDB / AOF)</a:t>
            </a:r>
            <a:endParaRPr lang="en-US" sz="970" dirty="0"/>
          </a:p>
        </p:txBody>
      </p:sp>
      <p:sp>
        <p:nvSpPr>
          <p:cNvPr id="33" name="Shape 30"/>
          <p:cNvSpPr/>
          <p:nvPr/>
        </p:nvSpPr>
        <p:spPr>
          <a:xfrm>
            <a:off x="4114800" y="3209544"/>
            <a:ext cx="1892808" cy="841248"/>
          </a:xfrm>
          <a:prstGeom prst="rect">
            <a:avLst/>
          </a:prstGeom>
          <a:solidFill>
            <a:srgbClr val="FFFFFF"/>
          </a:solidFill>
          <a:ln/>
        </p:spPr>
      </p:sp>
      <p:sp>
        <p:nvSpPr>
          <p:cNvPr id="34" name="Text 31"/>
          <p:cNvSpPr/>
          <p:nvPr/>
        </p:nvSpPr>
        <p:spPr>
          <a:xfrm>
            <a:off x="4169664" y="3209544"/>
            <a:ext cx="1783080" cy="841248"/>
          </a:xfrm>
          <a:prstGeom prst="rect">
            <a:avLst/>
          </a:prstGeom>
          <a:noFill/>
          <a:ln/>
        </p:spPr>
        <p:txBody>
          <a:bodyPr wrap="square" rtlCol="0" anchor="ctr"/>
          <a:lstStyle/>
          <a:p>
            <a:pPr marL="0" indent="0" algn="ctr">
              <a:buNone/>
            </a:pPr>
            <a:r>
              <a:rPr lang="en-US" sz="970" dirty="0">
                <a:solidFill>
                  <a:srgbClr val="5B6270"/>
                </a:solidFill>
                <a:latin typeface="Calibri" pitchFamily="34" charset="0"/>
                <a:ea typeface="Calibri" pitchFamily="34" charset="-122"/>
                <a:cs typeface="Calibri" pitchFamily="34" charset="-120"/>
              </a:rPr>
              <a:t>None (pure cache)</a:t>
            </a:r>
            <a:endParaRPr lang="en-US" sz="970" dirty="0"/>
          </a:p>
        </p:txBody>
      </p:sp>
      <p:sp>
        <p:nvSpPr>
          <p:cNvPr id="35" name="Shape 32"/>
          <p:cNvSpPr/>
          <p:nvPr/>
        </p:nvSpPr>
        <p:spPr>
          <a:xfrm>
            <a:off x="6080760" y="3209544"/>
            <a:ext cx="1892808" cy="841248"/>
          </a:xfrm>
          <a:prstGeom prst="rect">
            <a:avLst/>
          </a:prstGeom>
          <a:solidFill>
            <a:srgbClr val="FFFFFF"/>
          </a:solidFill>
          <a:ln/>
        </p:spPr>
      </p:sp>
      <p:sp>
        <p:nvSpPr>
          <p:cNvPr id="36" name="Text 33"/>
          <p:cNvSpPr/>
          <p:nvPr/>
        </p:nvSpPr>
        <p:spPr>
          <a:xfrm>
            <a:off x="6135624" y="3209544"/>
            <a:ext cx="1783080" cy="841248"/>
          </a:xfrm>
          <a:prstGeom prst="rect">
            <a:avLst/>
          </a:prstGeom>
          <a:noFill/>
          <a:ln/>
        </p:spPr>
        <p:txBody>
          <a:bodyPr wrap="square" rtlCol="0" anchor="ctr"/>
          <a:lstStyle/>
          <a:p>
            <a:pPr marL="0" indent="0" algn="ctr">
              <a:buNone/>
            </a:pPr>
            <a:r>
              <a:rPr lang="en-US" sz="970" dirty="0">
                <a:solidFill>
                  <a:srgbClr val="5B6270"/>
                </a:solidFill>
                <a:latin typeface="Calibri" pitchFamily="34" charset="0"/>
                <a:ea typeface="Calibri" pitchFamily="34" charset="-122"/>
                <a:cs typeface="Calibri" pitchFamily="34" charset="-120"/>
              </a:rPr>
              <a:t>Optional (RDB / AOF)</a:t>
            </a:r>
            <a:endParaRPr lang="en-US" sz="970" dirty="0"/>
          </a:p>
        </p:txBody>
      </p:sp>
      <p:sp>
        <p:nvSpPr>
          <p:cNvPr id="37" name="Shape 34"/>
          <p:cNvSpPr/>
          <p:nvPr/>
        </p:nvSpPr>
        <p:spPr>
          <a:xfrm>
            <a:off x="8046720" y="3209544"/>
            <a:ext cx="1892808" cy="841248"/>
          </a:xfrm>
          <a:prstGeom prst="rect">
            <a:avLst/>
          </a:prstGeom>
          <a:solidFill>
            <a:srgbClr val="FFFFFF"/>
          </a:solidFill>
          <a:ln/>
        </p:spPr>
      </p:sp>
      <p:sp>
        <p:nvSpPr>
          <p:cNvPr id="38" name="Text 35"/>
          <p:cNvSpPr/>
          <p:nvPr/>
        </p:nvSpPr>
        <p:spPr>
          <a:xfrm>
            <a:off x="8101584" y="3209544"/>
            <a:ext cx="1783080" cy="841248"/>
          </a:xfrm>
          <a:prstGeom prst="rect">
            <a:avLst/>
          </a:prstGeom>
          <a:noFill/>
          <a:ln/>
        </p:spPr>
        <p:txBody>
          <a:bodyPr wrap="square" rtlCol="0" anchor="ctr"/>
          <a:lstStyle/>
          <a:p>
            <a:pPr marL="0" indent="0" algn="ctr">
              <a:buNone/>
            </a:pPr>
            <a:r>
              <a:rPr lang="en-US" sz="970" dirty="0">
                <a:solidFill>
                  <a:srgbClr val="5B6270"/>
                </a:solidFill>
                <a:latin typeface="Calibri" pitchFamily="34" charset="0"/>
                <a:ea typeface="Calibri" pitchFamily="34" charset="-122"/>
                <a:cs typeface="Calibri" pitchFamily="34" charset="-120"/>
              </a:rPr>
              <a:t>Optional snapshots,</a:t>
            </a:r>
            <a:endParaRPr lang="en-US" sz="970" dirty="0"/>
          </a:p>
          <a:p>
            <a:pPr marL="0" indent="0" algn="ctr">
              <a:buNone/>
            </a:pPr>
            <a:r>
              <a:rPr lang="en-US" sz="970" dirty="0">
                <a:solidFill>
                  <a:srgbClr val="5B6270"/>
                </a:solidFill>
                <a:latin typeface="Calibri" pitchFamily="34" charset="0"/>
                <a:ea typeface="Calibri" pitchFamily="34" charset="-122"/>
                <a:cs typeface="Calibri" pitchFamily="34" charset="-120"/>
              </a:rPr>
              <a:t>no fork-and-copy</a:t>
            </a:r>
            <a:endParaRPr lang="en-US" sz="970" dirty="0"/>
          </a:p>
        </p:txBody>
      </p:sp>
      <p:sp>
        <p:nvSpPr>
          <p:cNvPr id="39" name="Shape 36"/>
          <p:cNvSpPr/>
          <p:nvPr/>
        </p:nvSpPr>
        <p:spPr>
          <a:xfrm>
            <a:off x="10012680" y="3209544"/>
            <a:ext cx="1892808" cy="841248"/>
          </a:xfrm>
          <a:prstGeom prst="rect">
            <a:avLst/>
          </a:prstGeom>
          <a:solidFill>
            <a:srgbClr val="FFFFFF"/>
          </a:solidFill>
          <a:ln/>
        </p:spPr>
      </p:sp>
      <p:sp>
        <p:nvSpPr>
          <p:cNvPr id="40" name="Text 37"/>
          <p:cNvSpPr/>
          <p:nvPr/>
        </p:nvSpPr>
        <p:spPr>
          <a:xfrm>
            <a:off x="10067544" y="3209544"/>
            <a:ext cx="1783080" cy="841248"/>
          </a:xfrm>
          <a:prstGeom prst="rect">
            <a:avLst/>
          </a:prstGeom>
          <a:noFill/>
          <a:ln/>
        </p:spPr>
        <p:txBody>
          <a:bodyPr wrap="square" rtlCol="0" anchor="ctr"/>
          <a:lstStyle/>
          <a:p>
            <a:pPr marL="0" indent="0" algn="ctr">
              <a:buNone/>
            </a:pPr>
            <a:r>
              <a:rPr lang="en-US" sz="970" dirty="0">
                <a:solidFill>
                  <a:srgbClr val="5B6270"/>
                </a:solidFill>
                <a:latin typeface="Calibri" pitchFamily="34" charset="0"/>
                <a:ea typeface="Calibri" pitchFamily="34" charset="-122"/>
                <a:cs typeface="Calibri" pitchFamily="34" charset="-120"/>
              </a:rPr>
              <a:t>Optional</a:t>
            </a:r>
            <a:endParaRPr lang="en-US" sz="970" dirty="0"/>
          </a:p>
        </p:txBody>
      </p:sp>
      <p:sp>
        <p:nvSpPr>
          <p:cNvPr id="41" name="Shape 38"/>
          <p:cNvSpPr/>
          <p:nvPr/>
        </p:nvSpPr>
        <p:spPr>
          <a:xfrm>
            <a:off x="457200" y="4105656"/>
            <a:ext cx="1691640" cy="841248"/>
          </a:xfrm>
          <a:prstGeom prst="rect">
            <a:avLst/>
          </a:prstGeom>
          <a:solidFill>
            <a:srgbClr val="F7F7F7"/>
          </a:solidFill>
          <a:ln/>
        </p:spPr>
      </p:sp>
      <p:sp>
        <p:nvSpPr>
          <p:cNvPr id="42" name="Text 39"/>
          <p:cNvSpPr/>
          <p:nvPr/>
        </p:nvSpPr>
        <p:spPr>
          <a:xfrm>
            <a:off x="530352" y="4105656"/>
            <a:ext cx="1545336" cy="841248"/>
          </a:xfrm>
          <a:prstGeom prst="rect">
            <a:avLst/>
          </a:prstGeom>
          <a:noFill/>
          <a:ln/>
        </p:spPr>
        <p:txBody>
          <a:bodyPr wrap="square" rtlCol="0" anchor="ctr"/>
          <a:lstStyle/>
          <a:p>
            <a:pPr marL="0" indent="0">
              <a:buNone/>
            </a:pPr>
            <a:r>
              <a:rPr lang="en-US" sz="1100" b="1" dirty="0">
                <a:solidFill>
                  <a:srgbClr val="1B1F27"/>
                </a:solidFill>
                <a:latin typeface="Calibri" pitchFamily="34" charset="0"/>
                <a:ea typeface="Calibri" pitchFamily="34" charset="-122"/>
                <a:cs typeface="Calibri" pitchFamily="34" charset="-120"/>
              </a:rPr>
              <a:t>Clustering</a:t>
            </a:r>
            <a:endParaRPr lang="en-US" sz="1100" dirty="0"/>
          </a:p>
        </p:txBody>
      </p:sp>
      <p:sp>
        <p:nvSpPr>
          <p:cNvPr id="43" name="Shape 40"/>
          <p:cNvSpPr/>
          <p:nvPr/>
        </p:nvSpPr>
        <p:spPr>
          <a:xfrm>
            <a:off x="2148840" y="4105656"/>
            <a:ext cx="1892808" cy="841248"/>
          </a:xfrm>
          <a:prstGeom prst="rect">
            <a:avLst/>
          </a:prstGeom>
          <a:solidFill>
            <a:srgbClr val="F7F7F7"/>
          </a:solidFill>
          <a:ln/>
        </p:spPr>
      </p:sp>
      <p:sp>
        <p:nvSpPr>
          <p:cNvPr id="44" name="Text 41"/>
          <p:cNvSpPr/>
          <p:nvPr/>
        </p:nvSpPr>
        <p:spPr>
          <a:xfrm>
            <a:off x="2203704" y="4105656"/>
            <a:ext cx="1783080" cy="841248"/>
          </a:xfrm>
          <a:prstGeom prst="rect">
            <a:avLst/>
          </a:prstGeom>
          <a:noFill/>
          <a:ln/>
        </p:spPr>
        <p:txBody>
          <a:bodyPr wrap="square" rtlCol="0" anchor="ctr"/>
          <a:lstStyle/>
          <a:p>
            <a:pPr marL="0" indent="0" algn="ctr">
              <a:buNone/>
            </a:pPr>
            <a:r>
              <a:rPr lang="en-US" sz="970" dirty="0">
                <a:solidFill>
                  <a:srgbClr val="5B6270"/>
                </a:solidFill>
                <a:latin typeface="Calibri" pitchFamily="34" charset="0"/>
                <a:ea typeface="Calibri" pitchFamily="34" charset="-122"/>
                <a:cs typeface="Calibri" pitchFamily="34" charset="-120"/>
              </a:rPr>
              <a:t>Native (Redis Cluster)</a:t>
            </a:r>
            <a:endParaRPr lang="en-US" sz="970" dirty="0"/>
          </a:p>
        </p:txBody>
      </p:sp>
      <p:sp>
        <p:nvSpPr>
          <p:cNvPr id="45" name="Shape 42"/>
          <p:cNvSpPr/>
          <p:nvPr/>
        </p:nvSpPr>
        <p:spPr>
          <a:xfrm>
            <a:off x="4114800" y="4105656"/>
            <a:ext cx="1892808" cy="841248"/>
          </a:xfrm>
          <a:prstGeom prst="rect">
            <a:avLst/>
          </a:prstGeom>
          <a:solidFill>
            <a:srgbClr val="F7F7F7"/>
          </a:solidFill>
          <a:ln/>
        </p:spPr>
      </p:sp>
      <p:sp>
        <p:nvSpPr>
          <p:cNvPr id="46" name="Text 43"/>
          <p:cNvSpPr/>
          <p:nvPr/>
        </p:nvSpPr>
        <p:spPr>
          <a:xfrm>
            <a:off x="4169664" y="4105656"/>
            <a:ext cx="1783080" cy="841248"/>
          </a:xfrm>
          <a:prstGeom prst="rect">
            <a:avLst/>
          </a:prstGeom>
          <a:noFill/>
          <a:ln/>
        </p:spPr>
        <p:txBody>
          <a:bodyPr wrap="square" rtlCol="0" anchor="ctr"/>
          <a:lstStyle/>
          <a:p>
            <a:pPr marL="0" indent="0" algn="ctr">
              <a:buNone/>
            </a:pPr>
            <a:r>
              <a:rPr lang="en-US" sz="970" dirty="0">
                <a:solidFill>
                  <a:srgbClr val="5B6270"/>
                </a:solidFill>
                <a:latin typeface="Calibri" pitchFamily="34" charset="0"/>
                <a:ea typeface="Calibri" pitchFamily="34" charset="-122"/>
                <a:cs typeface="Calibri" pitchFamily="34" charset="-120"/>
              </a:rPr>
              <a:t>Client-side sharding only</a:t>
            </a:r>
            <a:endParaRPr lang="en-US" sz="970" dirty="0"/>
          </a:p>
        </p:txBody>
      </p:sp>
      <p:sp>
        <p:nvSpPr>
          <p:cNvPr id="47" name="Shape 44"/>
          <p:cNvSpPr/>
          <p:nvPr/>
        </p:nvSpPr>
        <p:spPr>
          <a:xfrm>
            <a:off x="6080760" y="4105656"/>
            <a:ext cx="1892808" cy="841248"/>
          </a:xfrm>
          <a:prstGeom prst="rect">
            <a:avLst/>
          </a:prstGeom>
          <a:solidFill>
            <a:srgbClr val="F7F7F7"/>
          </a:solidFill>
          <a:ln/>
        </p:spPr>
      </p:sp>
      <p:sp>
        <p:nvSpPr>
          <p:cNvPr id="48" name="Text 45"/>
          <p:cNvSpPr/>
          <p:nvPr/>
        </p:nvSpPr>
        <p:spPr>
          <a:xfrm>
            <a:off x="6135624" y="4105656"/>
            <a:ext cx="1783080" cy="841248"/>
          </a:xfrm>
          <a:prstGeom prst="rect">
            <a:avLst/>
          </a:prstGeom>
          <a:noFill/>
          <a:ln/>
        </p:spPr>
        <p:txBody>
          <a:bodyPr wrap="square" rtlCol="0" anchor="ctr"/>
          <a:lstStyle/>
          <a:p>
            <a:pPr marL="0" indent="0" algn="ctr">
              <a:buNone/>
            </a:pPr>
            <a:r>
              <a:rPr lang="en-US" sz="970" dirty="0">
                <a:solidFill>
                  <a:srgbClr val="5B6270"/>
                </a:solidFill>
                <a:latin typeface="Calibri" pitchFamily="34" charset="0"/>
                <a:ea typeface="Calibri" pitchFamily="34" charset="-122"/>
                <a:cs typeface="Calibri" pitchFamily="34" charset="-120"/>
              </a:rPr>
              <a:t>Native, improved</a:t>
            </a:r>
            <a:endParaRPr lang="en-US" sz="970" dirty="0"/>
          </a:p>
          <a:p>
            <a:pPr marL="0" indent="0" algn="ctr">
              <a:buNone/>
            </a:pPr>
            <a:r>
              <a:rPr lang="en-US" sz="970" dirty="0">
                <a:solidFill>
                  <a:srgbClr val="5B6270"/>
                </a:solidFill>
                <a:latin typeface="Calibri" pitchFamily="34" charset="0"/>
                <a:ea typeface="Calibri" pitchFamily="34" charset="-122"/>
                <a:cs typeface="Calibri" pitchFamily="34" charset="-120"/>
              </a:rPr>
              <a:t>slot migration</a:t>
            </a:r>
            <a:endParaRPr lang="en-US" sz="970" dirty="0"/>
          </a:p>
        </p:txBody>
      </p:sp>
      <p:sp>
        <p:nvSpPr>
          <p:cNvPr id="49" name="Shape 46"/>
          <p:cNvSpPr/>
          <p:nvPr/>
        </p:nvSpPr>
        <p:spPr>
          <a:xfrm>
            <a:off x="8046720" y="4105656"/>
            <a:ext cx="1892808" cy="841248"/>
          </a:xfrm>
          <a:prstGeom prst="rect">
            <a:avLst/>
          </a:prstGeom>
          <a:solidFill>
            <a:srgbClr val="F7F7F7"/>
          </a:solidFill>
          <a:ln/>
        </p:spPr>
      </p:sp>
      <p:sp>
        <p:nvSpPr>
          <p:cNvPr id="50" name="Text 47"/>
          <p:cNvSpPr/>
          <p:nvPr/>
        </p:nvSpPr>
        <p:spPr>
          <a:xfrm>
            <a:off x="8101584" y="4105656"/>
            <a:ext cx="1783080" cy="841248"/>
          </a:xfrm>
          <a:prstGeom prst="rect">
            <a:avLst/>
          </a:prstGeom>
          <a:noFill/>
          <a:ln/>
        </p:spPr>
        <p:txBody>
          <a:bodyPr wrap="square" rtlCol="0" anchor="ctr"/>
          <a:lstStyle/>
          <a:p>
            <a:pPr marL="0" indent="0" algn="ctr">
              <a:buNone/>
            </a:pPr>
            <a:r>
              <a:rPr lang="en-US" sz="970" dirty="0">
                <a:solidFill>
                  <a:srgbClr val="5B6270"/>
                </a:solidFill>
                <a:latin typeface="Calibri" pitchFamily="34" charset="0"/>
                <a:ea typeface="Calibri" pitchFamily="34" charset="-122"/>
                <a:cs typeface="Calibri" pitchFamily="34" charset="-120"/>
              </a:rPr>
              <a:t>Single node scales</a:t>
            </a:r>
            <a:endParaRPr lang="en-US" sz="970" dirty="0"/>
          </a:p>
          <a:p>
            <a:pPr marL="0" indent="0" algn="ctr">
              <a:buNone/>
            </a:pPr>
            <a:r>
              <a:rPr lang="en-US" sz="970" dirty="0">
                <a:solidFill>
                  <a:srgbClr val="5B6270"/>
                </a:solidFill>
                <a:latin typeface="Calibri" pitchFamily="34" charset="0"/>
                <a:ea typeface="Calibri" pitchFamily="34" charset="-122"/>
                <a:cs typeface="Calibri" pitchFamily="34" charset="-120"/>
              </a:rPr>
              <a:t>like a cluster (multi-core)</a:t>
            </a:r>
            <a:endParaRPr lang="en-US" sz="970" dirty="0"/>
          </a:p>
        </p:txBody>
      </p:sp>
      <p:sp>
        <p:nvSpPr>
          <p:cNvPr id="51" name="Shape 48"/>
          <p:cNvSpPr/>
          <p:nvPr/>
        </p:nvSpPr>
        <p:spPr>
          <a:xfrm>
            <a:off x="10012680" y="4105656"/>
            <a:ext cx="1892808" cy="841248"/>
          </a:xfrm>
          <a:prstGeom prst="rect">
            <a:avLst/>
          </a:prstGeom>
          <a:solidFill>
            <a:srgbClr val="F7F7F7"/>
          </a:solidFill>
          <a:ln/>
        </p:spPr>
      </p:sp>
      <p:sp>
        <p:nvSpPr>
          <p:cNvPr id="52" name="Text 49"/>
          <p:cNvSpPr/>
          <p:nvPr/>
        </p:nvSpPr>
        <p:spPr>
          <a:xfrm>
            <a:off x="10067544" y="4105656"/>
            <a:ext cx="1783080" cy="841248"/>
          </a:xfrm>
          <a:prstGeom prst="rect">
            <a:avLst/>
          </a:prstGeom>
          <a:noFill/>
          <a:ln/>
        </p:spPr>
        <p:txBody>
          <a:bodyPr wrap="square" rtlCol="0" anchor="ctr"/>
          <a:lstStyle/>
          <a:p>
            <a:pPr marL="0" indent="0" algn="ctr">
              <a:buNone/>
            </a:pPr>
            <a:r>
              <a:rPr lang="en-US" sz="970" dirty="0">
                <a:solidFill>
                  <a:srgbClr val="5B6270"/>
                </a:solidFill>
                <a:latin typeface="Calibri" pitchFamily="34" charset="0"/>
                <a:ea typeface="Calibri" pitchFamily="34" charset="-122"/>
                <a:cs typeface="Calibri" pitchFamily="34" charset="-120"/>
              </a:rPr>
              <a:t>Native, JVM-based</a:t>
            </a:r>
            <a:endParaRPr lang="en-US" sz="970" dirty="0"/>
          </a:p>
        </p:txBody>
      </p:sp>
      <p:sp>
        <p:nvSpPr>
          <p:cNvPr id="53" name="Shape 50"/>
          <p:cNvSpPr/>
          <p:nvPr/>
        </p:nvSpPr>
        <p:spPr>
          <a:xfrm>
            <a:off x="457200" y="5001768"/>
            <a:ext cx="1691640" cy="841248"/>
          </a:xfrm>
          <a:prstGeom prst="rect">
            <a:avLst/>
          </a:prstGeom>
          <a:solidFill>
            <a:srgbClr val="FFFFFF"/>
          </a:solidFill>
          <a:ln/>
        </p:spPr>
      </p:sp>
      <p:sp>
        <p:nvSpPr>
          <p:cNvPr id="54" name="Text 51"/>
          <p:cNvSpPr/>
          <p:nvPr/>
        </p:nvSpPr>
        <p:spPr>
          <a:xfrm>
            <a:off x="530352" y="5001768"/>
            <a:ext cx="1545336" cy="841248"/>
          </a:xfrm>
          <a:prstGeom prst="rect">
            <a:avLst/>
          </a:prstGeom>
          <a:noFill/>
          <a:ln/>
        </p:spPr>
        <p:txBody>
          <a:bodyPr wrap="square" rtlCol="0" anchor="ctr"/>
          <a:lstStyle/>
          <a:p>
            <a:pPr marL="0" indent="0">
              <a:buNone/>
            </a:pPr>
            <a:r>
              <a:rPr lang="en-US" sz="1100" b="1" dirty="0">
                <a:solidFill>
                  <a:srgbClr val="1B1F27"/>
                </a:solidFill>
                <a:latin typeface="Calibri" pitchFamily="34" charset="0"/>
                <a:ea typeface="Calibri" pitchFamily="34" charset="-122"/>
                <a:cs typeface="Calibri" pitchFamily="34" charset="-120"/>
              </a:rPr>
              <a:t>License</a:t>
            </a:r>
            <a:endParaRPr lang="en-US" sz="1100" dirty="0"/>
          </a:p>
        </p:txBody>
      </p:sp>
      <p:sp>
        <p:nvSpPr>
          <p:cNvPr id="55" name="Shape 52"/>
          <p:cNvSpPr/>
          <p:nvPr/>
        </p:nvSpPr>
        <p:spPr>
          <a:xfrm>
            <a:off x="2148840" y="5001768"/>
            <a:ext cx="1892808" cy="841248"/>
          </a:xfrm>
          <a:prstGeom prst="rect">
            <a:avLst/>
          </a:prstGeom>
          <a:solidFill>
            <a:srgbClr val="FFFFFF"/>
          </a:solidFill>
          <a:ln/>
        </p:spPr>
      </p:sp>
      <p:sp>
        <p:nvSpPr>
          <p:cNvPr id="56" name="Text 53"/>
          <p:cNvSpPr/>
          <p:nvPr/>
        </p:nvSpPr>
        <p:spPr>
          <a:xfrm>
            <a:off x="2203704" y="5001768"/>
            <a:ext cx="1783080" cy="841248"/>
          </a:xfrm>
          <a:prstGeom prst="rect">
            <a:avLst/>
          </a:prstGeom>
          <a:noFill/>
          <a:ln/>
        </p:spPr>
        <p:txBody>
          <a:bodyPr wrap="square" rtlCol="0" anchor="ctr"/>
          <a:lstStyle/>
          <a:p>
            <a:pPr marL="0" indent="0" algn="ctr">
              <a:buNone/>
            </a:pPr>
            <a:r>
              <a:rPr lang="en-US" sz="970" dirty="0">
                <a:solidFill>
                  <a:srgbClr val="5B6270"/>
                </a:solidFill>
                <a:latin typeface="Calibri" pitchFamily="34" charset="0"/>
                <a:ea typeface="Calibri" pitchFamily="34" charset="-122"/>
                <a:cs typeface="Calibri" pitchFamily="34" charset="-120"/>
              </a:rPr>
              <a:t>AGPLv3 / SSPL / RSAL</a:t>
            </a:r>
            <a:endParaRPr lang="en-US" sz="970" dirty="0"/>
          </a:p>
        </p:txBody>
      </p:sp>
      <p:sp>
        <p:nvSpPr>
          <p:cNvPr id="57" name="Shape 54"/>
          <p:cNvSpPr/>
          <p:nvPr/>
        </p:nvSpPr>
        <p:spPr>
          <a:xfrm>
            <a:off x="4114800" y="5001768"/>
            <a:ext cx="1892808" cy="841248"/>
          </a:xfrm>
          <a:prstGeom prst="rect">
            <a:avLst/>
          </a:prstGeom>
          <a:solidFill>
            <a:srgbClr val="FFFFFF"/>
          </a:solidFill>
          <a:ln/>
        </p:spPr>
      </p:sp>
      <p:sp>
        <p:nvSpPr>
          <p:cNvPr id="58" name="Text 55"/>
          <p:cNvSpPr/>
          <p:nvPr/>
        </p:nvSpPr>
        <p:spPr>
          <a:xfrm>
            <a:off x="4169664" y="5001768"/>
            <a:ext cx="1783080" cy="841248"/>
          </a:xfrm>
          <a:prstGeom prst="rect">
            <a:avLst/>
          </a:prstGeom>
          <a:noFill/>
          <a:ln/>
        </p:spPr>
        <p:txBody>
          <a:bodyPr wrap="square" rtlCol="0" anchor="ctr"/>
          <a:lstStyle/>
          <a:p>
            <a:pPr marL="0" indent="0" algn="ctr">
              <a:buNone/>
            </a:pPr>
            <a:r>
              <a:rPr lang="en-US" sz="970" dirty="0">
                <a:solidFill>
                  <a:srgbClr val="5B6270"/>
                </a:solidFill>
                <a:latin typeface="Calibri" pitchFamily="34" charset="0"/>
                <a:ea typeface="Calibri" pitchFamily="34" charset="-122"/>
                <a:cs typeface="Calibri" pitchFamily="34" charset="-120"/>
              </a:rPr>
              <a:t>BSD (permissive)</a:t>
            </a:r>
            <a:endParaRPr lang="en-US" sz="970" dirty="0"/>
          </a:p>
        </p:txBody>
      </p:sp>
      <p:sp>
        <p:nvSpPr>
          <p:cNvPr id="59" name="Shape 56"/>
          <p:cNvSpPr/>
          <p:nvPr/>
        </p:nvSpPr>
        <p:spPr>
          <a:xfrm>
            <a:off x="6080760" y="5001768"/>
            <a:ext cx="1892808" cy="841248"/>
          </a:xfrm>
          <a:prstGeom prst="rect">
            <a:avLst/>
          </a:prstGeom>
          <a:solidFill>
            <a:srgbClr val="FFFFFF"/>
          </a:solidFill>
          <a:ln/>
        </p:spPr>
      </p:sp>
      <p:sp>
        <p:nvSpPr>
          <p:cNvPr id="60" name="Text 57"/>
          <p:cNvSpPr/>
          <p:nvPr/>
        </p:nvSpPr>
        <p:spPr>
          <a:xfrm>
            <a:off x="6135624" y="5001768"/>
            <a:ext cx="1783080" cy="841248"/>
          </a:xfrm>
          <a:prstGeom prst="rect">
            <a:avLst/>
          </a:prstGeom>
          <a:noFill/>
          <a:ln/>
        </p:spPr>
        <p:txBody>
          <a:bodyPr wrap="square" rtlCol="0" anchor="ctr"/>
          <a:lstStyle/>
          <a:p>
            <a:pPr marL="0" indent="0" algn="ctr">
              <a:buNone/>
            </a:pPr>
            <a:r>
              <a:rPr lang="en-US" sz="970" dirty="0">
                <a:solidFill>
                  <a:srgbClr val="5B6270"/>
                </a:solidFill>
                <a:latin typeface="Calibri" pitchFamily="34" charset="0"/>
                <a:ea typeface="Calibri" pitchFamily="34" charset="-122"/>
                <a:cs typeface="Calibri" pitchFamily="34" charset="-120"/>
              </a:rPr>
              <a:t>BSD-3 (permissive)</a:t>
            </a:r>
            <a:endParaRPr lang="en-US" sz="970" dirty="0"/>
          </a:p>
        </p:txBody>
      </p:sp>
      <p:sp>
        <p:nvSpPr>
          <p:cNvPr id="61" name="Shape 58"/>
          <p:cNvSpPr/>
          <p:nvPr/>
        </p:nvSpPr>
        <p:spPr>
          <a:xfrm>
            <a:off x="8046720" y="5001768"/>
            <a:ext cx="1892808" cy="841248"/>
          </a:xfrm>
          <a:prstGeom prst="rect">
            <a:avLst/>
          </a:prstGeom>
          <a:solidFill>
            <a:srgbClr val="FFFFFF"/>
          </a:solidFill>
          <a:ln/>
        </p:spPr>
      </p:sp>
      <p:sp>
        <p:nvSpPr>
          <p:cNvPr id="62" name="Text 59"/>
          <p:cNvSpPr/>
          <p:nvPr/>
        </p:nvSpPr>
        <p:spPr>
          <a:xfrm>
            <a:off x="8101584" y="5001768"/>
            <a:ext cx="1783080" cy="841248"/>
          </a:xfrm>
          <a:prstGeom prst="rect">
            <a:avLst/>
          </a:prstGeom>
          <a:noFill/>
          <a:ln/>
        </p:spPr>
        <p:txBody>
          <a:bodyPr wrap="square" rtlCol="0" anchor="ctr"/>
          <a:lstStyle/>
          <a:p>
            <a:pPr marL="0" indent="0" algn="ctr">
              <a:buNone/>
            </a:pPr>
            <a:r>
              <a:rPr lang="en-US" sz="970" dirty="0">
                <a:solidFill>
                  <a:srgbClr val="5B6270"/>
                </a:solidFill>
                <a:latin typeface="Calibri" pitchFamily="34" charset="0"/>
                <a:ea typeface="Calibri" pitchFamily="34" charset="-122"/>
                <a:cs typeface="Calibri" pitchFamily="34" charset="-120"/>
              </a:rPr>
              <a:t>BSL 1.1</a:t>
            </a:r>
            <a:endParaRPr lang="en-US" sz="970" dirty="0"/>
          </a:p>
          <a:p>
            <a:pPr marL="0" indent="0" algn="ctr">
              <a:buNone/>
            </a:pPr>
            <a:r>
              <a:rPr lang="en-US" sz="970" dirty="0">
                <a:solidFill>
                  <a:srgbClr val="5B6270"/>
                </a:solidFill>
                <a:latin typeface="Calibri" pitchFamily="34" charset="0"/>
                <a:ea typeface="Calibri" pitchFamily="34" charset="-122"/>
                <a:cs typeface="Calibri" pitchFamily="34" charset="-120"/>
              </a:rPr>
              <a:t>(source-available)</a:t>
            </a:r>
            <a:endParaRPr lang="en-US" sz="970" dirty="0"/>
          </a:p>
        </p:txBody>
      </p:sp>
      <p:sp>
        <p:nvSpPr>
          <p:cNvPr id="63" name="Shape 60"/>
          <p:cNvSpPr/>
          <p:nvPr/>
        </p:nvSpPr>
        <p:spPr>
          <a:xfrm>
            <a:off x="10012680" y="5001768"/>
            <a:ext cx="1892808" cy="841248"/>
          </a:xfrm>
          <a:prstGeom prst="rect">
            <a:avLst/>
          </a:prstGeom>
          <a:solidFill>
            <a:srgbClr val="FFFFFF"/>
          </a:solidFill>
          <a:ln/>
        </p:spPr>
      </p:sp>
      <p:sp>
        <p:nvSpPr>
          <p:cNvPr id="64" name="Text 61"/>
          <p:cNvSpPr/>
          <p:nvPr/>
        </p:nvSpPr>
        <p:spPr>
          <a:xfrm>
            <a:off x="10067544" y="5001768"/>
            <a:ext cx="1783080" cy="841248"/>
          </a:xfrm>
          <a:prstGeom prst="rect">
            <a:avLst/>
          </a:prstGeom>
          <a:noFill/>
          <a:ln/>
        </p:spPr>
        <p:txBody>
          <a:bodyPr wrap="square" rtlCol="0" anchor="ctr"/>
          <a:lstStyle/>
          <a:p>
            <a:pPr marL="0" indent="0" algn="ctr">
              <a:buNone/>
            </a:pPr>
            <a:r>
              <a:rPr lang="en-US" sz="970" dirty="0">
                <a:solidFill>
                  <a:srgbClr val="5B6270"/>
                </a:solidFill>
                <a:latin typeface="Calibri" pitchFamily="34" charset="0"/>
                <a:ea typeface="Calibri" pitchFamily="34" charset="-122"/>
                <a:cs typeface="Calibri" pitchFamily="34" charset="-120"/>
              </a:rPr>
              <a:t>Apache 2.0 / commercial</a:t>
            </a:r>
            <a:endParaRPr lang="en-US" sz="970" dirty="0"/>
          </a:p>
        </p:txBody>
      </p:sp>
      <p:sp>
        <p:nvSpPr>
          <p:cNvPr id="65" name="Shape 62"/>
          <p:cNvSpPr/>
          <p:nvPr/>
        </p:nvSpPr>
        <p:spPr>
          <a:xfrm>
            <a:off x="457200" y="5897880"/>
            <a:ext cx="1691640" cy="841248"/>
          </a:xfrm>
          <a:prstGeom prst="rect">
            <a:avLst/>
          </a:prstGeom>
          <a:solidFill>
            <a:srgbClr val="F7F7F7"/>
          </a:solidFill>
          <a:ln/>
        </p:spPr>
      </p:sp>
      <p:sp>
        <p:nvSpPr>
          <p:cNvPr id="66" name="Text 63"/>
          <p:cNvSpPr/>
          <p:nvPr/>
        </p:nvSpPr>
        <p:spPr>
          <a:xfrm>
            <a:off x="530352" y="5897880"/>
            <a:ext cx="1545336" cy="841248"/>
          </a:xfrm>
          <a:prstGeom prst="rect">
            <a:avLst/>
          </a:prstGeom>
          <a:noFill/>
          <a:ln/>
        </p:spPr>
        <p:txBody>
          <a:bodyPr wrap="square" rtlCol="0" anchor="ctr"/>
          <a:lstStyle/>
          <a:p>
            <a:pPr marL="0" indent="0">
              <a:buNone/>
            </a:pPr>
            <a:r>
              <a:rPr lang="en-US" sz="1100" b="1" dirty="0">
                <a:solidFill>
                  <a:srgbClr val="1B1F27"/>
                </a:solidFill>
                <a:latin typeface="Calibri" pitchFamily="34" charset="0"/>
                <a:ea typeface="Calibri" pitchFamily="34" charset="-122"/>
                <a:cs typeface="Calibri" pitchFamily="34" charset="-120"/>
              </a:rPr>
              <a:t>Best fit</a:t>
            </a:r>
            <a:endParaRPr lang="en-US" sz="1100" dirty="0"/>
          </a:p>
        </p:txBody>
      </p:sp>
      <p:sp>
        <p:nvSpPr>
          <p:cNvPr id="67" name="Shape 64"/>
          <p:cNvSpPr/>
          <p:nvPr/>
        </p:nvSpPr>
        <p:spPr>
          <a:xfrm>
            <a:off x="2148840" y="5897880"/>
            <a:ext cx="1892808" cy="841248"/>
          </a:xfrm>
          <a:prstGeom prst="rect">
            <a:avLst/>
          </a:prstGeom>
          <a:solidFill>
            <a:srgbClr val="F7F7F7"/>
          </a:solidFill>
          <a:ln/>
        </p:spPr>
      </p:sp>
      <p:sp>
        <p:nvSpPr>
          <p:cNvPr id="68" name="Text 65"/>
          <p:cNvSpPr/>
          <p:nvPr/>
        </p:nvSpPr>
        <p:spPr>
          <a:xfrm>
            <a:off x="2203704" y="5897880"/>
            <a:ext cx="1783080" cy="841248"/>
          </a:xfrm>
          <a:prstGeom prst="rect">
            <a:avLst/>
          </a:prstGeom>
          <a:noFill/>
          <a:ln/>
        </p:spPr>
        <p:txBody>
          <a:bodyPr wrap="square" rtlCol="0" anchor="ctr"/>
          <a:lstStyle/>
          <a:p>
            <a:pPr marL="0" indent="0" algn="ctr">
              <a:buNone/>
            </a:pPr>
            <a:r>
              <a:rPr lang="en-US" sz="970" dirty="0">
                <a:solidFill>
                  <a:srgbClr val="5B6270"/>
                </a:solidFill>
                <a:latin typeface="Calibri" pitchFamily="34" charset="0"/>
                <a:ea typeface="Calibri" pitchFamily="34" charset="-122"/>
                <a:cs typeface="Calibri" pitchFamily="34" charset="-120"/>
              </a:rPr>
              <a:t>General-purpose:</a:t>
            </a:r>
            <a:endParaRPr lang="en-US" sz="970" dirty="0"/>
          </a:p>
          <a:p>
            <a:pPr marL="0" indent="0" algn="ctr">
              <a:buNone/>
            </a:pPr>
            <a:r>
              <a:rPr lang="en-US" sz="970" dirty="0">
                <a:solidFill>
                  <a:srgbClr val="5B6270"/>
                </a:solidFill>
                <a:latin typeface="Calibri" pitchFamily="34" charset="0"/>
                <a:ea typeface="Calibri" pitchFamily="34" charset="-122"/>
                <a:cs typeface="Calibri" pitchFamily="34" charset="-120"/>
              </a:rPr>
              <a:t>cache + structures + pub/sub</a:t>
            </a:r>
            <a:endParaRPr lang="en-US" sz="970" dirty="0"/>
          </a:p>
        </p:txBody>
      </p:sp>
      <p:sp>
        <p:nvSpPr>
          <p:cNvPr id="69" name="Shape 66"/>
          <p:cNvSpPr/>
          <p:nvPr/>
        </p:nvSpPr>
        <p:spPr>
          <a:xfrm>
            <a:off x="4114800" y="5897880"/>
            <a:ext cx="1892808" cy="841248"/>
          </a:xfrm>
          <a:prstGeom prst="rect">
            <a:avLst/>
          </a:prstGeom>
          <a:solidFill>
            <a:srgbClr val="F7F7F7"/>
          </a:solidFill>
          <a:ln/>
        </p:spPr>
      </p:sp>
      <p:sp>
        <p:nvSpPr>
          <p:cNvPr id="70" name="Text 67"/>
          <p:cNvSpPr/>
          <p:nvPr/>
        </p:nvSpPr>
        <p:spPr>
          <a:xfrm>
            <a:off x="4169664" y="5897880"/>
            <a:ext cx="1783080" cy="841248"/>
          </a:xfrm>
          <a:prstGeom prst="rect">
            <a:avLst/>
          </a:prstGeom>
          <a:noFill/>
          <a:ln/>
        </p:spPr>
        <p:txBody>
          <a:bodyPr wrap="square" rtlCol="0" anchor="ctr"/>
          <a:lstStyle/>
          <a:p>
            <a:pPr marL="0" indent="0" algn="ctr">
              <a:buNone/>
            </a:pPr>
            <a:r>
              <a:rPr lang="en-US" sz="970" dirty="0">
                <a:solidFill>
                  <a:srgbClr val="5B6270"/>
                </a:solidFill>
                <a:latin typeface="Calibri" pitchFamily="34" charset="0"/>
                <a:ea typeface="Calibri" pitchFamily="34" charset="-122"/>
                <a:cs typeface="Calibri" pitchFamily="34" charset="-120"/>
              </a:rPr>
              <a:t>Pure, ultra-simple</a:t>
            </a:r>
            <a:endParaRPr lang="en-US" sz="970" dirty="0"/>
          </a:p>
          <a:p>
            <a:pPr marL="0" indent="0" algn="ctr">
              <a:buNone/>
            </a:pPr>
            <a:r>
              <a:rPr lang="en-US" sz="970" dirty="0">
                <a:solidFill>
                  <a:srgbClr val="5B6270"/>
                </a:solidFill>
                <a:latin typeface="Calibri" pitchFamily="34" charset="0"/>
                <a:ea typeface="Calibri" pitchFamily="34" charset="-122"/>
                <a:cs typeface="Calibri" pitchFamily="34" charset="-120"/>
              </a:rPr>
              <a:t>object caching</a:t>
            </a:r>
            <a:endParaRPr lang="en-US" sz="970" dirty="0"/>
          </a:p>
        </p:txBody>
      </p:sp>
      <p:sp>
        <p:nvSpPr>
          <p:cNvPr id="71" name="Shape 68"/>
          <p:cNvSpPr/>
          <p:nvPr/>
        </p:nvSpPr>
        <p:spPr>
          <a:xfrm>
            <a:off x="6080760" y="5897880"/>
            <a:ext cx="1892808" cy="841248"/>
          </a:xfrm>
          <a:prstGeom prst="rect">
            <a:avLst/>
          </a:prstGeom>
          <a:solidFill>
            <a:srgbClr val="F7F7F7"/>
          </a:solidFill>
          <a:ln/>
        </p:spPr>
      </p:sp>
      <p:sp>
        <p:nvSpPr>
          <p:cNvPr id="72" name="Text 69"/>
          <p:cNvSpPr/>
          <p:nvPr/>
        </p:nvSpPr>
        <p:spPr>
          <a:xfrm>
            <a:off x="6135624" y="5897880"/>
            <a:ext cx="1783080" cy="841248"/>
          </a:xfrm>
          <a:prstGeom prst="rect">
            <a:avLst/>
          </a:prstGeom>
          <a:noFill/>
          <a:ln/>
        </p:spPr>
        <p:txBody>
          <a:bodyPr wrap="square" rtlCol="0" anchor="ctr"/>
          <a:lstStyle/>
          <a:p>
            <a:pPr marL="0" indent="0" algn="ctr">
              <a:buNone/>
            </a:pPr>
            <a:r>
              <a:rPr lang="en-US" sz="970" dirty="0">
                <a:solidFill>
                  <a:srgbClr val="5B6270"/>
                </a:solidFill>
                <a:latin typeface="Calibri" pitchFamily="34" charset="0"/>
                <a:ea typeface="Calibri" pitchFamily="34" charset="-122"/>
                <a:cs typeface="Calibri" pitchFamily="34" charset="-120"/>
              </a:rPr>
              <a:t>Drop-in Redis</a:t>
            </a:r>
            <a:endParaRPr lang="en-US" sz="970" dirty="0"/>
          </a:p>
          <a:p>
            <a:pPr marL="0" indent="0" algn="ctr">
              <a:buNone/>
            </a:pPr>
            <a:r>
              <a:rPr lang="en-US" sz="970" dirty="0">
                <a:solidFill>
                  <a:srgbClr val="5B6270"/>
                </a:solidFill>
                <a:latin typeface="Calibri" pitchFamily="34" charset="0"/>
                <a:ea typeface="Calibri" pitchFamily="34" charset="-122"/>
                <a:cs typeface="Calibri" pitchFamily="34" charset="-120"/>
              </a:rPr>
              <a:t>replacement, cloud-managed</a:t>
            </a:r>
            <a:endParaRPr lang="en-US" sz="970" dirty="0"/>
          </a:p>
        </p:txBody>
      </p:sp>
      <p:sp>
        <p:nvSpPr>
          <p:cNvPr id="73" name="Shape 70"/>
          <p:cNvSpPr/>
          <p:nvPr/>
        </p:nvSpPr>
        <p:spPr>
          <a:xfrm>
            <a:off x="8046720" y="5897880"/>
            <a:ext cx="1892808" cy="841248"/>
          </a:xfrm>
          <a:prstGeom prst="rect">
            <a:avLst/>
          </a:prstGeom>
          <a:solidFill>
            <a:srgbClr val="F7F7F7"/>
          </a:solidFill>
          <a:ln/>
        </p:spPr>
      </p:sp>
      <p:sp>
        <p:nvSpPr>
          <p:cNvPr id="74" name="Text 71"/>
          <p:cNvSpPr/>
          <p:nvPr/>
        </p:nvSpPr>
        <p:spPr>
          <a:xfrm>
            <a:off x="8101584" y="5897880"/>
            <a:ext cx="1783080" cy="841248"/>
          </a:xfrm>
          <a:prstGeom prst="rect">
            <a:avLst/>
          </a:prstGeom>
          <a:noFill/>
          <a:ln/>
        </p:spPr>
        <p:txBody>
          <a:bodyPr wrap="square" rtlCol="0" anchor="ctr"/>
          <a:lstStyle/>
          <a:p>
            <a:pPr marL="0" indent="0" algn="ctr">
              <a:buNone/>
            </a:pPr>
            <a:r>
              <a:rPr lang="en-US" sz="970" dirty="0">
                <a:solidFill>
                  <a:srgbClr val="5B6270"/>
                </a:solidFill>
                <a:latin typeface="Calibri" pitchFamily="34" charset="0"/>
                <a:ea typeface="Calibri" pitchFamily="34" charset="-122"/>
                <a:cs typeface="Calibri" pitchFamily="34" charset="-120"/>
              </a:rPr>
              <a:t>Same-hardware</a:t>
            </a:r>
            <a:endParaRPr lang="en-US" sz="970" dirty="0"/>
          </a:p>
          <a:p>
            <a:pPr marL="0" indent="0" algn="ctr">
              <a:buNone/>
            </a:pPr>
            <a:r>
              <a:rPr lang="en-US" sz="970" dirty="0">
                <a:solidFill>
                  <a:srgbClr val="5B6270"/>
                </a:solidFill>
                <a:latin typeface="Calibri" pitchFamily="34" charset="0"/>
                <a:ea typeface="Calibri" pitchFamily="34" charset="-122"/>
                <a:cs typeface="Calibri" pitchFamily="34" charset="-120"/>
              </a:rPr>
              <a:t>throughput upgrade</a:t>
            </a:r>
            <a:endParaRPr lang="en-US" sz="970" dirty="0"/>
          </a:p>
        </p:txBody>
      </p:sp>
      <p:sp>
        <p:nvSpPr>
          <p:cNvPr id="75" name="Shape 72"/>
          <p:cNvSpPr/>
          <p:nvPr/>
        </p:nvSpPr>
        <p:spPr>
          <a:xfrm>
            <a:off x="10012680" y="5897880"/>
            <a:ext cx="1892808" cy="841248"/>
          </a:xfrm>
          <a:prstGeom prst="rect">
            <a:avLst/>
          </a:prstGeom>
          <a:solidFill>
            <a:srgbClr val="F7F7F7"/>
          </a:solidFill>
          <a:ln/>
        </p:spPr>
      </p:sp>
      <p:sp>
        <p:nvSpPr>
          <p:cNvPr id="76" name="Text 73"/>
          <p:cNvSpPr/>
          <p:nvPr/>
        </p:nvSpPr>
        <p:spPr>
          <a:xfrm>
            <a:off x="10067544" y="5897880"/>
            <a:ext cx="1783080" cy="841248"/>
          </a:xfrm>
          <a:prstGeom prst="rect">
            <a:avLst/>
          </a:prstGeom>
          <a:noFill/>
          <a:ln/>
        </p:spPr>
        <p:txBody>
          <a:bodyPr wrap="square" rtlCol="0" anchor="ctr"/>
          <a:lstStyle/>
          <a:p>
            <a:pPr marL="0" indent="0" algn="ctr">
              <a:buNone/>
            </a:pPr>
            <a:r>
              <a:rPr lang="en-US" sz="970" dirty="0">
                <a:solidFill>
                  <a:srgbClr val="5B6270"/>
                </a:solidFill>
                <a:latin typeface="Calibri" pitchFamily="34" charset="0"/>
                <a:ea typeface="Calibri" pitchFamily="34" charset="-122"/>
                <a:cs typeface="Calibri" pitchFamily="34" charset="-120"/>
              </a:rPr>
              <a:t>Java-heavy enterprise</a:t>
            </a:r>
            <a:endParaRPr lang="en-US" sz="970" dirty="0"/>
          </a:p>
          <a:p>
            <a:pPr marL="0" indent="0" algn="ctr">
              <a:buNone/>
            </a:pPr>
            <a:r>
              <a:rPr lang="en-US" sz="970" dirty="0">
                <a:solidFill>
                  <a:srgbClr val="5B6270"/>
                </a:solidFill>
                <a:latin typeface="Calibri" pitchFamily="34" charset="0"/>
                <a:ea typeface="Calibri" pitchFamily="34" charset="-122"/>
                <a:cs typeface="Calibri" pitchFamily="34" charset="-120"/>
              </a:rPr>
              <a:t>in-memory computing</a:t>
            </a:r>
            <a:endParaRPr lang="en-US" sz="970" dirty="0"/>
          </a:p>
        </p:txBody>
      </p:sp>
      <p:sp>
        <p:nvSpPr>
          <p:cNvPr id="77" name="Text 74"/>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5B6270"/>
                </a:solidFill>
                <a:latin typeface="Calibri" pitchFamily="34" charset="0"/>
                <a:ea typeface="Calibri" pitchFamily="34" charset="-122"/>
                <a:cs typeface="Calibri" pitchFamily="34" charset="-120"/>
              </a:rPr>
              <a:t>Alternatives</a:t>
            </a:r>
            <a:endParaRPr lang="en-US" sz="1000" dirty="0"/>
          </a:p>
        </p:txBody>
      </p:sp>
      <p:sp>
        <p:nvSpPr>
          <p:cNvPr id="78" name="Text 75"/>
          <p:cNvSpPr/>
          <p:nvPr/>
        </p:nvSpPr>
        <p:spPr>
          <a:xfrm>
            <a:off x="11247120" y="6537960"/>
            <a:ext cx="457200" cy="274320"/>
          </a:xfrm>
          <a:prstGeom prst="rect">
            <a:avLst/>
          </a:prstGeom>
          <a:noFill/>
          <a:ln/>
        </p:spPr>
        <p:txBody>
          <a:bodyPr wrap="square"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DC382D"/>
          </a:solidFill>
          <a:ln/>
        </p:spPr>
      </p:sp>
      <p:pic>
        <p:nvPicPr>
          <p:cNvPr id="3" name="Image 0" descr="icons/compare_red.png"/>
          <p:cNvPicPr>
            <a:picLocks noChangeAspect="1"/>
          </p:cNvPicPr>
          <p:nvPr/>
        </p:nvPicPr>
        <p:blipFill>
          <a:blip r:embed="rId3"/>
          <a:stretch>
            <a:fillRect/>
          </a:stretch>
        </p:blipFill>
        <p:spPr>
          <a:xfrm>
            <a:off x="694944" y="649224"/>
            <a:ext cx="274320" cy="274320"/>
          </a:xfrm>
          <a:prstGeom prst="rect">
            <a:avLst/>
          </a:prstGeom>
        </p:spPr>
      </p:pic>
      <p:sp>
        <p:nvSpPr>
          <p:cNvPr id="4" name="Text 1"/>
          <p:cNvSpPr/>
          <p:nvPr/>
        </p:nvSpPr>
        <p:spPr>
          <a:xfrm>
            <a:off x="1280160" y="457200"/>
            <a:ext cx="7315200" cy="274320"/>
          </a:xfrm>
          <a:prstGeom prst="rect">
            <a:avLst/>
          </a:prstGeom>
          <a:noFill/>
          <a:ln/>
        </p:spPr>
        <p:txBody>
          <a:bodyPr wrap="square" rtlCol="0" anchor="ctr"/>
          <a:lstStyle/>
          <a:p>
            <a:pPr marL="0" indent="0">
              <a:buNone/>
            </a:pPr>
            <a:r>
              <a:rPr lang="en-US" sz="1300" b="1" kern="0" spc="200" dirty="0">
                <a:solidFill>
                  <a:srgbClr val="DC382D"/>
                </a:solidFill>
                <a:latin typeface="Calibri" pitchFamily="34" charset="0"/>
                <a:ea typeface="Calibri" pitchFamily="34" charset="-122"/>
                <a:cs typeface="Calibri" pitchFamily="34" charset="-120"/>
              </a:rPr>
              <a:t>ALTERNATIVES · 02</a:t>
            </a:r>
            <a:endParaRPr lang="en-US" sz="1300" dirty="0"/>
          </a:p>
        </p:txBody>
      </p:sp>
      <p:sp>
        <p:nvSpPr>
          <p:cNvPr id="5" name="Text 2"/>
          <p:cNvSpPr/>
          <p:nvPr/>
        </p:nvSpPr>
        <p:spPr>
          <a:xfrm>
            <a:off x="1280160" y="713232"/>
            <a:ext cx="10241280" cy="548640"/>
          </a:xfrm>
          <a:prstGeom prst="rect">
            <a:avLst/>
          </a:prstGeom>
          <a:noFill/>
          <a:ln/>
        </p:spPr>
        <p:txBody>
          <a:bodyPr wrap="square" rtlCol="0" anchor="ctr"/>
          <a:lstStyle/>
          <a:p>
            <a:pPr marL="0" indent="0">
              <a:buNone/>
            </a:pPr>
            <a:r>
              <a:rPr lang="en-US" sz="2800" b="1" dirty="0">
                <a:solidFill>
                  <a:srgbClr val="1B1F27"/>
                </a:solidFill>
                <a:latin typeface="Cambria" pitchFamily="34" charset="0"/>
                <a:ea typeface="Cambria" pitchFamily="34" charset="-122"/>
                <a:cs typeface="Cambria" pitchFamily="34" charset="-120"/>
              </a:rPr>
              <a:t>Who uses what, and why</a:t>
            </a:r>
            <a:endParaRPr lang="en-US" sz="2800" dirty="0"/>
          </a:p>
        </p:txBody>
      </p:sp>
      <p:sp>
        <p:nvSpPr>
          <p:cNvPr id="6" name="Shape 3"/>
          <p:cNvSpPr/>
          <p:nvPr/>
        </p:nvSpPr>
        <p:spPr>
          <a:xfrm>
            <a:off x="548640" y="1920240"/>
            <a:ext cx="2606040" cy="3931920"/>
          </a:xfrm>
          <a:prstGeom prst="roundRect">
            <a:avLst>
              <a:gd name="adj" fmla="val 2807"/>
            </a:avLst>
          </a:prstGeom>
          <a:solidFill>
            <a:srgbClr val="F7F7F7"/>
          </a:solidFill>
          <a:ln/>
        </p:spPr>
      </p:sp>
      <p:sp>
        <p:nvSpPr>
          <p:cNvPr id="7" name="Shape 4"/>
          <p:cNvSpPr/>
          <p:nvPr/>
        </p:nvSpPr>
        <p:spPr>
          <a:xfrm>
            <a:off x="1531620" y="2194560"/>
            <a:ext cx="640080" cy="640080"/>
          </a:xfrm>
          <a:prstGeom prst="ellipse">
            <a:avLst/>
          </a:prstGeom>
          <a:solidFill>
            <a:srgbClr val="1B1F27"/>
          </a:solidFill>
          <a:ln/>
        </p:spPr>
      </p:sp>
      <p:pic>
        <p:nvPicPr>
          <p:cNvPr id="8" name="Image 1" descr="icons/server_red.png"/>
          <p:cNvPicPr>
            <a:picLocks noChangeAspect="1"/>
          </p:cNvPicPr>
          <p:nvPr/>
        </p:nvPicPr>
        <p:blipFill>
          <a:blip r:embed="rId4"/>
          <a:stretch>
            <a:fillRect/>
          </a:stretch>
        </p:blipFill>
        <p:spPr>
          <a:xfrm>
            <a:off x="1677924" y="2340864"/>
            <a:ext cx="347472" cy="347472"/>
          </a:xfrm>
          <a:prstGeom prst="rect">
            <a:avLst/>
          </a:prstGeom>
        </p:spPr>
      </p:pic>
      <p:sp>
        <p:nvSpPr>
          <p:cNvPr id="9" name="Text 5"/>
          <p:cNvSpPr/>
          <p:nvPr/>
        </p:nvSpPr>
        <p:spPr>
          <a:xfrm>
            <a:off x="685800" y="2971800"/>
            <a:ext cx="2331720" cy="365760"/>
          </a:xfrm>
          <a:prstGeom prst="rect">
            <a:avLst/>
          </a:prstGeom>
          <a:noFill/>
          <a:ln/>
        </p:spPr>
        <p:txBody>
          <a:bodyPr wrap="square" rtlCol="0" anchor="ctr"/>
          <a:lstStyle/>
          <a:p>
            <a:pPr marL="0" indent="0" algn="ctr">
              <a:buNone/>
            </a:pPr>
            <a:r>
              <a:rPr lang="en-US" sz="1600" b="1" dirty="0">
                <a:solidFill>
                  <a:srgbClr val="1B1F27"/>
                </a:solidFill>
                <a:latin typeface="Cambria" pitchFamily="34" charset="0"/>
                <a:ea typeface="Cambria" pitchFamily="34" charset="-122"/>
                <a:cs typeface="Cambria" pitchFamily="34" charset="-120"/>
              </a:rPr>
              <a:t>Memcached</a:t>
            </a:r>
            <a:endParaRPr lang="en-US" sz="1600" dirty="0"/>
          </a:p>
        </p:txBody>
      </p:sp>
      <p:sp>
        <p:nvSpPr>
          <p:cNvPr id="10" name="Shape 6"/>
          <p:cNvSpPr/>
          <p:nvPr/>
        </p:nvSpPr>
        <p:spPr>
          <a:xfrm>
            <a:off x="822960" y="3429000"/>
            <a:ext cx="2057400" cy="18288"/>
          </a:xfrm>
          <a:prstGeom prst="rect">
            <a:avLst/>
          </a:prstGeom>
          <a:solidFill>
            <a:srgbClr val="E1E3E6"/>
          </a:solidFill>
          <a:ln/>
        </p:spPr>
      </p:sp>
      <p:sp>
        <p:nvSpPr>
          <p:cNvPr id="11" name="Text 7"/>
          <p:cNvSpPr/>
          <p:nvPr/>
        </p:nvSpPr>
        <p:spPr>
          <a:xfrm>
            <a:off x="822960" y="3566160"/>
            <a:ext cx="2057400" cy="256032"/>
          </a:xfrm>
          <a:prstGeom prst="rect">
            <a:avLst/>
          </a:prstGeom>
          <a:noFill/>
          <a:ln/>
        </p:spPr>
        <p:txBody>
          <a:bodyPr wrap="square" rtlCol="0" anchor="ctr"/>
          <a:lstStyle/>
          <a:p>
            <a:pPr marL="0" indent="0" algn="ctr">
              <a:buNone/>
            </a:pPr>
            <a:r>
              <a:rPr lang="en-US" sz="1000" b="1" kern="0" spc="100" dirty="0">
                <a:solidFill>
                  <a:srgbClr val="DC382D"/>
                </a:solidFill>
                <a:latin typeface="Calibri" pitchFamily="34" charset="0"/>
                <a:ea typeface="Calibri" pitchFamily="34" charset="-122"/>
                <a:cs typeface="Calibri" pitchFamily="34" charset="-120"/>
              </a:rPr>
              <a:t>USED BY</a:t>
            </a:r>
            <a:endParaRPr lang="en-US" sz="1000" dirty="0"/>
          </a:p>
        </p:txBody>
      </p:sp>
      <p:sp>
        <p:nvSpPr>
          <p:cNvPr id="12" name="Text 8"/>
          <p:cNvSpPr/>
          <p:nvPr/>
        </p:nvSpPr>
        <p:spPr>
          <a:xfrm>
            <a:off x="777240" y="3822192"/>
            <a:ext cx="2148840" cy="548640"/>
          </a:xfrm>
          <a:prstGeom prst="rect">
            <a:avLst/>
          </a:prstGeom>
          <a:noFill/>
          <a:ln/>
        </p:spPr>
        <p:txBody>
          <a:bodyPr wrap="square" rtlCol="0" anchor="ctr"/>
          <a:lstStyle/>
          <a:p>
            <a:pPr marL="0" indent="0" algn="ctr">
              <a:buNone/>
            </a:pPr>
            <a:r>
              <a:rPr lang="en-US" sz="1150" b="1" dirty="0">
                <a:solidFill>
                  <a:srgbClr val="1B1F27"/>
                </a:solidFill>
                <a:latin typeface="Calibri" pitchFamily="34" charset="0"/>
                <a:ea typeface="Calibri" pitchFamily="34" charset="-122"/>
                <a:cs typeface="Calibri" pitchFamily="34" charset="-120"/>
              </a:rPr>
              <a:t>X (Twitter), Wikipedia, YouTube</a:t>
            </a:r>
            <a:endParaRPr lang="en-US" sz="1150" dirty="0"/>
          </a:p>
        </p:txBody>
      </p:sp>
      <p:sp>
        <p:nvSpPr>
          <p:cNvPr id="13" name="Text 9"/>
          <p:cNvSpPr/>
          <p:nvPr/>
        </p:nvSpPr>
        <p:spPr>
          <a:xfrm>
            <a:off x="822960" y="4434840"/>
            <a:ext cx="2057400" cy="256032"/>
          </a:xfrm>
          <a:prstGeom prst="rect">
            <a:avLst/>
          </a:prstGeom>
          <a:noFill/>
          <a:ln/>
        </p:spPr>
        <p:txBody>
          <a:bodyPr wrap="square" rtlCol="0" anchor="ctr"/>
          <a:lstStyle/>
          <a:p>
            <a:pPr marL="0" indent="0" algn="ctr">
              <a:buNone/>
            </a:pPr>
            <a:r>
              <a:rPr lang="en-US" sz="1000" b="1" kern="0" spc="100" dirty="0">
                <a:solidFill>
                  <a:srgbClr val="DC382D"/>
                </a:solidFill>
                <a:latin typeface="Calibri" pitchFamily="34" charset="0"/>
                <a:ea typeface="Calibri" pitchFamily="34" charset="-122"/>
                <a:cs typeface="Calibri" pitchFamily="34" charset="-120"/>
              </a:rPr>
              <a:t>WHY</a:t>
            </a:r>
            <a:endParaRPr lang="en-US" sz="1000" dirty="0"/>
          </a:p>
        </p:txBody>
      </p:sp>
      <p:sp>
        <p:nvSpPr>
          <p:cNvPr id="14" name="Text 10"/>
          <p:cNvSpPr/>
          <p:nvPr/>
        </p:nvSpPr>
        <p:spPr>
          <a:xfrm>
            <a:off x="777240" y="4681728"/>
            <a:ext cx="2148840" cy="1097280"/>
          </a:xfrm>
          <a:prstGeom prst="rect">
            <a:avLst/>
          </a:prstGeom>
          <a:noFill/>
          <a:ln/>
        </p:spPr>
        <p:txBody>
          <a:bodyPr wrap="square" rtlCol="0" anchor="t"/>
          <a:lstStyle/>
          <a:p>
            <a:pPr marL="0" indent="0" algn="ctr">
              <a:buNone/>
            </a:pPr>
            <a:r>
              <a:rPr lang="en-US" sz="1030" dirty="0">
                <a:solidFill>
                  <a:srgbClr val="5B6270"/>
                </a:solidFill>
                <a:latin typeface="Calibri" pitchFamily="34" charset="0"/>
                <a:ea typeface="Calibri" pitchFamily="34" charset="-122"/>
                <a:cs typeface="Calibri" pitchFamily="34" charset="-120"/>
              </a:rPr>
              <a:t>Pure, multi-threaded object caching where persistence and rich structures aren't needed — simplicity over features.</a:t>
            </a:r>
            <a:endParaRPr lang="en-US" sz="1030" dirty="0"/>
          </a:p>
        </p:txBody>
      </p:sp>
      <p:sp>
        <p:nvSpPr>
          <p:cNvPr id="15" name="Shape 11"/>
          <p:cNvSpPr/>
          <p:nvPr/>
        </p:nvSpPr>
        <p:spPr>
          <a:xfrm>
            <a:off x="3474720" y="1920240"/>
            <a:ext cx="2606040" cy="3931920"/>
          </a:xfrm>
          <a:prstGeom prst="roundRect">
            <a:avLst>
              <a:gd name="adj" fmla="val 2807"/>
            </a:avLst>
          </a:prstGeom>
          <a:solidFill>
            <a:srgbClr val="F7F7F7"/>
          </a:solidFill>
          <a:ln/>
        </p:spPr>
      </p:sp>
      <p:sp>
        <p:nvSpPr>
          <p:cNvPr id="16" name="Shape 12"/>
          <p:cNvSpPr/>
          <p:nvPr/>
        </p:nvSpPr>
        <p:spPr>
          <a:xfrm>
            <a:off x="4457700" y="2194560"/>
            <a:ext cx="640080" cy="640080"/>
          </a:xfrm>
          <a:prstGeom prst="ellipse">
            <a:avLst/>
          </a:prstGeom>
          <a:solidFill>
            <a:srgbClr val="1B1F27"/>
          </a:solidFill>
          <a:ln/>
        </p:spPr>
      </p:sp>
      <p:pic>
        <p:nvPicPr>
          <p:cNvPr id="17" name="Image 2" descr="icons/fork_red.png"/>
          <p:cNvPicPr>
            <a:picLocks noChangeAspect="1"/>
          </p:cNvPicPr>
          <p:nvPr/>
        </p:nvPicPr>
        <p:blipFill>
          <a:blip r:embed="rId5"/>
          <a:stretch>
            <a:fillRect/>
          </a:stretch>
        </p:blipFill>
        <p:spPr>
          <a:xfrm>
            <a:off x="4604004" y="2340864"/>
            <a:ext cx="347472" cy="347472"/>
          </a:xfrm>
          <a:prstGeom prst="rect">
            <a:avLst/>
          </a:prstGeom>
        </p:spPr>
      </p:pic>
      <p:sp>
        <p:nvSpPr>
          <p:cNvPr id="18" name="Text 13"/>
          <p:cNvSpPr/>
          <p:nvPr/>
        </p:nvSpPr>
        <p:spPr>
          <a:xfrm>
            <a:off x="3611880" y="2971800"/>
            <a:ext cx="2331720" cy="365760"/>
          </a:xfrm>
          <a:prstGeom prst="rect">
            <a:avLst/>
          </a:prstGeom>
          <a:noFill/>
          <a:ln/>
        </p:spPr>
        <p:txBody>
          <a:bodyPr wrap="square" rtlCol="0" anchor="ctr"/>
          <a:lstStyle/>
          <a:p>
            <a:pPr marL="0" indent="0" algn="ctr">
              <a:buNone/>
            </a:pPr>
            <a:r>
              <a:rPr lang="en-US" sz="1600" b="1" dirty="0">
                <a:solidFill>
                  <a:srgbClr val="1B1F27"/>
                </a:solidFill>
                <a:latin typeface="Cambria" pitchFamily="34" charset="0"/>
                <a:ea typeface="Cambria" pitchFamily="34" charset="-122"/>
                <a:cs typeface="Cambria" pitchFamily="34" charset="-120"/>
              </a:rPr>
              <a:t>Valkey</a:t>
            </a:r>
            <a:endParaRPr lang="en-US" sz="1600" dirty="0"/>
          </a:p>
        </p:txBody>
      </p:sp>
      <p:sp>
        <p:nvSpPr>
          <p:cNvPr id="19" name="Shape 14"/>
          <p:cNvSpPr/>
          <p:nvPr/>
        </p:nvSpPr>
        <p:spPr>
          <a:xfrm>
            <a:off x="3749040" y="3429000"/>
            <a:ext cx="2057400" cy="18288"/>
          </a:xfrm>
          <a:prstGeom prst="rect">
            <a:avLst/>
          </a:prstGeom>
          <a:solidFill>
            <a:srgbClr val="E1E3E6"/>
          </a:solidFill>
          <a:ln/>
        </p:spPr>
      </p:sp>
      <p:sp>
        <p:nvSpPr>
          <p:cNvPr id="20" name="Text 15"/>
          <p:cNvSpPr/>
          <p:nvPr/>
        </p:nvSpPr>
        <p:spPr>
          <a:xfrm>
            <a:off x="3749040" y="3566160"/>
            <a:ext cx="2057400" cy="256032"/>
          </a:xfrm>
          <a:prstGeom prst="rect">
            <a:avLst/>
          </a:prstGeom>
          <a:noFill/>
          <a:ln/>
        </p:spPr>
        <p:txBody>
          <a:bodyPr wrap="square" rtlCol="0" anchor="ctr"/>
          <a:lstStyle/>
          <a:p>
            <a:pPr marL="0" indent="0" algn="ctr">
              <a:buNone/>
            </a:pPr>
            <a:r>
              <a:rPr lang="en-US" sz="1000" b="1" kern="0" spc="100" dirty="0">
                <a:solidFill>
                  <a:srgbClr val="DC382D"/>
                </a:solidFill>
                <a:latin typeface="Calibri" pitchFamily="34" charset="0"/>
                <a:ea typeface="Calibri" pitchFamily="34" charset="-122"/>
                <a:cs typeface="Calibri" pitchFamily="34" charset="-120"/>
              </a:rPr>
              <a:t>USED BY</a:t>
            </a:r>
            <a:endParaRPr lang="en-US" sz="1000" dirty="0"/>
          </a:p>
        </p:txBody>
      </p:sp>
      <p:sp>
        <p:nvSpPr>
          <p:cNvPr id="21" name="Text 16"/>
          <p:cNvSpPr/>
          <p:nvPr/>
        </p:nvSpPr>
        <p:spPr>
          <a:xfrm>
            <a:off x="3703320" y="3822192"/>
            <a:ext cx="2148840" cy="548640"/>
          </a:xfrm>
          <a:prstGeom prst="rect">
            <a:avLst/>
          </a:prstGeom>
          <a:noFill/>
          <a:ln/>
        </p:spPr>
        <p:txBody>
          <a:bodyPr wrap="square" rtlCol="0" anchor="ctr"/>
          <a:lstStyle/>
          <a:p>
            <a:pPr marL="0" indent="0" algn="ctr">
              <a:buNone/>
            </a:pPr>
            <a:r>
              <a:rPr lang="en-US" sz="1150" b="1" dirty="0">
                <a:solidFill>
                  <a:srgbClr val="1B1F27"/>
                </a:solidFill>
                <a:latin typeface="Calibri" pitchFamily="34" charset="0"/>
                <a:ea typeface="Calibri" pitchFamily="34" charset="-122"/>
                <a:cs typeface="Calibri" pitchFamily="34" charset="-120"/>
              </a:rPr>
              <a:t>AWS ElastiCache, Google Memorystore</a:t>
            </a:r>
            <a:endParaRPr lang="en-US" sz="1150" dirty="0"/>
          </a:p>
        </p:txBody>
      </p:sp>
      <p:sp>
        <p:nvSpPr>
          <p:cNvPr id="22" name="Text 17"/>
          <p:cNvSpPr/>
          <p:nvPr/>
        </p:nvSpPr>
        <p:spPr>
          <a:xfrm>
            <a:off x="3749040" y="4434840"/>
            <a:ext cx="2057400" cy="256032"/>
          </a:xfrm>
          <a:prstGeom prst="rect">
            <a:avLst/>
          </a:prstGeom>
          <a:noFill/>
          <a:ln/>
        </p:spPr>
        <p:txBody>
          <a:bodyPr wrap="square" rtlCol="0" anchor="ctr"/>
          <a:lstStyle/>
          <a:p>
            <a:pPr marL="0" indent="0" algn="ctr">
              <a:buNone/>
            </a:pPr>
            <a:r>
              <a:rPr lang="en-US" sz="1000" b="1" kern="0" spc="100" dirty="0">
                <a:solidFill>
                  <a:srgbClr val="DC382D"/>
                </a:solidFill>
                <a:latin typeface="Calibri" pitchFamily="34" charset="0"/>
                <a:ea typeface="Calibri" pitchFamily="34" charset="-122"/>
                <a:cs typeface="Calibri" pitchFamily="34" charset="-120"/>
              </a:rPr>
              <a:t>WHY</a:t>
            </a:r>
            <a:endParaRPr lang="en-US" sz="1000" dirty="0"/>
          </a:p>
        </p:txBody>
      </p:sp>
      <p:sp>
        <p:nvSpPr>
          <p:cNvPr id="23" name="Text 18"/>
          <p:cNvSpPr/>
          <p:nvPr/>
        </p:nvSpPr>
        <p:spPr>
          <a:xfrm>
            <a:off x="3703320" y="4681728"/>
            <a:ext cx="2148840" cy="1097280"/>
          </a:xfrm>
          <a:prstGeom prst="rect">
            <a:avLst/>
          </a:prstGeom>
          <a:noFill/>
          <a:ln/>
        </p:spPr>
        <p:txBody>
          <a:bodyPr wrap="square" rtlCol="0" anchor="t"/>
          <a:lstStyle/>
          <a:p>
            <a:pPr marL="0" indent="0" algn="ctr">
              <a:buNone/>
            </a:pPr>
            <a:r>
              <a:rPr lang="en-US" sz="1030" dirty="0">
                <a:solidFill>
                  <a:srgbClr val="5B6270"/>
                </a:solidFill>
                <a:latin typeface="Calibri" pitchFamily="34" charset="0"/>
                <a:ea typeface="Calibri" pitchFamily="34" charset="-122"/>
                <a:cs typeface="Calibri" pitchFamily="34" charset="-120"/>
              </a:rPr>
              <a:t>A drop-in, fully open-source (BSD) replacement for teams who want the Redis API without the newer license terms.</a:t>
            </a:r>
            <a:endParaRPr lang="en-US" sz="1030" dirty="0"/>
          </a:p>
        </p:txBody>
      </p:sp>
      <p:sp>
        <p:nvSpPr>
          <p:cNvPr id="24" name="Shape 19"/>
          <p:cNvSpPr/>
          <p:nvPr/>
        </p:nvSpPr>
        <p:spPr>
          <a:xfrm>
            <a:off x="6400800" y="1920240"/>
            <a:ext cx="2606040" cy="3931920"/>
          </a:xfrm>
          <a:prstGeom prst="roundRect">
            <a:avLst>
              <a:gd name="adj" fmla="val 2807"/>
            </a:avLst>
          </a:prstGeom>
          <a:solidFill>
            <a:srgbClr val="F7F7F7"/>
          </a:solidFill>
          <a:ln/>
        </p:spPr>
      </p:sp>
      <p:sp>
        <p:nvSpPr>
          <p:cNvPr id="25" name="Shape 20"/>
          <p:cNvSpPr/>
          <p:nvPr/>
        </p:nvSpPr>
        <p:spPr>
          <a:xfrm>
            <a:off x="7383780" y="2194560"/>
            <a:ext cx="640080" cy="640080"/>
          </a:xfrm>
          <a:prstGeom prst="ellipse">
            <a:avLst/>
          </a:prstGeom>
          <a:solidFill>
            <a:srgbClr val="1B1F27"/>
          </a:solidFill>
          <a:ln/>
        </p:spPr>
      </p:sp>
      <p:pic>
        <p:nvPicPr>
          <p:cNvPr id="26" name="Image 3" descr="icons/rocket_red.png"/>
          <p:cNvPicPr>
            <a:picLocks noChangeAspect="1"/>
          </p:cNvPicPr>
          <p:nvPr/>
        </p:nvPicPr>
        <p:blipFill>
          <a:blip r:embed="rId6"/>
          <a:stretch>
            <a:fillRect/>
          </a:stretch>
        </p:blipFill>
        <p:spPr>
          <a:xfrm>
            <a:off x="7530084" y="2340864"/>
            <a:ext cx="347472" cy="347472"/>
          </a:xfrm>
          <a:prstGeom prst="rect">
            <a:avLst/>
          </a:prstGeom>
        </p:spPr>
      </p:pic>
      <p:sp>
        <p:nvSpPr>
          <p:cNvPr id="27" name="Text 21"/>
          <p:cNvSpPr/>
          <p:nvPr/>
        </p:nvSpPr>
        <p:spPr>
          <a:xfrm>
            <a:off x="6537960" y="2971800"/>
            <a:ext cx="2331720" cy="365760"/>
          </a:xfrm>
          <a:prstGeom prst="rect">
            <a:avLst/>
          </a:prstGeom>
          <a:noFill/>
          <a:ln/>
        </p:spPr>
        <p:txBody>
          <a:bodyPr wrap="square" rtlCol="0" anchor="ctr"/>
          <a:lstStyle/>
          <a:p>
            <a:pPr marL="0" indent="0" algn="ctr">
              <a:buNone/>
            </a:pPr>
            <a:r>
              <a:rPr lang="en-US" sz="1600" b="1" dirty="0">
                <a:solidFill>
                  <a:srgbClr val="1B1F27"/>
                </a:solidFill>
                <a:latin typeface="Cambria" pitchFamily="34" charset="0"/>
                <a:ea typeface="Cambria" pitchFamily="34" charset="-122"/>
                <a:cs typeface="Cambria" pitchFamily="34" charset="-120"/>
              </a:rPr>
              <a:t>Dragonfly</a:t>
            </a:r>
            <a:endParaRPr lang="en-US" sz="1600" dirty="0"/>
          </a:p>
        </p:txBody>
      </p:sp>
      <p:sp>
        <p:nvSpPr>
          <p:cNvPr id="28" name="Shape 22"/>
          <p:cNvSpPr/>
          <p:nvPr/>
        </p:nvSpPr>
        <p:spPr>
          <a:xfrm>
            <a:off x="6675120" y="3429000"/>
            <a:ext cx="2057400" cy="18288"/>
          </a:xfrm>
          <a:prstGeom prst="rect">
            <a:avLst/>
          </a:prstGeom>
          <a:solidFill>
            <a:srgbClr val="E1E3E6"/>
          </a:solidFill>
          <a:ln/>
        </p:spPr>
      </p:sp>
      <p:sp>
        <p:nvSpPr>
          <p:cNvPr id="29" name="Text 23"/>
          <p:cNvSpPr/>
          <p:nvPr/>
        </p:nvSpPr>
        <p:spPr>
          <a:xfrm>
            <a:off x="6675120" y="3566160"/>
            <a:ext cx="2057400" cy="256032"/>
          </a:xfrm>
          <a:prstGeom prst="rect">
            <a:avLst/>
          </a:prstGeom>
          <a:noFill/>
          <a:ln/>
        </p:spPr>
        <p:txBody>
          <a:bodyPr wrap="square" rtlCol="0" anchor="ctr"/>
          <a:lstStyle/>
          <a:p>
            <a:pPr marL="0" indent="0" algn="ctr">
              <a:buNone/>
            </a:pPr>
            <a:r>
              <a:rPr lang="en-US" sz="1000" b="1" kern="0" spc="100" dirty="0">
                <a:solidFill>
                  <a:srgbClr val="DC382D"/>
                </a:solidFill>
                <a:latin typeface="Calibri" pitchFamily="34" charset="0"/>
                <a:ea typeface="Calibri" pitchFamily="34" charset="-122"/>
                <a:cs typeface="Calibri" pitchFamily="34" charset="-120"/>
              </a:rPr>
              <a:t>USED BY</a:t>
            </a:r>
            <a:endParaRPr lang="en-US" sz="1000" dirty="0"/>
          </a:p>
        </p:txBody>
      </p:sp>
      <p:sp>
        <p:nvSpPr>
          <p:cNvPr id="30" name="Text 24"/>
          <p:cNvSpPr/>
          <p:nvPr/>
        </p:nvSpPr>
        <p:spPr>
          <a:xfrm>
            <a:off x="6629400" y="3822192"/>
            <a:ext cx="2148840" cy="548640"/>
          </a:xfrm>
          <a:prstGeom prst="rect">
            <a:avLst/>
          </a:prstGeom>
          <a:noFill/>
          <a:ln/>
        </p:spPr>
        <p:txBody>
          <a:bodyPr wrap="square" rtlCol="0" anchor="ctr"/>
          <a:lstStyle/>
          <a:p>
            <a:pPr marL="0" indent="0" algn="ctr">
              <a:buNone/>
            </a:pPr>
            <a:r>
              <a:rPr lang="en-US" sz="1150" b="1" dirty="0">
                <a:solidFill>
                  <a:srgbClr val="1B1F27"/>
                </a:solidFill>
                <a:latin typeface="Calibri" pitchFamily="34" charset="0"/>
                <a:ea typeface="Calibri" pitchFamily="34" charset="-122"/>
                <a:cs typeface="Calibri" pitchFamily="34" charset="-120"/>
              </a:rPr>
              <a:t>Meesho, Sharp App</a:t>
            </a:r>
            <a:endParaRPr lang="en-US" sz="1150" dirty="0"/>
          </a:p>
        </p:txBody>
      </p:sp>
      <p:sp>
        <p:nvSpPr>
          <p:cNvPr id="31" name="Text 25"/>
          <p:cNvSpPr/>
          <p:nvPr/>
        </p:nvSpPr>
        <p:spPr>
          <a:xfrm>
            <a:off x="6675120" y="4434840"/>
            <a:ext cx="2057400" cy="256032"/>
          </a:xfrm>
          <a:prstGeom prst="rect">
            <a:avLst/>
          </a:prstGeom>
          <a:noFill/>
          <a:ln/>
        </p:spPr>
        <p:txBody>
          <a:bodyPr wrap="square" rtlCol="0" anchor="ctr"/>
          <a:lstStyle/>
          <a:p>
            <a:pPr marL="0" indent="0" algn="ctr">
              <a:buNone/>
            </a:pPr>
            <a:r>
              <a:rPr lang="en-US" sz="1000" b="1" kern="0" spc="100" dirty="0">
                <a:solidFill>
                  <a:srgbClr val="DC382D"/>
                </a:solidFill>
                <a:latin typeface="Calibri" pitchFamily="34" charset="0"/>
                <a:ea typeface="Calibri" pitchFamily="34" charset="-122"/>
                <a:cs typeface="Calibri" pitchFamily="34" charset="-120"/>
              </a:rPr>
              <a:t>WHY</a:t>
            </a:r>
            <a:endParaRPr lang="en-US" sz="1000" dirty="0"/>
          </a:p>
        </p:txBody>
      </p:sp>
      <p:sp>
        <p:nvSpPr>
          <p:cNvPr id="32" name="Text 26"/>
          <p:cNvSpPr/>
          <p:nvPr/>
        </p:nvSpPr>
        <p:spPr>
          <a:xfrm>
            <a:off x="6629400" y="4681728"/>
            <a:ext cx="2148840" cy="1097280"/>
          </a:xfrm>
          <a:prstGeom prst="rect">
            <a:avLst/>
          </a:prstGeom>
          <a:noFill/>
          <a:ln/>
        </p:spPr>
        <p:txBody>
          <a:bodyPr wrap="square" rtlCol="0" anchor="t"/>
          <a:lstStyle/>
          <a:p>
            <a:pPr marL="0" indent="0" algn="ctr">
              <a:buNone/>
            </a:pPr>
            <a:r>
              <a:rPr lang="en-US" sz="1030" dirty="0">
                <a:solidFill>
                  <a:srgbClr val="5B6270"/>
                </a:solidFill>
                <a:latin typeface="Calibri" pitchFamily="34" charset="0"/>
                <a:ea typeface="Calibri" pitchFamily="34" charset="-122"/>
                <a:cs typeface="Calibri" pitchFamily="34" charset="-120"/>
              </a:rPr>
              <a:t>A multi-threaded, from-scratch rewrite of the Redis protocol — for teams that outgrew a single-threaded core and want far more throughput per instance.</a:t>
            </a:r>
            <a:endParaRPr lang="en-US" sz="1030" dirty="0"/>
          </a:p>
        </p:txBody>
      </p:sp>
      <p:sp>
        <p:nvSpPr>
          <p:cNvPr id="33" name="Shape 27"/>
          <p:cNvSpPr/>
          <p:nvPr/>
        </p:nvSpPr>
        <p:spPr>
          <a:xfrm>
            <a:off x="9326880" y="1920240"/>
            <a:ext cx="2606040" cy="3931920"/>
          </a:xfrm>
          <a:prstGeom prst="roundRect">
            <a:avLst>
              <a:gd name="adj" fmla="val 2807"/>
            </a:avLst>
          </a:prstGeom>
          <a:solidFill>
            <a:srgbClr val="F7F7F7"/>
          </a:solidFill>
          <a:ln/>
        </p:spPr>
      </p:sp>
      <p:sp>
        <p:nvSpPr>
          <p:cNvPr id="34" name="Shape 28"/>
          <p:cNvSpPr/>
          <p:nvPr/>
        </p:nvSpPr>
        <p:spPr>
          <a:xfrm>
            <a:off x="10309860" y="2194560"/>
            <a:ext cx="640080" cy="640080"/>
          </a:xfrm>
          <a:prstGeom prst="ellipse">
            <a:avLst/>
          </a:prstGeom>
          <a:solidFill>
            <a:srgbClr val="1B1F27"/>
          </a:solidFill>
          <a:ln/>
        </p:spPr>
      </p:sp>
      <p:pic>
        <p:nvPicPr>
          <p:cNvPr id="35" name="Image 4" descr="icons/chart_red.png"/>
          <p:cNvPicPr>
            <a:picLocks noChangeAspect="1"/>
          </p:cNvPicPr>
          <p:nvPr/>
        </p:nvPicPr>
        <p:blipFill>
          <a:blip r:embed="rId7"/>
          <a:stretch>
            <a:fillRect/>
          </a:stretch>
        </p:blipFill>
        <p:spPr>
          <a:xfrm>
            <a:off x="10456164" y="2340864"/>
            <a:ext cx="347472" cy="347472"/>
          </a:xfrm>
          <a:prstGeom prst="rect">
            <a:avLst/>
          </a:prstGeom>
        </p:spPr>
      </p:pic>
      <p:sp>
        <p:nvSpPr>
          <p:cNvPr id="36" name="Text 29"/>
          <p:cNvSpPr/>
          <p:nvPr/>
        </p:nvSpPr>
        <p:spPr>
          <a:xfrm>
            <a:off x="9464040" y="2971800"/>
            <a:ext cx="2331720" cy="365760"/>
          </a:xfrm>
          <a:prstGeom prst="rect">
            <a:avLst/>
          </a:prstGeom>
          <a:noFill/>
          <a:ln/>
        </p:spPr>
        <p:txBody>
          <a:bodyPr wrap="square" rtlCol="0" anchor="ctr"/>
          <a:lstStyle/>
          <a:p>
            <a:pPr marL="0" indent="0" algn="ctr">
              <a:buNone/>
            </a:pPr>
            <a:r>
              <a:rPr lang="en-US" sz="1600" b="1" dirty="0">
                <a:solidFill>
                  <a:srgbClr val="1B1F27"/>
                </a:solidFill>
                <a:latin typeface="Cambria" pitchFamily="34" charset="0"/>
                <a:ea typeface="Cambria" pitchFamily="34" charset="-122"/>
                <a:cs typeface="Cambria" pitchFamily="34" charset="-120"/>
              </a:rPr>
              <a:t>Hazelcast</a:t>
            </a:r>
            <a:endParaRPr lang="en-US" sz="1600" dirty="0"/>
          </a:p>
        </p:txBody>
      </p:sp>
      <p:sp>
        <p:nvSpPr>
          <p:cNvPr id="37" name="Shape 30"/>
          <p:cNvSpPr/>
          <p:nvPr/>
        </p:nvSpPr>
        <p:spPr>
          <a:xfrm>
            <a:off x="9601200" y="3429000"/>
            <a:ext cx="2057400" cy="18288"/>
          </a:xfrm>
          <a:prstGeom prst="rect">
            <a:avLst/>
          </a:prstGeom>
          <a:solidFill>
            <a:srgbClr val="E1E3E6"/>
          </a:solidFill>
          <a:ln/>
        </p:spPr>
      </p:sp>
      <p:sp>
        <p:nvSpPr>
          <p:cNvPr id="38" name="Text 31"/>
          <p:cNvSpPr/>
          <p:nvPr/>
        </p:nvSpPr>
        <p:spPr>
          <a:xfrm>
            <a:off x="9601200" y="3566160"/>
            <a:ext cx="2057400" cy="256032"/>
          </a:xfrm>
          <a:prstGeom prst="rect">
            <a:avLst/>
          </a:prstGeom>
          <a:noFill/>
          <a:ln/>
        </p:spPr>
        <p:txBody>
          <a:bodyPr wrap="square" rtlCol="0" anchor="ctr"/>
          <a:lstStyle/>
          <a:p>
            <a:pPr marL="0" indent="0" algn="ctr">
              <a:buNone/>
            </a:pPr>
            <a:r>
              <a:rPr lang="en-US" sz="1000" b="1" kern="0" spc="100" dirty="0">
                <a:solidFill>
                  <a:srgbClr val="DC382D"/>
                </a:solidFill>
                <a:latin typeface="Calibri" pitchFamily="34" charset="0"/>
                <a:ea typeface="Calibri" pitchFamily="34" charset="-122"/>
                <a:cs typeface="Calibri" pitchFamily="34" charset="-120"/>
              </a:rPr>
              <a:t>USED BY</a:t>
            </a:r>
            <a:endParaRPr lang="en-US" sz="1000" dirty="0"/>
          </a:p>
        </p:txBody>
      </p:sp>
      <p:sp>
        <p:nvSpPr>
          <p:cNvPr id="39" name="Text 32"/>
          <p:cNvSpPr/>
          <p:nvPr/>
        </p:nvSpPr>
        <p:spPr>
          <a:xfrm>
            <a:off x="9555480" y="3822192"/>
            <a:ext cx="2148840" cy="548640"/>
          </a:xfrm>
          <a:prstGeom prst="rect">
            <a:avLst/>
          </a:prstGeom>
          <a:noFill/>
          <a:ln/>
        </p:spPr>
        <p:txBody>
          <a:bodyPr wrap="square" rtlCol="0" anchor="ctr"/>
          <a:lstStyle/>
          <a:p>
            <a:pPr marL="0" indent="0" algn="ctr">
              <a:buNone/>
            </a:pPr>
            <a:r>
              <a:rPr lang="en-US" sz="1150" b="1" dirty="0">
                <a:solidFill>
                  <a:srgbClr val="1B1F27"/>
                </a:solidFill>
                <a:latin typeface="Calibri" pitchFamily="34" charset="0"/>
                <a:ea typeface="Calibri" pitchFamily="34" charset="-122"/>
                <a:cs typeface="Calibri" pitchFamily="34" charset="-120"/>
              </a:rPr>
              <a:t>Banks &amp; Java-heavy enterprises</a:t>
            </a:r>
            <a:endParaRPr lang="en-US" sz="1150" dirty="0"/>
          </a:p>
        </p:txBody>
      </p:sp>
      <p:sp>
        <p:nvSpPr>
          <p:cNvPr id="40" name="Text 33"/>
          <p:cNvSpPr/>
          <p:nvPr/>
        </p:nvSpPr>
        <p:spPr>
          <a:xfrm>
            <a:off x="9601200" y="4434840"/>
            <a:ext cx="2057400" cy="256032"/>
          </a:xfrm>
          <a:prstGeom prst="rect">
            <a:avLst/>
          </a:prstGeom>
          <a:noFill/>
          <a:ln/>
        </p:spPr>
        <p:txBody>
          <a:bodyPr wrap="square" rtlCol="0" anchor="ctr"/>
          <a:lstStyle/>
          <a:p>
            <a:pPr marL="0" indent="0" algn="ctr">
              <a:buNone/>
            </a:pPr>
            <a:r>
              <a:rPr lang="en-US" sz="1000" b="1" kern="0" spc="100" dirty="0">
                <a:solidFill>
                  <a:srgbClr val="DC382D"/>
                </a:solidFill>
                <a:latin typeface="Calibri" pitchFamily="34" charset="0"/>
                <a:ea typeface="Calibri" pitchFamily="34" charset="-122"/>
                <a:cs typeface="Calibri" pitchFamily="34" charset="-120"/>
              </a:rPr>
              <a:t>WHY</a:t>
            </a:r>
            <a:endParaRPr lang="en-US" sz="1000" dirty="0"/>
          </a:p>
        </p:txBody>
      </p:sp>
      <p:sp>
        <p:nvSpPr>
          <p:cNvPr id="41" name="Text 34"/>
          <p:cNvSpPr/>
          <p:nvPr/>
        </p:nvSpPr>
        <p:spPr>
          <a:xfrm>
            <a:off x="9555480" y="4681728"/>
            <a:ext cx="2148840" cy="1097280"/>
          </a:xfrm>
          <a:prstGeom prst="rect">
            <a:avLst/>
          </a:prstGeom>
          <a:noFill/>
          <a:ln/>
        </p:spPr>
        <p:txBody>
          <a:bodyPr wrap="square" rtlCol="0" anchor="t"/>
          <a:lstStyle/>
          <a:p>
            <a:pPr marL="0" indent="0" algn="ctr">
              <a:buNone/>
            </a:pPr>
            <a:r>
              <a:rPr lang="en-US" sz="1030" dirty="0">
                <a:solidFill>
                  <a:srgbClr val="5B6270"/>
                </a:solidFill>
                <a:latin typeface="Calibri" pitchFamily="34" charset="0"/>
                <a:ea typeface="Calibri" pitchFamily="34" charset="-122"/>
                <a:cs typeface="Calibri" pitchFamily="34" charset="-120"/>
              </a:rPr>
              <a:t>In-JVM distributed computing — not just a cache, but shared objects and compute across a Java application cluster.</a:t>
            </a:r>
            <a:endParaRPr lang="en-US" sz="1030" dirty="0"/>
          </a:p>
        </p:txBody>
      </p:sp>
      <p:sp>
        <p:nvSpPr>
          <p:cNvPr id="42" name="Text 35"/>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5B6270"/>
                </a:solidFill>
                <a:latin typeface="Calibri" pitchFamily="34" charset="0"/>
                <a:ea typeface="Calibri" pitchFamily="34" charset="-122"/>
                <a:cs typeface="Calibri" pitchFamily="34" charset="-120"/>
              </a:rPr>
              <a:t>Alternatives</a:t>
            </a:r>
            <a:endParaRPr lang="en-US" sz="1000" dirty="0"/>
          </a:p>
        </p:txBody>
      </p:sp>
      <p:sp>
        <p:nvSpPr>
          <p:cNvPr id="43" name="Text 36"/>
          <p:cNvSpPr/>
          <p:nvPr/>
        </p:nvSpPr>
        <p:spPr>
          <a:xfrm>
            <a:off x="11247120" y="6537960"/>
            <a:ext cx="457200" cy="274320"/>
          </a:xfrm>
          <a:prstGeom prst="rect">
            <a:avLst/>
          </a:prstGeom>
          <a:noFill/>
          <a:ln/>
        </p:spPr>
        <p:txBody>
          <a:bodyPr wrap="square"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F27"/>
        </a:solidFill>
        <a:effectLst/>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DC382D"/>
          </a:solidFill>
          <a:ln/>
        </p:spPr>
      </p:sp>
      <p:pic>
        <p:nvPicPr>
          <p:cNvPr id="3" name="Image 0" descr="icons/code_red.png"/>
          <p:cNvPicPr>
            <a:picLocks noChangeAspect="1"/>
          </p:cNvPicPr>
          <p:nvPr/>
        </p:nvPicPr>
        <p:blipFill>
          <a:blip r:embed="rId3"/>
          <a:stretch>
            <a:fillRect/>
          </a:stretch>
        </p:blipFill>
        <p:spPr>
          <a:xfrm>
            <a:off x="694944" y="649224"/>
            <a:ext cx="274320" cy="274320"/>
          </a:xfrm>
          <a:prstGeom prst="rect">
            <a:avLst/>
          </a:prstGeom>
        </p:spPr>
      </p:pic>
      <p:sp>
        <p:nvSpPr>
          <p:cNvPr id="4" name="Text 1"/>
          <p:cNvSpPr/>
          <p:nvPr/>
        </p:nvSpPr>
        <p:spPr>
          <a:xfrm>
            <a:off x="1280160" y="457200"/>
            <a:ext cx="7315200" cy="274320"/>
          </a:xfrm>
          <a:prstGeom prst="rect">
            <a:avLst/>
          </a:prstGeom>
          <a:noFill/>
          <a:ln/>
        </p:spPr>
        <p:txBody>
          <a:bodyPr wrap="square" rtlCol="0" anchor="ctr"/>
          <a:lstStyle/>
          <a:p>
            <a:pPr marL="0" indent="0">
              <a:buNone/>
            </a:pPr>
            <a:r>
              <a:rPr lang="en-US" sz="1300" b="1" kern="0" spc="200" dirty="0">
                <a:solidFill>
                  <a:srgbClr val="DC382D"/>
                </a:solidFill>
                <a:latin typeface="Calibri" pitchFamily="34" charset="0"/>
                <a:ea typeface="Calibri" pitchFamily="34" charset="-122"/>
                <a:cs typeface="Calibri" pitchFamily="34" charset="-120"/>
              </a:rPr>
              <a:t>C# IN PRACTICE · 01</a:t>
            </a:r>
            <a:endParaRPr lang="en-US" sz="1300" dirty="0"/>
          </a:p>
        </p:txBody>
      </p:sp>
      <p:sp>
        <p:nvSpPr>
          <p:cNvPr id="5" name="Text 2"/>
          <p:cNvSpPr/>
          <p:nvPr/>
        </p:nvSpPr>
        <p:spPr>
          <a:xfrm>
            <a:off x="1280160" y="713232"/>
            <a:ext cx="10241280" cy="54864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Connecting with StackExchange.Redis</a:t>
            </a:r>
            <a:endParaRPr lang="en-US" sz="2800" dirty="0"/>
          </a:p>
        </p:txBody>
      </p:sp>
      <p:sp>
        <p:nvSpPr>
          <p:cNvPr id="6" name="Text 3"/>
          <p:cNvSpPr/>
          <p:nvPr/>
        </p:nvSpPr>
        <p:spPr>
          <a:xfrm>
            <a:off x="1280160" y="1234440"/>
            <a:ext cx="10058400" cy="320040"/>
          </a:xfrm>
          <a:prstGeom prst="rect">
            <a:avLst/>
          </a:prstGeom>
          <a:noFill/>
          <a:ln/>
        </p:spPr>
        <p:txBody>
          <a:bodyPr wrap="square" rtlCol="0" anchor="ctr"/>
          <a:lstStyle/>
          <a:p>
            <a:pPr marL="0" indent="0">
              <a:buNone/>
            </a:pPr>
            <a:r>
              <a:rPr lang="en-US" sz="1350" i="1" dirty="0">
                <a:solidFill>
                  <a:srgbClr val="C9CDD3"/>
                </a:solidFill>
                <a:latin typeface="Calibri" pitchFamily="34" charset="0"/>
                <a:ea typeface="Calibri" pitchFamily="34" charset="-122"/>
                <a:cs typeface="Calibri" pitchFamily="34" charset="-120"/>
              </a:rPr>
              <a:t>The official, most widely used .NET client for Redis.</a:t>
            </a:r>
            <a:endParaRPr lang="en-US" sz="1350" dirty="0"/>
          </a:p>
        </p:txBody>
      </p:sp>
      <p:sp>
        <p:nvSpPr>
          <p:cNvPr id="7" name="Shape 4"/>
          <p:cNvSpPr/>
          <p:nvPr/>
        </p:nvSpPr>
        <p:spPr>
          <a:xfrm>
            <a:off x="548640" y="1783080"/>
            <a:ext cx="5212080" cy="914400"/>
          </a:xfrm>
          <a:prstGeom prst="roundRect">
            <a:avLst>
              <a:gd name="adj" fmla="val 8000"/>
            </a:avLst>
          </a:prstGeom>
          <a:solidFill>
            <a:srgbClr val="2A2F3A"/>
          </a:solidFill>
          <a:ln/>
        </p:spPr>
      </p:sp>
      <p:sp>
        <p:nvSpPr>
          <p:cNvPr id="8" name="Text 5"/>
          <p:cNvSpPr/>
          <p:nvPr/>
        </p:nvSpPr>
        <p:spPr>
          <a:xfrm>
            <a:off x="822960" y="1783080"/>
            <a:ext cx="4663440" cy="914400"/>
          </a:xfrm>
          <a:prstGeom prst="rect">
            <a:avLst/>
          </a:prstGeom>
          <a:noFill/>
          <a:ln/>
        </p:spPr>
        <p:txBody>
          <a:bodyPr wrap="square" rtlCol="0" anchor="ctr"/>
          <a:lstStyle/>
          <a:p>
            <a:pPr marL="0" indent="0">
              <a:buNone/>
            </a:pPr>
            <a:r>
              <a:rPr lang="en-US" sz="1300" dirty="0">
                <a:solidFill>
                  <a:srgbClr val="F2A900"/>
                </a:solidFill>
                <a:latin typeface="Courier New" pitchFamily="34" charset="0"/>
                <a:ea typeface="Courier New" pitchFamily="34" charset="-122"/>
                <a:cs typeface="Courier New" pitchFamily="34" charset="-120"/>
              </a:rPr>
              <a:t>dotnet add package StackExchange.Redis</a:t>
            </a:r>
            <a:endParaRPr lang="en-US" sz="1300" dirty="0"/>
          </a:p>
        </p:txBody>
      </p:sp>
      <p:sp>
        <p:nvSpPr>
          <p:cNvPr id="9" name="Shape 6"/>
          <p:cNvSpPr/>
          <p:nvPr/>
        </p:nvSpPr>
        <p:spPr>
          <a:xfrm>
            <a:off x="548640" y="2880360"/>
            <a:ext cx="11064240" cy="3337560"/>
          </a:xfrm>
          <a:prstGeom prst="roundRect">
            <a:avLst>
              <a:gd name="adj" fmla="val 2192"/>
            </a:avLst>
          </a:prstGeom>
          <a:solidFill>
            <a:srgbClr val="12151B"/>
          </a:solidFill>
          <a:ln/>
        </p:spPr>
      </p:sp>
      <p:sp>
        <p:nvSpPr>
          <p:cNvPr id="10" name="Text 7"/>
          <p:cNvSpPr/>
          <p:nvPr/>
        </p:nvSpPr>
        <p:spPr>
          <a:xfrm>
            <a:off x="868680" y="3063240"/>
            <a:ext cx="10515600" cy="3017520"/>
          </a:xfrm>
          <a:prstGeom prst="rect">
            <a:avLst/>
          </a:prstGeom>
          <a:noFill/>
          <a:ln/>
        </p:spPr>
        <p:txBody>
          <a:bodyPr wrap="square" rtlCol="0" anchor="t"/>
          <a:lstStyle/>
          <a:p>
            <a:pPr marL="0" indent="0">
              <a:lnSpc>
                <a:spcPct val="115000"/>
              </a:lnSpc>
              <a:buNone/>
            </a:pPr>
            <a:r>
              <a:rPr lang="en-US" sz="1350" dirty="0">
                <a:solidFill>
                  <a:srgbClr val="E8EAED"/>
                </a:solidFill>
                <a:latin typeface="Courier New" pitchFamily="34" charset="0"/>
                <a:ea typeface="Courier New" pitchFamily="34" charset="-122"/>
                <a:cs typeface="Courier New" pitchFamily="34" charset="-120"/>
              </a:rPr>
              <a:t>using StackExchange.Redis;</a:t>
            </a:r>
            <a:endParaRPr lang="en-US" sz="1350" dirty="0"/>
          </a:p>
          <a:p>
            <a:pPr marL="0" indent="0">
              <a:lnSpc>
                <a:spcPct val="115000"/>
              </a:lnSpc>
              <a:buNone/>
            </a:pPr>
            <a:endParaRPr lang="en-US" sz="1350" dirty="0"/>
          </a:p>
          <a:p>
            <a:pPr marL="0" indent="0">
              <a:lnSpc>
                <a:spcPct val="115000"/>
              </a:lnSpc>
              <a:buNone/>
            </a:pPr>
            <a:r>
              <a:rPr lang="en-US" sz="1350" dirty="0">
                <a:solidFill>
                  <a:srgbClr val="E8EAED"/>
                </a:solidFill>
                <a:latin typeface="Courier New" pitchFamily="34" charset="0"/>
                <a:ea typeface="Courier New" pitchFamily="34" charset="-122"/>
                <a:cs typeface="Courier New" pitchFamily="34" charset="-120"/>
              </a:rPr>
              <a:t>// One connection multiplexer per app (thread-safe, reuse everywhere)</a:t>
            </a:r>
            <a:endParaRPr lang="en-US" sz="1350" dirty="0"/>
          </a:p>
          <a:p>
            <a:pPr marL="0" indent="0">
              <a:lnSpc>
                <a:spcPct val="115000"/>
              </a:lnSpc>
              <a:buNone/>
            </a:pPr>
            <a:r>
              <a:rPr lang="en-US" sz="1350" dirty="0">
                <a:solidFill>
                  <a:srgbClr val="E8EAED"/>
                </a:solidFill>
                <a:latin typeface="Courier New" pitchFamily="34" charset="0"/>
                <a:ea typeface="Courier New" pitchFamily="34" charset="-122"/>
                <a:cs typeface="Courier New" pitchFamily="34" charset="-120"/>
              </a:rPr>
              <a:t>ConnectionMultiplexer redis = ConnectionMultiplexer.Connect(</a:t>
            </a:r>
            <a:endParaRPr lang="en-US" sz="1350" dirty="0"/>
          </a:p>
          <a:p>
            <a:pPr marL="0" indent="0">
              <a:lnSpc>
                <a:spcPct val="115000"/>
              </a:lnSpc>
              <a:buNone/>
            </a:pPr>
            <a:r>
              <a:rPr lang="en-US" sz="1350" dirty="0">
                <a:solidFill>
                  <a:srgbClr val="E8EAED"/>
                </a:solidFill>
                <a:latin typeface="Courier New" pitchFamily="34" charset="0"/>
                <a:ea typeface="Courier New" pitchFamily="34" charset="-122"/>
                <a:cs typeface="Courier New" pitchFamily="34" charset="-120"/>
              </a:rPr>
              <a:t>    "localhost:6379");</a:t>
            </a:r>
            <a:endParaRPr lang="en-US" sz="1350" dirty="0"/>
          </a:p>
          <a:p>
            <a:pPr marL="0" indent="0">
              <a:lnSpc>
                <a:spcPct val="115000"/>
              </a:lnSpc>
              <a:buNone/>
            </a:pPr>
            <a:endParaRPr lang="en-US" sz="1350" dirty="0"/>
          </a:p>
          <a:p>
            <a:pPr marL="0" indent="0">
              <a:lnSpc>
                <a:spcPct val="115000"/>
              </a:lnSpc>
              <a:buNone/>
            </a:pPr>
            <a:r>
              <a:rPr lang="en-US" sz="1350" dirty="0">
                <a:solidFill>
                  <a:srgbClr val="E8EAED"/>
                </a:solidFill>
                <a:latin typeface="Courier New" pitchFamily="34" charset="0"/>
                <a:ea typeface="Courier New" pitchFamily="34" charset="-122"/>
                <a:cs typeface="Courier New" pitchFamily="34" charset="-120"/>
              </a:rPr>
              <a:t>IDatabase db = redis.GetDatabase();</a:t>
            </a:r>
            <a:endParaRPr lang="en-US" sz="1350" dirty="0"/>
          </a:p>
          <a:p>
            <a:pPr marL="0" indent="0">
              <a:lnSpc>
                <a:spcPct val="115000"/>
              </a:lnSpc>
              <a:buNone/>
            </a:pPr>
            <a:endParaRPr lang="en-US" sz="1350" dirty="0"/>
          </a:p>
          <a:p>
            <a:pPr marL="0" indent="0">
              <a:lnSpc>
                <a:spcPct val="115000"/>
              </a:lnSpc>
              <a:buNone/>
            </a:pPr>
            <a:r>
              <a:rPr lang="en-US" sz="1350" dirty="0">
                <a:solidFill>
                  <a:srgbClr val="E8EAED"/>
                </a:solidFill>
                <a:latin typeface="Courier New" pitchFamily="34" charset="0"/>
                <a:ea typeface="Courier New" pitchFamily="34" charset="-122"/>
                <a:cs typeface="Courier New" pitchFamily="34" charset="-120"/>
              </a:rPr>
              <a:t>// Basic SET / GET</a:t>
            </a:r>
            <a:endParaRPr lang="en-US" sz="1350" dirty="0"/>
          </a:p>
          <a:p>
            <a:pPr marL="0" indent="0">
              <a:lnSpc>
                <a:spcPct val="115000"/>
              </a:lnSpc>
              <a:buNone/>
            </a:pPr>
            <a:r>
              <a:rPr lang="en-US" sz="1350" dirty="0">
                <a:solidFill>
                  <a:srgbClr val="E8EAED"/>
                </a:solidFill>
                <a:latin typeface="Courier New" pitchFamily="34" charset="0"/>
                <a:ea typeface="Courier New" pitchFamily="34" charset="-122"/>
                <a:cs typeface="Courier New" pitchFamily="34" charset="-120"/>
              </a:rPr>
              <a:t>await db.StringSetAsync("user:1001:name", "Alice");</a:t>
            </a:r>
            <a:endParaRPr lang="en-US" sz="1350" dirty="0"/>
          </a:p>
          <a:p>
            <a:pPr marL="0" indent="0">
              <a:lnSpc>
                <a:spcPct val="115000"/>
              </a:lnSpc>
              <a:buNone/>
            </a:pPr>
            <a:r>
              <a:rPr lang="en-US" sz="1350" dirty="0">
                <a:solidFill>
                  <a:srgbClr val="E8EAED"/>
                </a:solidFill>
                <a:latin typeface="Courier New" pitchFamily="34" charset="0"/>
                <a:ea typeface="Courier New" pitchFamily="34" charset="-122"/>
                <a:cs typeface="Courier New" pitchFamily="34" charset="-120"/>
              </a:rPr>
              <a:t>string? name = await db.StringGetAsync("user:1001:name");</a:t>
            </a:r>
            <a:endParaRPr lang="en-US" sz="1350" dirty="0"/>
          </a:p>
          <a:p>
            <a:pPr marL="0" indent="0">
              <a:lnSpc>
                <a:spcPct val="115000"/>
              </a:lnSpc>
              <a:buNone/>
            </a:pPr>
            <a:r>
              <a:rPr lang="en-US" sz="1350" dirty="0">
                <a:solidFill>
                  <a:srgbClr val="E8EAED"/>
                </a:solidFill>
                <a:latin typeface="Courier New" pitchFamily="34" charset="0"/>
                <a:ea typeface="Courier New" pitchFamily="34" charset="-122"/>
                <a:cs typeface="Courier New" pitchFamily="34" charset="-120"/>
              </a:rPr>
              <a:t>Console.WriteLine(name); // "Alice"</a:t>
            </a:r>
            <a:endParaRPr lang="en-US" sz="1350" dirty="0"/>
          </a:p>
        </p:txBody>
      </p:sp>
      <p:sp>
        <p:nvSpPr>
          <p:cNvPr id="11" name="Text 8"/>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5B6270"/>
                </a:solidFill>
                <a:latin typeface="Calibri" pitchFamily="34" charset="0"/>
                <a:ea typeface="Calibri" pitchFamily="34" charset="-122"/>
                <a:cs typeface="Calibri" pitchFamily="34" charset="-120"/>
              </a:rPr>
              <a:t>C# in Practice</a:t>
            </a:r>
            <a:endParaRPr lang="en-US" sz="1000" dirty="0"/>
          </a:p>
        </p:txBody>
      </p:sp>
      <p:sp>
        <p:nvSpPr>
          <p:cNvPr id="12" name="Text 9"/>
          <p:cNvSpPr/>
          <p:nvPr/>
        </p:nvSpPr>
        <p:spPr>
          <a:xfrm>
            <a:off x="11247120" y="6537960"/>
            <a:ext cx="457200" cy="274320"/>
          </a:xfrm>
          <a:prstGeom prst="rect">
            <a:avLst/>
          </a:prstGeom>
          <a:noFill/>
          <a:ln/>
        </p:spPr>
        <p:txBody>
          <a:bodyPr wrap="square"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DC382D"/>
          </a:solidFill>
          <a:ln/>
        </p:spPr>
      </p:sp>
      <p:pic>
        <p:nvPicPr>
          <p:cNvPr id="3" name="Image 0" descr="icons/code_red.png"/>
          <p:cNvPicPr>
            <a:picLocks noChangeAspect="1"/>
          </p:cNvPicPr>
          <p:nvPr/>
        </p:nvPicPr>
        <p:blipFill>
          <a:blip r:embed="rId3"/>
          <a:stretch>
            <a:fillRect/>
          </a:stretch>
        </p:blipFill>
        <p:spPr>
          <a:xfrm>
            <a:off x="694944" y="649224"/>
            <a:ext cx="274320" cy="274320"/>
          </a:xfrm>
          <a:prstGeom prst="rect">
            <a:avLst/>
          </a:prstGeom>
        </p:spPr>
      </p:pic>
      <p:sp>
        <p:nvSpPr>
          <p:cNvPr id="4" name="Text 1"/>
          <p:cNvSpPr/>
          <p:nvPr/>
        </p:nvSpPr>
        <p:spPr>
          <a:xfrm>
            <a:off x="1280160" y="457200"/>
            <a:ext cx="7315200" cy="274320"/>
          </a:xfrm>
          <a:prstGeom prst="rect">
            <a:avLst/>
          </a:prstGeom>
          <a:noFill/>
          <a:ln/>
        </p:spPr>
        <p:txBody>
          <a:bodyPr wrap="square" rtlCol="0" anchor="ctr"/>
          <a:lstStyle/>
          <a:p>
            <a:pPr marL="0" indent="0">
              <a:buNone/>
            </a:pPr>
            <a:r>
              <a:rPr lang="en-US" sz="1300" b="1" kern="0" spc="200" dirty="0">
                <a:solidFill>
                  <a:srgbClr val="DC382D"/>
                </a:solidFill>
                <a:latin typeface="Calibri" pitchFamily="34" charset="0"/>
                <a:ea typeface="Calibri" pitchFamily="34" charset="-122"/>
                <a:cs typeface="Calibri" pitchFamily="34" charset="-120"/>
              </a:rPr>
              <a:t>C# IN PRACTICE · 02</a:t>
            </a:r>
            <a:endParaRPr lang="en-US" sz="1300" dirty="0"/>
          </a:p>
        </p:txBody>
      </p:sp>
      <p:sp>
        <p:nvSpPr>
          <p:cNvPr id="5" name="Text 2"/>
          <p:cNvSpPr/>
          <p:nvPr/>
        </p:nvSpPr>
        <p:spPr>
          <a:xfrm>
            <a:off x="1280160" y="713232"/>
            <a:ext cx="10241280" cy="548640"/>
          </a:xfrm>
          <a:prstGeom prst="rect">
            <a:avLst/>
          </a:prstGeom>
          <a:noFill/>
          <a:ln/>
        </p:spPr>
        <p:txBody>
          <a:bodyPr wrap="square" rtlCol="0" anchor="ctr"/>
          <a:lstStyle/>
          <a:p>
            <a:pPr marL="0" indent="0">
              <a:buNone/>
            </a:pPr>
            <a:r>
              <a:rPr lang="en-US" sz="2800" b="1" dirty="0">
                <a:solidFill>
                  <a:srgbClr val="1B1F27"/>
                </a:solidFill>
                <a:latin typeface="Cambria" pitchFamily="34" charset="0"/>
                <a:ea typeface="Cambria" pitchFamily="34" charset="-122"/>
                <a:cs typeface="Cambria" pitchFamily="34" charset="-120"/>
              </a:rPr>
              <a:t>Cache-aside pattern with TTL</a:t>
            </a:r>
            <a:endParaRPr lang="en-US" sz="2800" dirty="0"/>
          </a:p>
        </p:txBody>
      </p:sp>
      <p:sp>
        <p:nvSpPr>
          <p:cNvPr id="6" name="Text 3"/>
          <p:cNvSpPr/>
          <p:nvPr/>
        </p:nvSpPr>
        <p:spPr>
          <a:xfrm>
            <a:off x="1280160" y="1207008"/>
            <a:ext cx="10058400" cy="320040"/>
          </a:xfrm>
          <a:prstGeom prst="rect">
            <a:avLst/>
          </a:prstGeom>
          <a:noFill/>
          <a:ln/>
        </p:spPr>
        <p:txBody>
          <a:bodyPr wrap="square" rtlCol="0" anchor="ctr"/>
          <a:lstStyle/>
          <a:p>
            <a:pPr marL="0" indent="0">
              <a:buNone/>
            </a:pPr>
            <a:r>
              <a:rPr lang="en-US" sz="1350" i="1" dirty="0">
                <a:solidFill>
                  <a:srgbClr val="5B6270"/>
                </a:solidFill>
                <a:latin typeface="Calibri" pitchFamily="34" charset="0"/>
                <a:ea typeface="Calibri" pitchFamily="34" charset="-122"/>
                <a:cs typeface="Calibri" pitchFamily="34" charset="-120"/>
              </a:rPr>
              <a:t>Check Redis first; fall back to the database and repopulate the cache on a miss.</a:t>
            </a:r>
            <a:endParaRPr lang="en-US" sz="1350" dirty="0"/>
          </a:p>
        </p:txBody>
      </p:sp>
      <p:sp>
        <p:nvSpPr>
          <p:cNvPr id="7" name="Shape 4"/>
          <p:cNvSpPr/>
          <p:nvPr/>
        </p:nvSpPr>
        <p:spPr>
          <a:xfrm>
            <a:off x="548640" y="1737360"/>
            <a:ext cx="11064240" cy="4434840"/>
          </a:xfrm>
          <a:prstGeom prst="roundRect">
            <a:avLst>
              <a:gd name="adj" fmla="val 1649"/>
            </a:avLst>
          </a:prstGeom>
          <a:solidFill>
            <a:srgbClr val="12151B"/>
          </a:solidFill>
          <a:ln/>
        </p:spPr>
      </p:sp>
      <p:sp>
        <p:nvSpPr>
          <p:cNvPr id="8" name="Text 5"/>
          <p:cNvSpPr/>
          <p:nvPr/>
        </p:nvSpPr>
        <p:spPr>
          <a:xfrm>
            <a:off x="868680" y="1874520"/>
            <a:ext cx="10515600" cy="4160520"/>
          </a:xfrm>
          <a:prstGeom prst="rect">
            <a:avLst/>
          </a:prstGeom>
          <a:noFill/>
          <a:ln/>
        </p:spPr>
        <p:txBody>
          <a:bodyPr wrap="square" rtlCol="0" anchor="t"/>
          <a:lstStyle/>
          <a:p>
            <a:pPr marL="0" indent="0">
              <a:lnSpc>
                <a:spcPct val="110000"/>
              </a:lnSpc>
              <a:buNone/>
            </a:pPr>
            <a:r>
              <a:rPr lang="en-US" sz="1230" dirty="0">
                <a:solidFill>
                  <a:srgbClr val="E8EAED"/>
                </a:solidFill>
                <a:latin typeface="Courier New" pitchFamily="34" charset="0"/>
                <a:ea typeface="Courier New" pitchFamily="34" charset="-122"/>
                <a:cs typeface="Courier New" pitchFamily="34" charset="-120"/>
              </a:rPr>
              <a:t>public async Task&lt;Product?&gt; GetProductAsync(int id)</a:t>
            </a:r>
            <a:endParaRPr lang="en-US" sz="1230" dirty="0"/>
          </a:p>
          <a:p>
            <a:pPr marL="0" indent="0">
              <a:lnSpc>
                <a:spcPct val="110000"/>
              </a:lnSpc>
              <a:buNone/>
            </a:pPr>
            <a:r>
              <a:rPr lang="en-US" sz="1230" dirty="0">
                <a:solidFill>
                  <a:srgbClr val="E8EAED"/>
                </a:solidFill>
                <a:latin typeface="Courier New" pitchFamily="34" charset="0"/>
                <a:ea typeface="Courier New" pitchFamily="34" charset="-122"/>
                <a:cs typeface="Courier New" pitchFamily="34" charset="-120"/>
              </a:rPr>
              <a:t>{</a:t>
            </a:r>
            <a:endParaRPr lang="en-US" sz="1230" dirty="0"/>
          </a:p>
          <a:p>
            <a:pPr marL="0" indent="0">
              <a:lnSpc>
                <a:spcPct val="110000"/>
              </a:lnSpc>
              <a:buNone/>
            </a:pPr>
            <a:r>
              <a:rPr lang="en-US" sz="1230" dirty="0">
                <a:solidFill>
                  <a:srgbClr val="E8EAED"/>
                </a:solidFill>
                <a:latin typeface="Courier New" pitchFamily="34" charset="0"/>
                <a:ea typeface="Courier New" pitchFamily="34" charset="-122"/>
                <a:cs typeface="Courier New" pitchFamily="34" charset="-120"/>
              </a:rPr>
              <a:t>    string key = $"product:{id}";</a:t>
            </a:r>
            <a:endParaRPr lang="en-US" sz="1230" dirty="0"/>
          </a:p>
          <a:p>
            <a:pPr marL="0" indent="0">
              <a:lnSpc>
                <a:spcPct val="110000"/>
              </a:lnSpc>
              <a:buNone/>
            </a:pPr>
            <a:r>
              <a:rPr lang="en-US" sz="1230" dirty="0">
                <a:solidFill>
                  <a:srgbClr val="E8EAED"/>
                </a:solidFill>
                <a:latin typeface="Courier New" pitchFamily="34" charset="0"/>
                <a:ea typeface="Courier New" pitchFamily="34" charset="-122"/>
                <a:cs typeface="Courier New" pitchFamily="34" charset="-120"/>
              </a:rPr>
              <a:t>    IDatabase db = _redis.GetDatabase();</a:t>
            </a:r>
            <a:endParaRPr lang="en-US" sz="1230" dirty="0"/>
          </a:p>
          <a:p>
            <a:pPr marL="0" indent="0">
              <a:lnSpc>
                <a:spcPct val="110000"/>
              </a:lnSpc>
              <a:buNone/>
            </a:pPr>
            <a:endParaRPr lang="en-US" sz="1230" dirty="0"/>
          </a:p>
          <a:p>
            <a:pPr marL="0" indent="0">
              <a:lnSpc>
                <a:spcPct val="110000"/>
              </a:lnSpc>
              <a:buNone/>
            </a:pPr>
            <a:r>
              <a:rPr lang="en-US" sz="1230" dirty="0">
                <a:solidFill>
                  <a:srgbClr val="E8EAED"/>
                </a:solidFill>
                <a:latin typeface="Courier New" pitchFamily="34" charset="0"/>
                <a:ea typeface="Courier New" pitchFamily="34" charset="-122"/>
                <a:cs typeface="Courier New" pitchFamily="34" charset="-120"/>
              </a:rPr>
              <a:t>    // 1) Try the cache first</a:t>
            </a:r>
            <a:endParaRPr lang="en-US" sz="1230" dirty="0"/>
          </a:p>
          <a:p>
            <a:pPr marL="0" indent="0">
              <a:lnSpc>
                <a:spcPct val="110000"/>
              </a:lnSpc>
              <a:buNone/>
            </a:pPr>
            <a:r>
              <a:rPr lang="en-US" sz="1230" dirty="0">
                <a:solidFill>
                  <a:srgbClr val="E8EAED"/>
                </a:solidFill>
                <a:latin typeface="Courier New" pitchFamily="34" charset="0"/>
                <a:ea typeface="Courier New" pitchFamily="34" charset="-122"/>
                <a:cs typeface="Courier New" pitchFamily="34" charset="-120"/>
              </a:rPr>
              <a:t>    var cached = await db.StringGetAsync(key);</a:t>
            </a:r>
            <a:endParaRPr lang="en-US" sz="1230" dirty="0"/>
          </a:p>
          <a:p>
            <a:pPr marL="0" indent="0">
              <a:lnSpc>
                <a:spcPct val="110000"/>
              </a:lnSpc>
              <a:buNone/>
            </a:pPr>
            <a:r>
              <a:rPr lang="en-US" sz="1230" dirty="0">
                <a:solidFill>
                  <a:srgbClr val="E8EAED"/>
                </a:solidFill>
                <a:latin typeface="Courier New" pitchFamily="34" charset="0"/>
                <a:ea typeface="Courier New" pitchFamily="34" charset="-122"/>
                <a:cs typeface="Courier New" pitchFamily="34" charset="-120"/>
              </a:rPr>
              <a:t>    if (cached.HasValue)</a:t>
            </a:r>
            <a:endParaRPr lang="en-US" sz="1230" dirty="0"/>
          </a:p>
          <a:p>
            <a:pPr marL="0" indent="0">
              <a:lnSpc>
                <a:spcPct val="110000"/>
              </a:lnSpc>
              <a:buNone/>
            </a:pPr>
            <a:r>
              <a:rPr lang="en-US" sz="1230" dirty="0">
                <a:solidFill>
                  <a:srgbClr val="E8EAED"/>
                </a:solidFill>
                <a:latin typeface="Courier New" pitchFamily="34" charset="0"/>
                <a:ea typeface="Courier New" pitchFamily="34" charset="-122"/>
                <a:cs typeface="Courier New" pitchFamily="34" charset="-120"/>
              </a:rPr>
              <a:t>        return JsonSerializer.Deserialize&lt;Product&gt;(cached!);</a:t>
            </a:r>
            <a:endParaRPr lang="en-US" sz="1230" dirty="0"/>
          </a:p>
          <a:p>
            <a:pPr marL="0" indent="0">
              <a:lnSpc>
                <a:spcPct val="110000"/>
              </a:lnSpc>
              <a:buNone/>
            </a:pPr>
            <a:endParaRPr lang="en-US" sz="1230" dirty="0"/>
          </a:p>
          <a:p>
            <a:pPr marL="0" indent="0">
              <a:lnSpc>
                <a:spcPct val="110000"/>
              </a:lnSpc>
              <a:buNone/>
            </a:pPr>
            <a:r>
              <a:rPr lang="en-US" sz="1230" dirty="0">
                <a:solidFill>
                  <a:srgbClr val="E8EAED"/>
                </a:solidFill>
                <a:latin typeface="Courier New" pitchFamily="34" charset="0"/>
                <a:ea typeface="Courier New" pitchFamily="34" charset="-122"/>
                <a:cs typeface="Courier New" pitchFamily="34" charset="-120"/>
              </a:rPr>
              <a:t>    // 2) Miss: load from the database</a:t>
            </a:r>
            <a:endParaRPr lang="en-US" sz="1230" dirty="0"/>
          </a:p>
          <a:p>
            <a:pPr marL="0" indent="0">
              <a:lnSpc>
                <a:spcPct val="110000"/>
              </a:lnSpc>
              <a:buNone/>
            </a:pPr>
            <a:r>
              <a:rPr lang="en-US" sz="1230" dirty="0">
                <a:solidFill>
                  <a:srgbClr val="E8EAED"/>
                </a:solidFill>
                <a:latin typeface="Courier New" pitchFamily="34" charset="0"/>
                <a:ea typeface="Courier New" pitchFamily="34" charset="-122"/>
                <a:cs typeface="Courier New" pitchFamily="34" charset="-120"/>
              </a:rPr>
              <a:t>    Product? product = await _productRepository.GetByIdAsync(id);</a:t>
            </a:r>
            <a:endParaRPr lang="en-US" sz="1230" dirty="0"/>
          </a:p>
          <a:p>
            <a:pPr marL="0" indent="0">
              <a:lnSpc>
                <a:spcPct val="110000"/>
              </a:lnSpc>
              <a:buNone/>
            </a:pPr>
            <a:r>
              <a:rPr lang="en-US" sz="1230" dirty="0">
                <a:solidFill>
                  <a:srgbClr val="E8EAED"/>
                </a:solidFill>
                <a:latin typeface="Courier New" pitchFamily="34" charset="0"/>
                <a:ea typeface="Courier New" pitchFamily="34" charset="-122"/>
                <a:cs typeface="Courier New" pitchFamily="34" charset="-120"/>
              </a:rPr>
              <a:t>    if (product is null) return null;</a:t>
            </a:r>
            <a:endParaRPr lang="en-US" sz="1230" dirty="0"/>
          </a:p>
          <a:p>
            <a:pPr marL="0" indent="0">
              <a:lnSpc>
                <a:spcPct val="110000"/>
              </a:lnSpc>
              <a:buNone/>
            </a:pPr>
            <a:endParaRPr lang="en-US" sz="1230" dirty="0"/>
          </a:p>
          <a:p>
            <a:pPr marL="0" indent="0">
              <a:lnSpc>
                <a:spcPct val="110000"/>
              </a:lnSpc>
              <a:buNone/>
            </a:pPr>
            <a:r>
              <a:rPr lang="en-US" sz="1230" dirty="0">
                <a:solidFill>
                  <a:srgbClr val="E8EAED"/>
                </a:solidFill>
                <a:latin typeface="Courier New" pitchFamily="34" charset="0"/>
                <a:ea typeface="Courier New" pitchFamily="34" charset="-122"/>
                <a:cs typeface="Courier New" pitchFamily="34" charset="-120"/>
              </a:rPr>
              <a:t>    // 3) Populate cache for next time, expire after 10 minutes</a:t>
            </a:r>
            <a:endParaRPr lang="en-US" sz="1230" dirty="0"/>
          </a:p>
          <a:p>
            <a:pPr marL="0" indent="0">
              <a:lnSpc>
                <a:spcPct val="110000"/>
              </a:lnSpc>
              <a:buNone/>
            </a:pPr>
            <a:r>
              <a:rPr lang="en-US" sz="1230" dirty="0">
                <a:solidFill>
                  <a:srgbClr val="E8EAED"/>
                </a:solidFill>
                <a:latin typeface="Courier New" pitchFamily="34" charset="0"/>
                <a:ea typeface="Courier New" pitchFamily="34" charset="-122"/>
                <a:cs typeface="Courier New" pitchFamily="34" charset="-120"/>
              </a:rPr>
              <a:t>    await db.StringSetAsync(key,</a:t>
            </a:r>
            <a:endParaRPr lang="en-US" sz="1230" dirty="0"/>
          </a:p>
          <a:p>
            <a:pPr marL="0" indent="0">
              <a:lnSpc>
                <a:spcPct val="110000"/>
              </a:lnSpc>
              <a:buNone/>
            </a:pPr>
            <a:r>
              <a:rPr lang="en-US" sz="1230" dirty="0">
                <a:solidFill>
                  <a:srgbClr val="E8EAED"/>
                </a:solidFill>
                <a:latin typeface="Courier New" pitchFamily="34" charset="0"/>
                <a:ea typeface="Courier New" pitchFamily="34" charset="-122"/>
                <a:cs typeface="Courier New" pitchFamily="34" charset="-120"/>
              </a:rPr>
              <a:t>        JsonSerializer.Serialize(product),</a:t>
            </a:r>
            <a:endParaRPr lang="en-US" sz="1230" dirty="0"/>
          </a:p>
          <a:p>
            <a:pPr marL="0" indent="0">
              <a:lnSpc>
                <a:spcPct val="110000"/>
              </a:lnSpc>
              <a:buNone/>
            </a:pPr>
            <a:r>
              <a:rPr lang="en-US" sz="1230" dirty="0">
                <a:solidFill>
                  <a:srgbClr val="E8EAED"/>
                </a:solidFill>
                <a:latin typeface="Courier New" pitchFamily="34" charset="0"/>
                <a:ea typeface="Courier New" pitchFamily="34" charset="-122"/>
                <a:cs typeface="Courier New" pitchFamily="34" charset="-120"/>
              </a:rPr>
              <a:t>        expiry: TimeSpan.FromMinutes(10));</a:t>
            </a:r>
            <a:endParaRPr lang="en-US" sz="1230" dirty="0"/>
          </a:p>
          <a:p>
            <a:pPr marL="0" indent="0">
              <a:lnSpc>
                <a:spcPct val="110000"/>
              </a:lnSpc>
              <a:buNone/>
            </a:pPr>
            <a:endParaRPr lang="en-US" sz="1230" dirty="0"/>
          </a:p>
          <a:p>
            <a:pPr marL="0" indent="0">
              <a:lnSpc>
                <a:spcPct val="110000"/>
              </a:lnSpc>
              <a:buNone/>
            </a:pPr>
            <a:r>
              <a:rPr lang="en-US" sz="1230" dirty="0">
                <a:solidFill>
                  <a:srgbClr val="E8EAED"/>
                </a:solidFill>
                <a:latin typeface="Courier New" pitchFamily="34" charset="0"/>
                <a:ea typeface="Courier New" pitchFamily="34" charset="-122"/>
                <a:cs typeface="Courier New" pitchFamily="34" charset="-120"/>
              </a:rPr>
              <a:t>    return product;</a:t>
            </a:r>
            <a:endParaRPr lang="en-US" sz="1230" dirty="0"/>
          </a:p>
          <a:p>
            <a:pPr marL="0" indent="0">
              <a:lnSpc>
                <a:spcPct val="110000"/>
              </a:lnSpc>
              <a:buNone/>
            </a:pPr>
            <a:r>
              <a:rPr lang="en-US" sz="1230" dirty="0">
                <a:solidFill>
                  <a:srgbClr val="E8EAED"/>
                </a:solidFill>
                <a:latin typeface="Courier New" pitchFamily="34" charset="0"/>
                <a:ea typeface="Courier New" pitchFamily="34" charset="-122"/>
                <a:cs typeface="Courier New" pitchFamily="34" charset="-120"/>
              </a:rPr>
              <a:t>}</a:t>
            </a:r>
            <a:endParaRPr lang="en-US" sz="1230" dirty="0"/>
          </a:p>
        </p:txBody>
      </p:sp>
      <p:sp>
        <p:nvSpPr>
          <p:cNvPr id="9" name="Text 6"/>
          <p:cNvSpPr/>
          <p:nvPr/>
        </p:nvSpPr>
        <p:spPr>
          <a:xfrm>
            <a:off x="457200" y="6537960"/>
            <a:ext cx="5486400" cy="274320"/>
          </a:xfrm>
          <a:prstGeom prst="rect">
            <a:avLst/>
          </a:prstGeom>
          <a:noFill/>
          <a:ln/>
        </p:spPr>
        <p:txBody>
          <a:bodyPr wrap="square" rtlCol="0" anchor="ctr"/>
          <a:lstStyle/>
          <a:p>
            <a:pPr marL="0" indent="0" algn="l">
              <a:buNone/>
            </a:pPr>
            <a:r>
              <a:rPr lang="en-US" sz="1000" dirty="0">
                <a:solidFill>
                  <a:srgbClr val="5B6270"/>
                </a:solidFill>
                <a:latin typeface="Calibri" pitchFamily="34" charset="0"/>
                <a:ea typeface="Calibri" pitchFamily="34" charset="-122"/>
                <a:cs typeface="Calibri" pitchFamily="34" charset="-120"/>
              </a:rPr>
              <a:t>C# in Practice</a:t>
            </a:r>
            <a:endParaRPr lang="en-US" sz="1000" dirty="0"/>
          </a:p>
        </p:txBody>
      </p:sp>
      <p:sp>
        <p:nvSpPr>
          <p:cNvPr id="10" name="Text 7"/>
          <p:cNvSpPr/>
          <p:nvPr/>
        </p:nvSpPr>
        <p:spPr>
          <a:xfrm>
            <a:off x="11247120" y="6537960"/>
            <a:ext cx="457200" cy="274320"/>
          </a:xfrm>
          <a:prstGeom prst="rect">
            <a:avLst/>
          </a:prstGeom>
          <a:noFill/>
          <a:ln/>
        </p:spPr>
        <p:txBody>
          <a:bodyPr wrap="square" rtlCol="0" anchor="ctr"/>
          <a:lstStyle/>
          <a:p>
            <a:pPr marL="0" indent="0" algn="r">
              <a:buNone/>
            </a:pPr>
            <a:r>
              <a:rPr lang="en-US" sz="1000" dirty="0">
                <a:solidFill>
                  <a:srgbClr val="5B627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F27"/>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DC382D"/>
          </a:solidFill>
          <a:ln/>
        </p:spPr>
      </p:sp>
      <p:sp>
        <p:nvSpPr>
          <p:cNvPr id="3" name="Shape 1"/>
          <p:cNvSpPr/>
          <p:nvPr/>
        </p:nvSpPr>
        <p:spPr>
          <a:xfrm>
            <a:off x="-731520" y="4937760"/>
            <a:ext cx="2743200" cy="2743200"/>
          </a:xfrm>
          <a:prstGeom prst="ellipse">
            <a:avLst/>
          </a:prstGeom>
          <a:solidFill>
            <a:srgbClr val="C22F26"/>
          </a:solidFill>
          <a:ln/>
        </p:spPr>
      </p:sp>
      <p:pic>
        <p:nvPicPr>
          <p:cNvPr id="4" name="Image 0" descr="icons/summary.png"/>
          <p:cNvPicPr>
            <a:picLocks noChangeAspect="1"/>
          </p:cNvPicPr>
          <p:nvPr/>
        </p:nvPicPr>
        <p:blipFill>
          <a:blip r:embed="rId3"/>
          <a:stretch>
            <a:fillRect/>
          </a:stretch>
        </p:blipFill>
        <p:spPr>
          <a:xfrm>
            <a:off x="1554480" y="2926080"/>
            <a:ext cx="1005840" cy="1005840"/>
          </a:xfrm>
          <a:prstGeom prst="rect">
            <a:avLst/>
          </a:prstGeom>
        </p:spPr>
      </p:pic>
      <p:sp>
        <p:nvSpPr>
          <p:cNvPr id="5" name="Text 2"/>
          <p:cNvSpPr/>
          <p:nvPr/>
        </p:nvSpPr>
        <p:spPr>
          <a:xfrm>
            <a:off x="548640" y="1188720"/>
            <a:ext cx="3291840" cy="64008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Key Takeaways</a:t>
            </a:r>
            <a:endParaRPr lang="en-US" sz="2600" dirty="0"/>
          </a:p>
        </p:txBody>
      </p:sp>
      <p:sp>
        <p:nvSpPr>
          <p:cNvPr id="6" name="Shape 3"/>
          <p:cNvSpPr/>
          <p:nvPr/>
        </p:nvSpPr>
        <p:spPr>
          <a:xfrm>
            <a:off x="4754880" y="1691640"/>
            <a:ext cx="457200" cy="457200"/>
          </a:xfrm>
          <a:prstGeom prst="ellipse">
            <a:avLst/>
          </a:prstGeom>
          <a:solidFill>
            <a:srgbClr val="DC382D"/>
          </a:solidFill>
          <a:ln/>
        </p:spPr>
      </p:sp>
      <p:sp>
        <p:nvSpPr>
          <p:cNvPr id="7" name="Text 4"/>
          <p:cNvSpPr/>
          <p:nvPr/>
        </p:nvSpPr>
        <p:spPr>
          <a:xfrm>
            <a:off x="4754880" y="169164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5"/>
          <p:cNvSpPr/>
          <p:nvPr/>
        </p:nvSpPr>
        <p:spPr>
          <a:xfrm>
            <a:off x="5440680" y="1618488"/>
            <a:ext cx="6126480" cy="822960"/>
          </a:xfrm>
          <a:prstGeom prst="rect">
            <a:avLst/>
          </a:prstGeom>
          <a:noFill/>
          <a:ln/>
        </p:spPr>
        <p:txBody>
          <a:bodyPr wrap="square" rtlCol="0" anchor="ctr"/>
          <a:lstStyle/>
          <a:p>
            <a:pPr marL="0" indent="0">
              <a:buNone/>
            </a:pPr>
            <a:r>
              <a:rPr lang="en-US" sz="1350" dirty="0">
                <a:solidFill>
                  <a:schemeClr val="bg1"/>
                </a:solidFill>
                <a:latin typeface="Calibri" pitchFamily="34" charset="0"/>
                <a:ea typeface="Calibri" pitchFamily="34" charset="-122"/>
                <a:cs typeface="Calibri" pitchFamily="34" charset="-120"/>
              </a:rPr>
              <a:t>Redis stores data in RAM with real structures (strings, sets, sorted sets, streams) — not just a plain cache.</a:t>
            </a:r>
            <a:endParaRPr lang="en-US" sz="1350" dirty="0">
              <a:solidFill>
                <a:schemeClr val="bg1"/>
              </a:solidFill>
            </a:endParaRPr>
          </a:p>
        </p:txBody>
      </p:sp>
      <p:sp>
        <p:nvSpPr>
          <p:cNvPr id="9" name="Shape 6"/>
          <p:cNvSpPr/>
          <p:nvPr/>
        </p:nvSpPr>
        <p:spPr>
          <a:xfrm>
            <a:off x="4754880" y="2834640"/>
            <a:ext cx="457200" cy="457200"/>
          </a:xfrm>
          <a:prstGeom prst="ellipse">
            <a:avLst/>
          </a:prstGeom>
          <a:solidFill>
            <a:srgbClr val="DC382D"/>
          </a:solidFill>
          <a:ln/>
        </p:spPr>
      </p:sp>
      <p:sp>
        <p:nvSpPr>
          <p:cNvPr id="10" name="Text 7"/>
          <p:cNvSpPr/>
          <p:nvPr/>
        </p:nvSpPr>
        <p:spPr>
          <a:xfrm>
            <a:off x="4754880" y="283464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8"/>
          <p:cNvSpPr/>
          <p:nvPr/>
        </p:nvSpPr>
        <p:spPr>
          <a:xfrm>
            <a:off x="5440680" y="2761488"/>
            <a:ext cx="6126480" cy="822960"/>
          </a:xfrm>
          <a:prstGeom prst="rect">
            <a:avLst/>
          </a:prstGeom>
          <a:noFill/>
          <a:ln/>
        </p:spPr>
        <p:txBody>
          <a:bodyPr wrap="square" rtlCol="0" anchor="ctr"/>
          <a:lstStyle/>
          <a:p>
            <a:pPr marL="0" indent="0">
              <a:buNone/>
            </a:pPr>
            <a:r>
              <a:rPr lang="en-US" sz="1350" dirty="0">
                <a:solidFill>
                  <a:schemeClr val="bg1"/>
                </a:solidFill>
                <a:latin typeface="Calibri" pitchFamily="34" charset="0"/>
                <a:ea typeface="Calibri" pitchFamily="34" charset="-122"/>
                <a:cs typeface="Calibri" pitchFamily="34" charset="-120"/>
              </a:rPr>
              <a:t>Beyond caching: sessions, pub/sub, leaderboards, rate limiting, and distributed locks all run on the same engine.</a:t>
            </a:r>
            <a:endParaRPr lang="en-US" sz="1350" dirty="0">
              <a:solidFill>
                <a:schemeClr val="bg1"/>
              </a:solidFill>
            </a:endParaRPr>
          </a:p>
        </p:txBody>
      </p:sp>
      <p:sp>
        <p:nvSpPr>
          <p:cNvPr id="12" name="Shape 9"/>
          <p:cNvSpPr/>
          <p:nvPr/>
        </p:nvSpPr>
        <p:spPr>
          <a:xfrm>
            <a:off x="4754880" y="3977640"/>
            <a:ext cx="457200" cy="457200"/>
          </a:xfrm>
          <a:prstGeom prst="ellipse">
            <a:avLst/>
          </a:prstGeom>
          <a:solidFill>
            <a:srgbClr val="DC382D"/>
          </a:solidFill>
          <a:ln/>
        </p:spPr>
      </p:sp>
      <p:sp>
        <p:nvSpPr>
          <p:cNvPr id="13" name="Text 10"/>
          <p:cNvSpPr/>
          <p:nvPr/>
        </p:nvSpPr>
        <p:spPr>
          <a:xfrm>
            <a:off x="4754880" y="397764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4" name="Text 11"/>
          <p:cNvSpPr/>
          <p:nvPr/>
        </p:nvSpPr>
        <p:spPr>
          <a:xfrm>
            <a:off x="5440680" y="3904488"/>
            <a:ext cx="6126480" cy="822960"/>
          </a:xfrm>
          <a:prstGeom prst="rect">
            <a:avLst/>
          </a:prstGeom>
          <a:noFill/>
          <a:ln/>
        </p:spPr>
        <p:txBody>
          <a:bodyPr wrap="square" rtlCol="0" anchor="ctr"/>
          <a:lstStyle/>
          <a:p>
            <a:pPr marL="0" indent="0">
              <a:buNone/>
            </a:pPr>
            <a:r>
              <a:rPr lang="en-US" sz="1350" dirty="0">
                <a:solidFill>
                  <a:schemeClr val="bg1"/>
                </a:solidFill>
                <a:latin typeface="Calibri" pitchFamily="34" charset="0"/>
                <a:ea typeface="Calibri" pitchFamily="34" charset="-122"/>
                <a:cs typeface="Calibri" pitchFamily="34" charset="-120"/>
              </a:rPr>
              <a:t>Since 2024, know the license story: Redis (AGPLv3/SSPL/RSAL) vs. Valkey (BSD) — pick based on your needs.</a:t>
            </a:r>
            <a:endParaRPr lang="en-US" sz="1350" dirty="0">
              <a:solidFill>
                <a:schemeClr val="bg1"/>
              </a:solidFill>
            </a:endParaRPr>
          </a:p>
        </p:txBody>
      </p:sp>
      <p:sp>
        <p:nvSpPr>
          <p:cNvPr id="15" name="Shape 12"/>
          <p:cNvSpPr/>
          <p:nvPr/>
        </p:nvSpPr>
        <p:spPr>
          <a:xfrm>
            <a:off x="4754880" y="5120640"/>
            <a:ext cx="457200" cy="457200"/>
          </a:xfrm>
          <a:prstGeom prst="ellipse">
            <a:avLst/>
          </a:prstGeom>
          <a:solidFill>
            <a:srgbClr val="DC382D"/>
          </a:solidFill>
          <a:ln/>
        </p:spPr>
      </p:sp>
      <p:sp>
        <p:nvSpPr>
          <p:cNvPr id="16" name="Text 13"/>
          <p:cNvSpPr/>
          <p:nvPr/>
        </p:nvSpPr>
        <p:spPr>
          <a:xfrm>
            <a:off x="4754880" y="512064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4"/>
          <p:cNvSpPr/>
          <p:nvPr/>
        </p:nvSpPr>
        <p:spPr>
          <a:xfrm>
            <a:off x="5440680" y="5047488"/>
            <a:ext cx="6126480" cy="822960"/>
          </a:xfrm>
          <a:prstGeom prst="rect">
            <a:avLst/>
          </a:prstGeom>
          <a:noFill/>
          <a:ln/>
        </p:spPr>
        <p:txBody>
          <a:bodyPr wrap="square" rtlCol="0" anchor="ctr"/>
          <a:lstStyle/>
          <a:p>
            <a:pPr marL="0" indent="0">
              <a:buNone/>
            </a:pPr>
            <a:r>
              <a:rPr lang="en-US" sz="1350" dirty="0">
                <a:solidFill>
                  <a:schemeClr val="bg1"/>
                </a:solidFill>
                <a:latin typeface="Calibri" pitchFamily="34" charset="0"/>
                <a:ea typeface="Calibri" pitchFamily="34" charset="-122"/>
                <a:cs typeface="Calibri" pitchFamily="34" charset="-120"/>
              </a:rPr>
              <a:t>StackExchange.Redis makes it a few lines of C# to add caching to any .NET app.</a:t>
            </a:r>
            <a:endParaRPr lang="en-US" sz="1350" dirty="0">
              <a:solidFill>
                <a:schemeClr val="bg1"/>
              </a:solidFill>
            </a:endParaRPr>
          </a:p>
        </p:txBody>
      </p:sp>
      <p:sp>
        <p:nvSpPr>
          <p:cNvPr id="18" name="Text 15"/>
          <p:cNvSpPr/>
          <p:nvPr/>
        </p:nvSpPr>
        <p:spPr>
          <a:xfrm>
            <a:off x="548640" y="5760720"/>
            <a:ext cx="3291840" cy="457200"/>
          </a:xfrm>
          <a:prstGeom prst="rect">
            <a:avLst/>
          </a:prstGeom>
          <a:noFill/>
          <a:ln/>
        </p:spPr>
        <p:txBody>
          <a:bodyPr wrap="square" rtlCol="0" anchor="ctr"/>
          <a:lstStyle/>
          <a:p>
            <a:pPr marL="0" indent="0">
              <a:buNone/>
            </a:pPr>
            <a:r>
              <a:rPr lang="en-US" sz="2000" b="1" i="1" dirty="0">
                <a:solidFill>
                  <a:srgbClr val="FFFFFF"/>
                </a:solidFill>
                <a:latin typeface="Cambria" pitchFamily="34" charset="0"/>
                <a:ea typeface="Cambria" pitchFamily="34" charset="-122"/>
                <a:cs typeface="Cambria" pitchFamily="34" charset="-120"/>
              </a:rPr>
              <a:t>Thank you</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1986</Words>
  <Application>Microsoft Office PowerPoint</Application>
  <PresentationFormat>Widescreen</PresentationFormat>
  <Paragraphs>292</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Mohamad Haj. Hosseini</cp:lastModifiedBy>
  <cp:revision>2</cp:revision>
  <dcterms:created xsi:type="dcterms:W3CDTF">2026-07-18T19:55:31Z</dcterms:created>
  <dcterms:modified xsi:type="dcterms:W3CDTF">2026-07-20T04:18:27Z</dcterms:modified>
</cp:coreProperties>
</file>